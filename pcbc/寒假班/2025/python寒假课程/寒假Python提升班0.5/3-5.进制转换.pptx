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5" r:id="rId3"/>
    <p:sldId id="317" r:id="rId5"/>
    <p:sldId id="497" r:id="rId6"/>
    <p:sldId id="548" r:id="rId7"/>
    <p:sldId id="525" r:id="rId8"/>
    <p:sldId id="562" r:id="rId9"/>
    <p:sldId id="578" r:id="rId10"/>
    <p:sldId id="579" r:id="rId11"/>
    <p:sldId id="550" r:id="rId12"/>
    <p:sldId id="563" r:id="rId13"/>
    <p:sldId id="580" r:id="rId14"/>
    <p:sldId id="582" r:id="rId15"/>
    <p:sldId id="581" r:id="rId16"/>
    <p:sldId id="583" r:id="rId17"/>
    <p:sldId id="584" r:id="rId18"/>
    <p:sldId id="585" r:id="rId19"/>
    <p:sldId id="586" r:id="rId20"/>
    <p:sldId id="556" r:id="rId21"/>
    <p:sldId id="564" r:id="rId22"/>
    <p:sldId id="587" r:id="rId23"/>
    <p:sldId id="574" r:id="rId24"/>
    <p:sldId id="588" r:id="rId25"/>
    <p:sldId id="589" r:id="rId26"/>
    <p:sldId id="592" r:id="rId27"/>
    <p:sldId id="590" r:id="rId28"/>
    <p:sldId id="591" r:id="rId29"/>
    <p:sldId id="593" r:id="rId30"/>
    <p:sldId id="594" r:id="rId31"/>
    <p:sldId id="595" r:id="rId32"/>
    <p:sldId id="601" r:id="rId33"/>
    <p:sldId id="602" r:id="rId34"/>
    <p:sldId id="603" r:id="rId35"/>
    <p:sldId id="604" r:id="rId36"/>
    <p:sldId id="605" r:id="rId37"/>
    <p:sldId id="606" r:id="rId38"/>
    <p:sldId id="607" r:id="rId39"/>
    <p:sldId id="608" r:id="rId40"/>
    <p:sldId id="609" r:id="rId41"/>
    <p:sldId id="611" r:id="rId42"/>
    <p:sldId id="612" r:id="rId43"/>
    <p:sldId id="614" r:id="rId44"/>
    <p:sldId id="615" r:id="rId45"/>
    <p:sldId id="617" r:id="rId46"/>
    <p:sldId id="618" r:id="rId47"/>
    <p:sldId id="619" r:id="rId48"/>
    <p:sldId id="620" r:id="rId49"/>
  </p:sldIdLst>
  <p:sldSz cx="9144000" cy="5143500" type="screen16x9"/>
  <p:notesSz cx="6797675" cy="9925050"/>
  <p:custDataLst>
    <p:tags r:id="rId53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9" userDrawn="1">
          <p15:clr>
            <a:srgbClr val="A4A3A4"/>
          </p15:clr>
        </p15:guide>
        <p15:guide id="2" pos="29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F5F5F5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529"/>
        <p:guide pos="291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3" Type="http://schemas.openxmlformats.org/officeDocument/2006/relationships/tags" Target="tags/tag3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1-03T15:48:46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647.000 592.000,'4.000'1.000,"-1.000"2.000,0.000-2.000,0.000 1.000,0.000 2.000,-1.000-1.000,1.000 0.000,-1.000 0.000,1.000-1.000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1-03T15:48:46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704.000 582.000,'-3.000'-2.000,"-1.000"2.000,1.000 0.000,0.000 0.000,-1.000 3.000,2.000 0.000,0.000 1.000,-1.000 0.000,2.000 0.000,0.000-1.000,4.000 0.000,0.000-1.000,0.000-1.000,0.000-1.000,0.000-3.000,0.000 1.000,0.000-1.000,-3.000 0.000,2.000 0.000,-2.000 0.000,1.000 0.000,0.000 0.000,0.000 6.000,-1.000 1.000,0.000-1.000,0.000 0.000,0.000 0.000,0.000 0.000,-2.000 0.000,2.000 0.000,0.000 0.000,0.000 1.000,-1.000 0.000,-1.000-1.000,2.000 0.000,-1.000 0.000,1.000 0.000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hyperlink" Target="https://imgchr.com/i/t1tt7n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hyperlink" Target="https://imgchr.com/i/t1t36g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hyperlink" Target="https://imgchr.com/i/t1tUkq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customXml" Target="../ink/ink2.xml"/><Relationship Id="rId7" Type="http://schemas.openxmlformats.org/officeDocument/2006/relationships/image" Target="../media/image6.png"/><Relationship Id="rId6" Type="http://schemas.openxmlformats.org/officeDocument/2006/relationships/customXml" Target="../ink/ink1.xml"/><Relationship Id="rId5" Type="http://schemas.openxmlformats.org/officeDocument/2006/relationships/image" Target="../media/image5.png"/><Relationship Id="rId4" Type="http://schemas.openxmlformats.org/officeDocument/2006/relationships/tags" Target="../tags/tag2.xml"/><Relationship Id="rId3" Type="http://schemas.openxmlformats.org/officeDocument/2006/relationships/image" Target="../media/image4.png"/><Relationship Id="rId2" Type="http://schemas.openxmlformats.org/officeDocument/2006/relationships/tags" Target="../tags/tag1.xml"/><Relationship Id="rId10" Type="http://schemas.openxmlformats.org/officeDocument/2006/relationships/slideLayout" Target="../slideLayouts/slideLayout7.xml"/><Relationship Id="rId1" Type="http://schemas.openxmlformats.org/officeDocument/2006/relationships/hyperlink" Target="https://imgchr.com/i/t1t8XQ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hyperlink" Target="https://imgchr.com/i/t1tY0s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hyperlink" Target="https://imgchr.com/i/t1tat0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hyperlink" Target="https://imgchr.com/i/t1tdhV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hyperlink" Target="https://imgchr.com/i/t1t0pT" TargetMode="Externa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hyperlink" Target="https://imgchr.com/i/t1tB1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1059815"/>
            <a:ext cx="2548890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进制转换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745730" y="1851660"/>
            <a:ext cx="792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/>
              <a:t>朱龙雨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课前复习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课前复习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131570"/>
            <a:ext cx="22567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海龟库单词复习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8947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进制概念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进制概念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61670" y="1347470"/>
            <a:ext cx="735457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000" b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数制</a:t>
            </a:r>
            <a:r>
              <a:rPr lang="zh-CN" sz="20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：也称为计数制，是一种计数的方法，是用一组固定的符号和统一的规则来表示数值的方法。在计数过程中采用进位的方法称为</a:t>
            </a:r>
            <a:r>
              <a:rPr lang="zh-CN" sz="2000" b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进位计数制（进制）</a:t>
            </a:r>
            <a:r>
              <a:rPr lang="zh-CN" sz="20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，包括</a:t>
            </a:r>
            <a:r>
              <a:rPr lang="zh-CN" sz="2000" b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数位</a:t>
            </a:r>
            <a:r>
              <a:rPr lang="zh-CN" sz="20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sz="2000" b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基数</a:t>
            </a:r>
            <a:r>
              <a:rPr lang="zh-CN" sz="20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sz="2000" b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位权</a:t>
            </a:r>
            <a:r>
              <a:rPr lang="zh-CN" sz="20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三个要素。</a:t>
            </a:r>
            <a:r>
              <a:rPr 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· </a:t>
            </a:r>
            <a:r>
              <a:rPr 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数位</a:t>
            </a:r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：指数字符号在一个数中所处的位置。</a:t>
            </a:r>
            <a:r>
              <a:rPr 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· </a:t>
            </a:r>
            <a:r>
              <a:rPr 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基数</a:t>
            </a:r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：指在某种进位计数制中数位上所能使用的数字符号的个数。例如十进制的基数为</a:t>
            </a:r>
            <a:r>
              <a:rPr lang="en-US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· </a:t>
            </a:r>
            <a:r>
              <a:rPr 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位权</a:t>
            </a:r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：数制中某一位上的1所表示数值的大小（所处位置的价值）。例如十进制的</a:t>
            </a:r>
            <a:r>
              <a:rPr lang="en-US" alt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123</a:t>
            </a:r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，1的位权是100，2的位权是10，3的位权是1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常用的进制及表示方法</a:t>
            </a:r>
            <a:endParaRPr lang="zh-CN" altLang="en-US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5165" y="1059180"/>
            <a:ext cx="729043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在计算机语言中，常用的进制有</a:t>
            </a:r>
            <a:r>
              <a:rPr lang="zh-CN" sz="1800" b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</a:t>
            </a:r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1800" b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八进制、十进制和十六进制</a:t>
            </a:r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5165" y="2072640"/>
            <a:ext cx="3304540" cy="4298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2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数制的表示有2种方法：</a:t>
            </a:r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622425" y="3434715"/>
            <a:ext cx="20199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sz="24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sz="24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数字下标法</a:t>
            </a:r>
            <a:endParaRPr lang="zh-CN" altLang="en-US" sz="2400" b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264785" y="3434715"/>
            <a:ext cx="22555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sz="24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sz="24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后缀字母法</a:t>
            </a:r>
            <a:endParaRPr lang="zh-CN" altLang="en-US" sz="2400" b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4" grpId="0"/>
      <p:bldP spid="1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数字下标法</a:t>
            </a:r>
            <a:endParaRPr lang="zh-CN" altLang="en-US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1059180"/>
            <a:ext cx="641794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对于不同进制的数可以将它们加上</a:t>
            </a:r>
            <a:r>
              <a:rPr lang="zh-CN" sz="18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括号</a:t>
            </a:r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再用</a:t>
            </a:r>
            <a:r>
              <a:rPr lang="zh-CN" sz="18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数字下标</a:t>
            </a:r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表示进制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1670" y="1779270"/>
            <a:ext cx="606044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zh-CN" sz="24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例如：</a:t>
            </a:r>
            <a:endParaRPr lang="zh-CN" sz="2400" b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zh-CN" sz="24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（110010011111）</a:t>
            </a:r>
            <a:r>
              <a:rPr lang="en-US" sz="16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24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代表二进制数 ； （6137）</a:t>
            </a:r>
            <a:r>
              <a:rPr lang="en-US" sz="16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sz="24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代表八进制数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后缀字母法</a:t>
            </a:r>
            <a:endParaRPr lang="zh-CN" altLang="en-US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72185" y="1871980"/>
            <a:ext cx="606044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zh-CN" sz="24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例如：</a:t>
            </a:r>
            <a:endParaRPr lang="zh-CN" sz="2400" b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zh-CN" sz="24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（3AB）H 代表十六进制数；</a:t>
            </a:r>
            <a:endParaRPr lang="zh-CN" sz="2400" b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zh-CN" sz="24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（2654）O 代表八进制数</a:t>
            </a:r>
            <a:endParaRPr lang="zh-CN" sz="2400" b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689100" y="1059180"/>
            <a:ext cx="576516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二进制</a:t>
            </a:r>
            <a:r>
              <a:rPr lang="en-US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en-US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</a:t>
            </a:r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八进制</a:t>
            </a:r>
            <a:r>
              <a:rPr 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O</a:t>
            </a:r>
            <a:r>
              <a:rPr lang="en-US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</a:t>
            </a:r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十进制</a:t>
            </a:r>
            <a:r>
              <a:rPr lang="en-US" sz="18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en-US" sz="18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十六进制</a:t>
            </a:r>
            <a:r>
              <a:rPr lang="en-US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</a:t>
            </a:r>
            <a:endParaRPr lang="en-US" sz="1800" b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/>
            <a:endParaRPr lang="en-US" altLang="en-US" sz="1800" b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060065" y="4011930"/>
            <a:ext cx="585279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400" b="1">
                <a:solidFill>
                  <a:srgbClr val="FF0000"/>
                </a:solidFill>
                <a:ea typeface="宋体" panose="02010600030101010101" pitchFamily="2" charset="-122"/>
              </a:rPr>
              <a:t>注：当没有下标或后缀时默认为十进制数。</a:t>
            </a:r>
            <a:endParaRPr lang="zh-CN" altLang="en-US" sz="24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0"/>
      <p:bldP spid="1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ym typeface="+mn-ea"/>
              </a:rPr>
              <a:t>常见进制的运算规则</a:t>
            </a:r>
            <a:endParaRPr lang="zh-CN" sz="2800" b="1" dirty="0"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61670" y="1059180"/>
            <a:ext cx="21558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二进制：逢二进一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673225"/>
            <a:ext cx="594423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基数为2，数值部分用两个不同的数字0、1来表示。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1670" y="2287270"/>
            <a:ext cx="50984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十进制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二进制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表示则为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10,101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61670" y="2931795"/>
            <a:ext cx="4607560" cy="982345"/>
            <a:chOff x="1042" y="4617"/>
            <a:chExt cx="7256" cy="1547"/>
          </a:xfrm>
        </p:grpSpPr>
        <p:sp>
          <p:nvSpPr>
            <p:cNvPr id="10" name="文本框 9"/>
            <p:cNvSpPr txBox="1"/>
            <p:nvPr/>
          </p:nvSpPr>
          <p:spPr>
            <a:xfrm>
              <a:off x="1042" y="4617"/>
              <a:ext cx="17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 b="1" i="1" u="sng"/>
                <a:t>练一练：</a:t>
              </a:r>
              <a:endParaRPr lang="zh-CN" altLang="en-US" sz="1800" b="1" i="1" u="sng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664" y="5584"/>
              <a:ext cx="5634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zh-CN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写出</a:t>
              </a:r>
              <a:r>
                <a:rPr lang="zh-CN" altLang="zh-CN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十进制</a:t>
              </a:r>
              <a:r>
                <a:rPr lang="en-US" altLang="zh-CN" sz="1800" b="1" u="sng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到</a:t>
              </a:r>
              <a:r>
                <a:rPr lang="en-US" altLang="zh-CN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10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</a:t>
              </a:r>
              <a:r>
                <a:rPr lang="zh-CN" altLang="en-US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二进制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表示。</a:t>
              </a:r>
              <a:endPara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1670" y="99441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 b="1" i="1" u="sng"/>
              <a:t>练一练：</a:t>
            </a:r>
            <a:endParaRPr lang="zh-CN" altLang="en-US" sz="1800" b="1" i="1" u="sng"/>
          </a:p>
        </p:txBody>
      </p:sp>
      <p:sp>
        <p:nvSpPr>
          <p:cNvPr id="11" name="文本框 10"/>
          <p:cNvSpPr txBox="1"/>
          <p:nvPr/>
        </p:nvSpPr>
        <p:spPr>
          <a:xfrm>
            <a:off x="1691640" y="1393190"/>
            <a:ext cx="35775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写出</a:t>
            </a:r>
            <a:r>
              <a:rPr lang="zh-CN" altLang="zh-CN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十进制</a:t>
            </a:r>
            <a:r>
              <a: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二进制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表示。</a:t>
            </a:r>
            <a:endParaRPr lang="en-US" altLang="zh-CN" sz="1800" b="1" u="sng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119630" y="1923415"/>
            <a:ext cx="2914650" cy="3138170"/>
            <a:chOff x="3338" y="3029"/>
            <a:chExt cx="4590" cy="4942"/>
          </a:xfrm>
        </p:grpSpPr>
        <p:sp>
          <p:nvSpPr>
            <p:cNvPr id="8" name="文本框 7"/>
            <p:cNvSpPr txBox="1"/>
            <p:nvPr/>
          </p:nvSpPr>
          <p:spPr>
            <a:xfrm>
              <a:off x="4819" y="3029"/>
              <a:ext cx="1073" cy="4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2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4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5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6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7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8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9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892" y="3029"/>
              <a:ext cx="1132" cy="4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101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111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1001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1010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338" y="3030"/>
              <a:ext cx="13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/>
                <a:t>十进制</a:t>
              </a:r>
              <a:endParaRPr lang="zh-CN" altLang="en-US" sz="180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560" y="3030"/>
              <a:ext cx="13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/>
                <a:t>二进制</a:t>
              </a:r>
              <a:endParaRPr lang="zh-CN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十进制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61670" y="1059180"/>
            <a:ext cx="21558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十进制：逢十进一</a:t>
            </a:r>
            <a:endParaRPr lang="zh-CN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673225"/>
            <a:ext cx="69291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基数为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，数值部分用0、1、2、3、4、5、6、7、8、9来表示。</a:t>
            </a:r>
            <a:endParaRPr lang="zh-CN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7235" y="2571750"/>
            <a:ext cx="4069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/>
              <a:t>这也是我们日常生活中用到最多的数制</a:t>
            </a: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八进制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61670" y="1059180"/>
            <a:ext cx="21558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八进制：逢八进一</a:t>
            </a:r>
            <a:endParaRPr lang="zh-CN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673225"/>
            <a:ext cx="69291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基数为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，数值部分用0、1、2、3、4、5、6、7来表示。</a:t>
            </a:r>
            <a:endParaRPr lang="zh-CN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61670" y="2931795"/>
            <a:ext cx="4607560" cy="982345"/>
            <a:chOff x="1042" y="4617"/>
            <a:chExt cx="7256" cy="1547"/>
          </a:xfrm>
        </p:grpSpPr>
        <p:sp>
          <p:nvSpPr>
            <p:cNvPr id="14" name="文本框 13"/>
            <p:cNvSpPr txBox="1"/>
            <p:nvPr/>
          </p:nvSpPr>
          <p:spPr>
            <a:xfrm>
              <a:off x="1042" y="4617"/>
              <a:ext cx="17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 b="1" i="1" u="sng"/>
                <a:t>练一练：</a:t>
              </a:r>
              <a:endParaRPr lang="zh-CN" altLang="en-US" sz="1800" b="1" i="1" u="sng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664" y="5584"/>
              <a:ext cx="5634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zh-CN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写出</a:t>
              </a:r>
              <a:r>
                <a:rPr lang="zh-CN" altLang="zh-CN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十进制</a:t>
              </a:r>
              <a:r>
                <a:rPr lang="en-US" altLang="zh-CN" sz="1800" b="1" u="sng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到</a:t>
              </a:r>
              <a:r>
                <a:rPr lang="en-US" altLang="zh-CN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10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</a:t>
              </a:r>
              <a:r>
                <a:rPr lang="zh-CN" altLang="en-US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八</a:t>
              </a:r>
              <a:r>
                <a:rPr lang="zh-CN" altLang="en-US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进制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表示。</a:t>
              </a:r>
              <a:endPara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八进制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1670" y="99441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 b="1" i="1" u="sng"/>
              <a:t>练一练：</a:t>
            </a:r>
            <a:endParaRPr lang="zh-CN" altLang="en-US" sz="1800" b="1" i="1" u="sng"/>
          </a:p>
        </p:txBody>
      </p:sp>
      <p:sp>
        <p:nvSpPr>
          <p:cNvPr id="11" name="文本框 10"/>
          <p:cNvSpPr txBox="1"/>
          <p:nvPr/>
        </p:nvSpPr>
        <p:spPr>
          <a:xfrm>
            <a:off x="1691640" y="1393190"/>
            <a:ext cx="35775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写出</a:t>
            </a:r>
            <a:r>
              <a:rPr lang="zh-CN" altLang="zh-CN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十进制</a:t>
            </a:r>
            <a:r>
              <a: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八</a:t>
            </a:r>
            <a:r>
              <a:rPr lang="zh-CN" altLang="en-US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进制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表示。</a:t>
            </a:r>
            <a:endParaRPr lang="en-US" altLang="zh-CN" sz="1800" b="1" u="sng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94230" y="1923415"/>
            <a:ext cx="2914650" cy="3138170"/>
            <a:chOff x="3298" y="3029"/>
            <a:chExt cx="4590" cy="4942"/>
          </a:xfrm>
        </p:grpSpPr>
        <p:sp>
          <p:nvSpPr>
            <p:cNvPr id="8" name="文本框 7"/>
            <p:cNvSpPr txBox="1"/>
            <p:nvPr/>
          </p:nvSpPr>
          <p:spPr>
            <a:xfrm>
              <a:off x="4779" y="3029"/>
              <a:ext cx="1073" cy="4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2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4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5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6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7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8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9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852" y="3029"/>
              <a:ext cx="1132" cy="4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298" y="3030"/>
              <a:ext cx="13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/>
                <a:t>十进制</a:t>
              </a:r>
              <a:endParaRPr lang="zh-CN" altLang="en-US" sz="180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520" y="3030"/>
              <a:ext cx="13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/>
                <a:t>八进制</a:t>
              </a:r>
              <a:endParaRPr lang="zh-CN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十六进制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61670" y="1059180"/>
            <a:ext cx="249047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十六进制：逢十六进一</a:t>
            </a:r>
            <a:endParaRPr lang="zh-CN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673225"/>
            <a:ext cx="745045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基数为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，数值部分用0、1、2、3、4、5、6、7、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来表示。其中字母表示十进制数的10至15。</a:t>
            </a:r>
            <a:endParaRPr lang="zh-CN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83260" y="2931795"/>
            <a:ext cx="4977130" cy="982345"/>
            <a:chOff x="1076" y="4617"/>
            <a:chExt cx="7838" cy="1547"/>
          </a:xfrm>
        </p:grpSpPr>
        <p:sp>
          <p:nvSpPr>
            <p:cNvPr id="14" name="文本框 13"/>
            <p:cNvSpPr txBox="1"/>
            <p:nvPr/>
          </p:nvSpPr>
          <p:spPr>
            <a:xfrm>
              <a:off x="1076" y="4617"/>
              <a:ext cx="17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 b="1" i="1" u="sng"/>
                <a:t>练一练：</a:t>
              </a:r>
              <a:endParaRPr lang="zh-CN" altLang="en-US" sz="1800" b="1" i="1" u="sng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698" y="5584"/>
              <a:ext cx="6216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zh-CN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写出</a:t>
              </a:r>
              <a:r>
                <a:rPr lang="zh-CN" altLang="zh-CN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十进制</a:t>
              </a:r>
              <a:r>
                <a:rPr lang="en-US" altLang="zh-CN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</a:t>
              </a:r>
              <a:r>
                <a:rPr lang="en-US" altLang="zh-CN" sz="1800" b="1" u="sng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到</a:t>
              </a:r>
              <a:r>
                <a:rPr lang="en-US" altLang="zh-CN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16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</a:t>
              </a:r>
              <a:r>
                <a:rPr lang="zh-CN" altLang="en-US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十六</a:t>
              </a:r>
              <a:r>
                <a:rPr lang="zh-CN" altLang="en-US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进制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表示。</a:t>
              </a:r>
              <a:endPara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十六进制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1670" y="99441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 b="1" i="1" u="sng"/>
              <a:t>练一练：</a:t>
            </a:r>
            <a:endParaRPr lang="zh-CN" altLang="en-US" sz="1800" b="1" i="1" u="sng"/>
          </a:p>
        </p:txBody>
      </p:sp>
      <p:sp>
        <p:nvSpPr>
          <p:cNvPr id="11" name="文本框 10"/>
          <p:cNvSpPr txBox="1"/>
          <p:nvPr/>
        </p:nvSpPr>
        <p:spPr>
          <a:xfrm>
            <a:off x="1691640" y="1393190"/>
            <a:ext cx="39471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写出</a:t>
            </a:r>
            <a:r>
              <a:rPr lang="zh-CN" altLang="zh-CN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十进制</a:t>
            </a:r>
            <a:r>
              <a: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十六</a:t>
            </a:r>
            <a:r>
              <a:rPr lang="zh-CN" altLang="en-US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进制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表示。</a:t>
            </a:r>
            <a:endParaRPr lang="en-US" altLang="zh-CN" sz="1800" b="1" u="sng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94230" y="1923415"/>
            <a:ext cx="3143250" cy="2029460"/>
            <a:chOff x="3298" y="3029"/>
            <a:chExt cx="4950" cy="3196"/>
          </a:xfrm>
        </p:grpSpPr>
        <p:sp>
          <p:nvSpPr>
            <p:cNvPr id="8" name="文本框 7"/>
            <p:cNvSpPr txBox="1"/>
            <p:nvPr/>
          </p:nvSpPr>
          <p:spPr>
            <a:xfrm>
              <a:off x="4779" y="3029"/>
              <a:ext cx="1499" cy="3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  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12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13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14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15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16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852" y="3029"/>
              <a:ext cx="1132" cy="3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298" y="3030"/>
              <a:ext cx="13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/>
                <a:t>十进制</a:t>
              </a:r>
              <a:endParaRPr lang="zh-CN" altLang="en-US" sz="180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520" y="3030"/>
              <a:ext cx="17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/>
                <a:t>十六进制</a:t>
              </a:r>
              <a:endParaRPr lang="zh-CN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二进制的优点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1275080"/>
            <a:ext cx="6740525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二进制最大的优点是</a:t>
            </a:r>
            <a:r>
              <a:rPr lang="zh-CN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运算规则简单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，技术上很容易实现，且可靠性高不易出错，容易实现逻辑运算。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数制的相互转换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例1：将下列二进制数转换为十进制数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10947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(11011)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3260" y="2000250"/>
            <a:ext cx="829310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indent="0"/>
            <a:r>
              <a:rPr 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数位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：指数字符号在一个数中所处的位置。</a:t>
            </a:r>
            <a:r>
              <a:rPr 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· </a:t>
            </a:r>
            <a:r>
              <a:rPr 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基数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：指在某种进位计数制中数位上所能使用的数字符号的个数。例如十进制的基数为</a:t>
            </a:r>
            <a:r>
              <a:rPr 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</a:t>
            </a:r>
            <a:r>
              <a:rPr 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· </a:t>
            </a:r>
            <a:r>
              <a:rPr 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位权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：数制中某一位上的1所表示数值的大小（所处位置的价值）。</a:t>
            </a:r>
            <a:endParaRPr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685165" y="2931795"/>
            <a:ext cx="59670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1*2**4+1*2**3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+0*2**2+1*2**1+1*2**0 == 27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：将下列二进制数转换为十进制数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12287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(110101)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3895" y="2067560"/>
            <a:ext cx="67284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1*2**5+1*2**4+0*2**3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+1*2**2+0*2**1+1*2**0 ==53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二进制转十进制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pic>
        <p:nvPicPr>
          <p:cNvPr id="2" name="图片 1" descr="IMG_256">
            <a:hlinkClick r:id="rId1"/>
          </p:cNvPr>
          <p:cNvPicPr>
            <a:picLocks noChangeAspect="1"/>
          </p:cNvPicPr>
          <p:nvPr/>
        </p:nvPicPr>
        <p:blipFill>
          <a:blip r:embed="rId2"/>
          <a:srcRect l="1814" t="-1340" r="2682"/>
          <a:stretch>
            <a:fillRect/>
          </a:stretch>
        </p:blipFill>
        <p:spPr>
          <a:xfrm>
            <a:off x="179705" y="2428240"/>
            <a:ext cx="8822690" cy="1165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661670" y="1347470"/>
            <a:ext cx="20472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(110010011111)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八</a:t>
            </a:r>
            <a:r>
              <a:rPr lang="zh-CN" sz="2400" b="1" dirty="0">
                <a:sym typeface="+mn-ea"/>
              </a:rPr>
              <a:t>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例1：将下列八进制数转换为十进制数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8267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(252)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670" y="1995170"/>
            <a:ext cx="59670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2*8**2+5*8**1+2*8**0 == 170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八</a:t>
            </a:r>
            <a:r>
              <a:rPr lang="zh-CN" sz="2400" b="1" dirty="0">
                <a:sym typeface="+mn-ea"/>
              </a:rPr>
              <a:t>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列八进制数转换为十进制数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8267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(477)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670" y="1995170"/>
            <a:ext cx="59670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4*8**2+*7**1+7*8**0 == 319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八</a:t>
            </a:r>
            <a:r>
              <a:rPr lang="zh-CN" sz="2400" b="1" dirty="0">
                <a:sym typeface="+mn-ea"/>
              </a:rPr>
              <a:t>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2" name="图片 2" descr="IMG_257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670" y="2426335"/>
            <a:ext cx="6394450" cy="13296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661670" y="1285875"/>
            <a:ext cx="9607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(6137)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十六</a:t>
            </a:r>
            <a:r>
              <a:rPr lang="zh-CN" sz="2400" b="1" dirty="0">
                <a:sym typeface="+mn-ea"/>
              </a:rPr>
              <a:t>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例1：将下列十六进制数转换为十进制数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9429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(25A)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670" y="1995170"/>
            <a:ext cx="59670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2*16**2+5*16**1+10*16**0 == 602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十六</a:t>
            </a:r>
            <a:r>
              <a:rPr lang="zh-CN" sz="2400" b="1" dirty="0">
                <a:sym typeface="+mn-ea"/>
              </a:rPr>
              <a:t>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：将下列十六进制数转换为十进制数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7791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(FB)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670" y="1995170"/>
            <a:ext cx="59670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15*16**1+11*16**0 == 251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十六</a:t>
            </a:r>
            <a:r>
              <a:rPr lang="zh-CN" sz="2400" b="1" dirty="0">
                <a:sym typeface="+mn-ea"/>
              </a:rPr>
              <a:t>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2" name="图片 3" descr="IMG_258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1996440"/>
            <a:ext cx="6788150" cy="19792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661670" y="1203325"/>
            <a:ext cx="9525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(3AB)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4203" y="338867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练一练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5795" y="1563370"/>
            <a:ext cx="13074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1.(151)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11450" y="1563370"/>
            <a:ext cx="14503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2.(CF1)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5795" y="3072130"/>
            <a:ext cx="18427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3.(100111)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94940" y="3072130"/>
            <a:ext cx="13074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4.(175)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19980" y="1563370"/>
            <a:ext cx="14414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5.(152)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19980" y="3072130"/>
            <a:ext cx="18427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6.(110101)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119620" y="1563370"/>
            <a:ext cx="12928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7.(166)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118985" y="3072130"/>
            <a:ext cx="12928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8.(411)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10285" y="2140585"/>
            <a:ext cx="6305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105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533640" y="2140585"/>
            <a:ext cx="6305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118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035300" y="3677920"/>
            <a:ext cx="6305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125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533640" y="3677920"/>
            <a:ext cx="6305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265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389380" y="3677920"/>
            <a:ext cx="4813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39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600700" y="3677920"/>
            <a:ext cx="4813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53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060065" y="2140585"/>
            <a:ext cx="7797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3313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296535" y="2140585"/>
            <a:ext cx="6305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338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23" grpId="0"/>
      <p:bldP spid="23" grpId="1"/>
      <p:bldP spid="24" grpId="0"/>
      <p:bldP spid="24" grpId="1"/>
      <p:bldP spid="18" grpId="0"/>
      <p:bldP spid="18" grpId="1"/>
      <p:bldP spid="21" grpId="0"/>
      <p:bldP spid="21" grpId="1"/>
      <p:bldP spid="19" grpId="0"/>
      <p:bldP spid="19" grpId="1"/>
      <p:bldP spid="22" grpId="0"/>
      <p:bldP spid="22" grpId="1"/>
      <p:bldP spid="20" grpId="0"/>
      <p:bldP spid="20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十进制转二进制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：将下列十进制数转换为二进制数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9163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(156)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4" descr="IMG_259">
            <a:hlinkClick r:id="rId1"/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51685" y="1564005"/>
            <a:ext cx="3733800" cy="2857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575810" y="1590675"/>
            <a:ext cx="3670935" cy="28308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8" name="墨迹 7"/>
              <p14:cNvContentPartPr/>
              <p14:nvPr/>
            </p14:nvContentPartPr>
            <p14:xfrm>
              <a:off x="3081020" y="2819400"/>
              <a:ext cx="123825" cy="10477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7"/>
            </p:blipFill>
            <p:spPr>
              <a:xfrm>
                <a:off x="3081020" y="2819400"/>
                <a:ext cx="123825" cy="1047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10" name="墨迹 9"/>
              <p14:cNvContentPartPr/>
              <p14:nvPr/>
            </p14:nvContentPartPr>
            <p14:xfrm>
              <a:off x="3228975" y="2762250"/>
              <a:ext cx="123825" cy="24765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9"/>
            </p:blipFill>
            <p:spPr>
              <a:xfrm>
                <a:off x="3228975" y="2762250"/>
                <a:ext cx="123825" cy="24765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十进制转二进制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：将下列十进制数转换为二进制数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75965" y="1534160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(87)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00020" y="2787650"/>
            <a:ext cx="2540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1010111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十进制转八进制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：将下列十进制数转换为八进制数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10502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(1430)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5" descr="IMG_260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323" y="2355533"/>
            <a:ext cx="5038725" cy="1933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十进制转八进制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：将下列十进制数转换为八进制数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75965" y="1534160"/>
            <a:ext cx="12839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(125)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01035" y="2787650"/>
            <a:ext cx="14331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(175)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十进制转十六进制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：将下列十进制数转换为十六进制数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9163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(156)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6" descr="IMG_261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445" y="2427605"/>
            <a:ext cx="4095750" cy="1524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十进制转十六进制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：将下列十进制数转换为十六进制数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75965" y="1534160"/>
            <a:ext cx="12839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(201)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75965" y="2790190"/>
            <a:ext cx="14331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(C9)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4203" y="338867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练一练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7550" y="1061720"/>
            <a:ext cx="14414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1.(100)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06065" y="1061720"/>
            <a:ext cx="12630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2.(77)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16145" y="1061720"/>
            <a:ext cx="14414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3.(154)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04660" y="1061720"/>
            <a:ext cx="14414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4.(216)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309880" y="1879600"/>
            <a:ext cx="1787525" cy="2070735"/>
            <a:chOff x="488" y="2960"/>
            <a:chExt cx="2815" cy="3261"/>
          </a:xfrm>
        </p:grpSpPr>
        <p:sp>
          <p:nvSpPr>
            <p:cNvPr id="2" name="文本框 1"/>
            <p:cNvSpPr txBox="1"/>
            <p:nvPr/>
          </p:nvSpPr>
          <p:spPr>
            <a:xfrm>
              <a:off x="488" y="2960"/>
              <a:ext cx="2763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/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1100100</a:t>
              </a:r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636" y="4261"/>
              <a:ext cx="1615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(144)</a:t>
              </a: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805" y="5497"/>
              <a:ext cx="149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(64)</a:t>
              </a: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2230755" y="1879600"/>
            <a:ext cx="1840865" cy="2070735"/>
            <a:chOff x="3513" y="2960"/>
            <a:chExt cx="2899" cy="3261"/>
          </a:xfrm>
        </p:grpSpPr>
        <p:sp>
          <p:nvSpPr>
            <p:cNvPr id="26" name="文本框 25"/>
            <p:cNvSpPr txBox="1"/>
            <p:nvPr/>
          </p:nvSpPr>
          <p:spPr>
            <a:xfrm>
              <a:off x="3513" y="2960"/>
              <a:ext cx="2763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/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1001101</a:t>
              </a:r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661" y="4261"/>
              <a:ext cx="1615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(115)</a:t>
              </a: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4830" y="5497"/>
              <a:ext cx="1583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(4D)</a:t>
              </a: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4311650" y="1879600"/>
            <a:ext cx="19329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10011010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040630" y="2705735"/>
            <a:ext cx="10255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(232)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147945" y="3490595"/>
            <a:ext cx="107759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( 9A)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464300" y="1879600"/>
            <a:ext cx="19329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11011000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193280" y="2705735"/>
            <a:ext cx="10255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(330)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267575" y="3490595"/>
            <a:ext cx="10052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(D8)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4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9" grpId="1"/>
      <p:bldP spid="30" grpId="1"/>
      <p:bldP spid="31" grpId="1"/>
      <p:bldP spid="32" grpId="0"/>
      <p:bldP spid="33" grpId="0"/>
      <p:bldP spid="34" grpId="0"/>
      <p:bldP spid="32" grpId="1"/>
      <p:bldP spid="33" grpId="1"/>
      <p:bldP spid="34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二进制转八进制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：将下列二进制数转换为八进制数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12287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(100010)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7" descr="IMG_262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03" y="2355850"/>
            <a:ext cx="2790825" cy="1504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二进制转八进制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：将下列二进制数转换为八进制数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895" y="1351280"/>
            <a:ext cx="551688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(11010)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步骤：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将二进制数从右往左每三位一组进行分组。如果最左边的组不足三位，补充零。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将每一组转换为对应的八进制数。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2598420"/>
            <a:ext cx="5979160" cy="18148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(32)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从右往左分组：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011 010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（补充零使得左边有三位）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将每一组转换为八进制：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011 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3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010 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2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八进制转二进制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：将下列八进制数转换为二进制数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5650" y="1635760"/>
            <a:ext cx="129603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(27)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2810" y="2859405"/>
            <a:ext cx="7353935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八进制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 2 </a:t>
            </a:r>
            <a:r>
              <a:rPr lang="en-US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二进制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 010</a:t>
            </a: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位）</a:t>
            </a:r>
            <a:endParaRPr lang="zh-CN" altLang="en-US" sz="4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八进制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 7 </a:t>
            </a:r>
            <a:r>
              <a:rPr lang="en-US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二进制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 111</a:t>
            </a: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位）</a:t>
            </a:r>
            <a:endParaRPr lang="zh-CN" altLang="en-US" sz="4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(10111)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八进制转二进制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：将下列八进制数转换为二进制数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5650" y="1635760"/>
            <a:ext cx="159385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(151)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31820" y="2787650"/>
            <a:ext cx="278511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(1101001)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二进制转十六进制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：将下列二进制数转换为十六进制数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338074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(100111010)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8" descr="IMG_263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830" y="2571433"/>
            <a:ext cx="4591050" cy="1876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二进制转十六进制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：将下列二进制数转换为十六进制数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308292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(11011001)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63620" y="2889885"/>
            <a:ext cx="15633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(D9)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十六进制转二进制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：将下列十六进制数转换为二进制数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133794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(C2)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68295" y="2643505"/>
            <a:ext cx="340741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11000010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十六进制转二进制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：将下列十六进制数转换为二进制数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126809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(9F)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68295" y="2643505"/>
            <a:ext cx="340741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10011111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八进制转十六进制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755650" y="2387600"/>
            <a:ext cx="742950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4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八进制和十六进制无法直接转换，需要先转成二进制或者十进制再转换。</a:t>
            </a:r>
            <a:endParaRPr lang="zh-CN" sz="24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303020"/>
            <a:ext cx="170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>
                <a:solidFill>
                  <a:srgbClr val="FF0000"/>
                </a:solidFill>
              </a:rPr>
              <a:t>注意：</a:t>
            </a:r>
            <a:endParaRPr lang="zh-CN" altLang="en-US" sz="4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4203" y="338867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练一练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7550" y="1061720"/>
            <a:ext cx="13074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1.(100)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00655" y="1061720"/>
            <a:ext cx="13074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(100)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44390" y="1061720"/>
            <a:ext cx="14414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(100)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948805" y="1069340"/>
            <a:ext cx="14414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(100)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28675" y="1807845"/>
            <a:ext cx="80327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(4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28675" y="2643505"/>
            <a:ext cx="6686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(4)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28675" y="3428365"/>
            <a:ext cx="77279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(4)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821305" y="1863090"/>
            <a:ext cx="9817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(64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821305" y="2698750"/>
            <a:ext cx="17392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(1000000)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821305" y="3483610"/>
            <a:ext cx="9512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(40)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686935" y="1863090"/>
            <a:ext cx="11601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(256)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716145" y="2715895"/>
            <a:ext cx="10255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(400)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686935" y="3483610"/>
            <a:ext cx="20961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(100000000)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911340" y="1863090"/>
            <a:ext cx="17545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(1100100)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911340" y="2698750"/>
            <a:ext cx="10255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(144)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911340" y="3483610"/>
            <a:ext cx="9512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(64)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3" grpId="1"/>
      <p:bldP spid="14" grpId="1"/>
      <p:bldP spid="15" grpId="1"/>
      <p:bldP spid="16" grpId="0"/>
      <p:bldP spid="17" grpId="0"/>
      <p:bldP spid="18" grpId="0"/>
      <p:bldP spid="16" grpId="1"/>
      <p:bldP spid="17" grpId="1"/>
      <p:bldP spid="18" grpId="1"/>
      <p:bldP spid="20" grpId="0"/>
      <p:bldP spid="19" grpId="0"/>
      <p:bldP spid="21" grpId="0"/>
      <p:bldP spid="20" grpId="1"/>
      <p:bldP spid="19" grpId="1"/>
      <p:bldP spid="21" grpId="1"/>
      <p:bldP spid="22" grpId="0"/>
      <p:bldP spid="23" grpId="0"/>
      <p:bldP spid="24" grpId="0"/>
      <p:bldP spid="22" grpId="1"/>
      <p:bldP spid="23" grpId="1"/>
      <p:bldP spid="24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带小数的换算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1059815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简单知道即可</a:t>
            </a:r>
            <a:endParaRPr lang="zh-CN" altLang="en-US" sz="3200"/>
          </a:p>
        </p:txBody>
      </p:sp>
      <p:pic>
        <p:nvPicPr>
          <p:cNvPr id="9" name="图片 9" descr="IMG_264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223" y="2314575"/>
            <a:ext cx="4657725" cy="514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683260" y="1903095"/>
            <a:ext cx="4627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二进制，八进制，十六进制的小数转换十进制，方法类似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763270" y="3223260"/>
            <a:ext cx="4805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十进制小数转换成二进制，八进制，十六进制方法也是类似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899795" y="3651885"/>
            <a:ext cx="792416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例如十进制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0.75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转换成二进制，就是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0.75*2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取整数，刚好是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，然后剩下的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0.5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再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*2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取整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最后结果为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(0.11)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18205" y="4357370"/>
            <a:ext cx="163639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(0.6)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,(0.C)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4500,&quot;width&quot;:5880}"/>
</p:tagLst>
</file>

<file path=ppt/tags/tag2.xml><?xml version="1.0" encoding="utf-8"?>
<p:tagLst xmlns:p="http://schemas.openxmlformats.org/presentationml/2006/main">
  <p:tag name="KSO_WM_UNIT_PLACING_PICTURE_USER_VIEWPORT" val="{&quot;height&quot;:5700,&quot;width&quot;:7392}"/>
</p:tagLst>
</file>

<file path=ppt/tags/tag3.xml><?xml version="1.0" encoding="utf-8"?>
<p:tagLst xmlns:p="http://schemas.openxmlformats.org/presentationml/2006/main">
  <p:tag name="ISPRING_RESOURCE_PATHS_HASH_PRESENTER" val="76ce7ccbcda6cf12636bdb4ab607c4c83d474"/>
  <p:tag name="KSO_WPP_MARK_KEY" val="b58beec5-ac75-48c0-84c1-fabb63cdc626"/>
  <p:tag name="COMMONDATA" val="eyJoZGlkIjoiNzE1MTRiZGNmZGQyODMxZWY5ZTk1Nzk2OTA5ZmQ2YzIifQ==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2843</Words>
  <Application>WPS 演示</Application>
  <PresentationFormat>全屏显示(16:9)</PresentationFormat>
  <Paragraphs>527</Paragraphs>
  <Slides>46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8" baseType="lpstr">
      <vt:lpstr>Arial</vt:lpstr>
      <vt:lpstr>宋体</vt:lpstr>
      <vt:lpstr>Wingdings</vt:lpstr>
      <vt:lpstr>HandelGotDLig</vt:lpstr>
      <vt:lpstr>汉真广标</vt:lpstr>
      <vt:lpstr>微软雅黑</vt:lpstr>
      <vt:lpstr>思源黑体 CN Normal</vt:lpstr>
      <vt:lpstr>黑体</vt:lpstr>
      <vt:lpstr>AMGDT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Super乐</cp:lastModifiedBy>
  <cp:revision>438</cp:revision>
  <cp:lastPrinted>2000-12-31T21:09:00Z</cp:lastPrinted>
  <dcterms:created xsi:type="dcterms:W3CDTF">2015-11-10T12:01:00Z</dcterms:created>
  <dcterms:modified xsi:type="dcterms:W3CDTF">2025-01-13T12:33:29Z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D26F464B56CF46559EAFED78C78A2B3A</vt:lpwstr>
  </property>
  <property fmtid="{D5CDD505-2E9C-101B-9397-08002B2CF9AE}" pid="3" name="KSOProductBuildVer">
    <vt:lpwstr>2052-12.1.0.19302</vt:lpwstr>
  </property>
</Properties>
</file>