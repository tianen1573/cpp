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48" r:id="rId7"/>
    <p:sldId id="525" r:id="rId8"/>
    <p:sldId id="562" r:id="rId9"/>
    <p:sldId id="578" r:id="rId10"/>
    <p:sldId id="579" r:id="rId11"/>
    <p:sldId id="550" r:id="rId12"/>
    <p:sldId id="563" r:id="rId13"/>
    <p:sldId id="580" r:id="rId14"/>
    <p:sldId id="582" r:id="rId15"/>
    <p:sldId id="581" r:id="rId16"/>
    <p:sldId id="583" r:id="rId17"/>
    <p:sldId id="584" r:id="rId18"/>
    <p:sldId id="585" r:id="rId19"/>
    <p:sldId id="586" r:id="rId20"/>
    <p:sldId id="556" r:id="rId21"/>
    <p:sldId id="564" r:id="rId22"/>
    <p:sldId id="587" r:id="rId23"/>
    <p:sldId id="574" r:id="rId24"/>
    <p:sldId id="588" r:id="rId25"/>
    <p:sldId id="589" r:id="rId26"/>
    <p:sldId id="592" r:id="rId27"/>
    <p:sldId id="590" r:id="rId28"/>
    <p:sldId id="591" r:id="rId29"/>
    <p:sldId id="593" r:id="rId30"/>
    <p:sldId id="594" r:id="rId31"/>
    <p:sldId id="595" r:id="rId32"/>
    <p:sldId id="601" r:id="rId33"/>
    <p:sldId id="602" r:id="rId34"/>
    <p:sldId id="603" r:id="rId35"/>
    <p:sldId id="604" r:id="rId36"/>
    <p:sldId id="605" r:id="rId37"/>
    <p:sldId id="606" r:id="rId38"/>
    <p:sldId id="607" r:id="rId39"/>
    <p:sldId id="608" r:id="rId40"/>
    <p:sldId id="609" r:id="rId41"/>
    <p:sldId id="611" r:id="rId42"/>
    <p:sldId id="612" r:id="rId43"/>
    <p:sldId id="614" r:id="rId44"/>
    <p:sldId id="615" r:id="rId45"/>
    <p:sldId id="617" r:id="rId46"/>
    <p:sldId id="618" r:id="rId47"/>
    <p:sldId id="619" r:id="rId48"/>
    <p:sldId id="620" r:id="rId49"/>
  </p:sldIdLst>
  <p:sldSz cx="9144000" cy="5143500" type="screen16x9"/>
  <p:notesSz cx="6797675" cy="9925050"/>
  <p:custDataLst>
    <p:tags r:id="rId53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9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 showGuides="1">
      <p:cViewPr varScale="1">
        <p:scale>
          <a:sx n="114" d="100"/>
          <a:sy n="114" d="100"/>
        </p:scale>
        <p:origin x="518" y="82"/>
      </p:cViewPr>
      <p:guideLst>
        <p:guide orient="horz" pos="1529"/>
        <p:guide pos="291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1-03T15:48:4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647 592,'4'1,"-1"2,0-2,0 1,0 2,-1-1,1 0,-1 0,1-1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01-03T15:48:4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704 582,'-3'-2,"-1"2,1 0,0 0,-1 3,2 0,0 1,-1 0,2 0,0-1,4 0,0-1,0-1,0-1,0-3,0 1,0-1,-3 0,2 0,-2 0,1 0,0 0,0 6,-1 1,0-1,0 0,0 0,0 0,-2 0,2 0,0 0,0 1,-1 0,-1-1,2 0,-1 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hyperlink" Target="https://imgchr.com/i/t1tt7n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hyperlink" Target="https://imgchr.com/i/t1t36g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https://imgchr.com/i/t1tUkq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customXml" Target="../ink/ink2.xml"/><Relationship Id="rId7" Type="http://schemas.openxmlformats.org/officeDocument/2006/relationships/image" Target="../media/image6.png"/><Relationship Id="rId6" Type="http://schemas.openxmlformats.org/officeDocument/2006/relationships/customXml" Target="../ink/ink1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7.xml"/><Relationship Id="rId1" Type="http://schemas.openxmlformats.org/officeDocument/2006/relationships/hyperlink" Target="https://imgchr.com/i/t1t8XQ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hyperlink" Target="https://imgchr.com/i/t1tY0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hyperlink" Target="https://imgchr.com/i/t1tat0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hyperlink" Target="https://imgchr.com/i/t1tdhV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hyperlink" Target="https://imgchr.com/i/t1t0pT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hyperlink" Target="https://imgchr.com/i/t1tB1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254889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进制转换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131570"/>
            <a:ext cx="2256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海龟库单词复习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进制概念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进制概念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347470"/>
            <a:ext cx="735457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数制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：也称为计数制，是一种计数的方法，是用一组固定的符号和统一的规则来表示数值的方法。在计数过程中采用进位的方法称为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进位计数制（进制）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数位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sz="20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位权</a:t>
            </a:r>
            <a:r>
              <a:rPr lang="zh-CN" sz="20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三个要素。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数位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：指数字符号在一个数中所处的位置。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：指在某种进位计数制中数位上所能使用的数字符号的个数。例如十进制的基数为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· </a:t>
            </a:r>
            <a:r>
              <a:rPr 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位权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：数制中某一位上的1所表示数值的大小（所处位置的价值）。例如十进制的</a:t>
            </a: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123</a:t>
            </a:r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，1的位权是100，2的位权是10，3的位权是1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常用的进制及表示方法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5165" y="1059180"/>
            <a:ext cx="72904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在计算机语言中，常用的进制有</a:t>
            </a:r>
            <a:r>
              <a:rPr lang="zh-CN" sz="18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1800" b="1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八进制、十进制和十六进制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165" y="2072640"/>
            <a:ext cx="3304540" cy="4298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2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数制的表示有2种方法：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22425" y="3434715"/>
            <a:ext cx="20199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数字下标法</a:t>
            </a:r>
            <a:endParaRPr lang="zh-CN" altLang="en-US" sz="24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64785" y="3434715"/>
            <a:ext cx="22555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后缀字母法</a:t>
            </a:r>
            <a:endParaRPr lang="zh-CN" altLang="en-US" sz="24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数字下标法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059180"/>
            <a:ext cx="64179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对于不同进制的数可以将它们加上</a:t>
            </a:r>
            <a:r>
              <a:rPr 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括号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再用</a:t>
            </a:r>
            <a:r>
              <a:rPr lang="zh-CN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数字下标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表示进制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779270"/>
            <a:ext cx="60604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（110010011111）</a:t>
            </a:r>
            <a:r>
              <a:rPr lang="en-US" sz="16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代表二进制数 ； （6137）</a:t>
            </a:r>
            <a:r>
              <a:rPr lang="en-US" sz="16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代表八进制数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后缀字母法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2185" y="1871980"/>
            <a:ext cx="60604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（3AB）H 代表十六进制数；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zh-CN" sz="24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（2654）O 代表八进制数</a:t>
            </a:r>
            <a:endParaRPr lang="zh-CN" sz="24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689100" y="1059180"/>
            <a:ext cx="576516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sz="18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十六进制</a:t>
            </a:r>
            <a:r>
              <a:rPr lang="en-US" sz="1800" b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endParaRPr lang="en-US" sz="18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/>
            <a:endParaRPr lang="en-US" altLang="en-US" sz="1800" b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60065" y="4011930"/>
            <a:ext cx="58527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注：当没有下标或后缀时默认为十进制数。</a:t>
            </a:r>
            <a:endParaRPr lang="zh-CN" altLang="en-US" sz="24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ym typeface="+mn-ea"/>
              </a:rPr>
              <a:t>常见进制的运算规则</a:t>
            </a:r>
            <a:endParaRPr lang="zh-CN" sz="2800" b="1" dirty="0"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二进制：逢二进一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59442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基数为2，数值部分用两个不同的数字0、1来表示。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287270"/>
            <a:ext cx="50984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表示则为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10,101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1670" y="2931795"/>
            <a:ext cx="4607560" cy="982345"/>
            <a:chOff x="1042" y="4617"/>
            <a:chExt cx="7256" cy="1547"/>
          </a:xfrm>
        </p:grpSpPr>
        <p:sp>
          <p:nvSpPr>
            <p:cNvPr id="10" name="文本框 9"/>
            <p:cNvSpPr txBox="1"/>
            <p:nvPr/>
          </p:nvSpPr>
          <p:spPr>
            <a:xfrm>
              <a:off x="1042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664" y="5584"/>
              <a:ext cx="563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二进制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577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19630" y="1923415"/>
            <a:ext cx="2914650" cy="3138170"/>
            <a:chOff x="3338" y="3029"/>
            <a:chExt cx="4590" cy="4942"/>
          </a:xfrm>
        </p:grpSpPr>
        <p:sp>
          <p:nvSpPr>
            <p:cNvPr id="8" name="文本框 7"/>
            <p:cNvSpPr txBox="1"/>
            <p:nvPr/>
          </p:nvSpPr>
          <p:spPr>
            <a:xfrm>
              <a:off x="4819" y="3029"/>
              <a:ext cx="1073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92" y="3029"/>
              <a:ext cx="1132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33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60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二进制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十进制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十进制：逢十进一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69291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，数值部分用0、1、2、3、4、5、6、7、8、9来表示。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7235" y="2571750"/>
            <a:ext cx="4069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这也是我们日常生活中用到最多的数制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155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八进制：逢八进一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69291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，数值部分用0、1、2、3、4、5、6、7来表示。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1670" y="2931795"/>
            <a:ext cx="4607560" cy="982345"/>
            <a:chOff x="1042" y="4617"/>
            <a:chExt cx="7256" cy="1547"/>
          </a:xfrm>
        </p:grpSpPr>
        <p:sp>
          <p:nvSpPr>
            <p:cNvPr id="14" name="文本框 13"/>
            <p:cNvSpPr txBox="1"/>
            <p:nvPr/>
          </p:nvSpPr>
          <p:spPr>
            <a:xfrm>
              <a:off x="1042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64" y="5584"/>
              <a:ext cx="563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八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577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4230" y="1923415"/>
            <a:ext cx="2914650" cy="3138170"/>
            <a:chOff x="3298" y="3029"/>
            <a:chExt cx="4590" cy="4942"/>
          </a:xfrm>
        </p:grpSpPr>
        <p:sp>
          <p:nvSpPr>
            <p:cNvPr id="8" name="文本框 7"/>
            <p:cNvSpPr txBox="1"/>
            <p:nvPr/>
          </p:nvSpPr>
          <p:spPr>
            <a:xfrm>
              <a:off x="4779" y="3029"/>
              <a:ext cx="1073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8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9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52" y="3029"/>
              <a:ext cx="1132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9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20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八进制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61670" y="1059180"/>
            <a:ext cx="249047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十六进制：逢十六进一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673225"/>
            <a:ext cx="74504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基数为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，数值部分用0、1、2、3、4、5、6、7、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来表示。其中字母表示十进制数的10至15。</a:t>
            </a:r>
            <a:endParaRPr lang="zh-CN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83260" y="2931795"/>
            <a:ext cx="4977130" cy="982345"/>
            <a:chOff x="1076" y="4617"/>
            <a:chExt cx="7838" cy="1547"/>
          </a:xfrm>
        </p:grpSpPr>
        <p:sp>
          <p:nvSpPr>
            <p:cNvPr id="14" name="文本框 13"/>
            <p:cNvSpPr txBox="1"/>
            <p:nvPr/>
          </p:nvSpPr>
          <p:spPr>
            <a:xfrm>
              <a:off x="1076" y="4617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 i="1" u="sng"/>
                <a:t>练一练：</a:t>
              </a:r>
              <a:endParaRPr lang="zh-CN" altLang="en-US" sz="1800" b="1" i="1" u="sng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98" y="5584"/>
              <a:ext cx="621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写出</a:t>
              </a:r>
              <a:r>
                <a:rPr lang="zh-CN" altLang="zh-CN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十进制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en-US" altLang="zh-CN" sz="1800" b="1" u="sng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到</a:t>
              </a:r>
              <a:r>
                <a:rPr lang="en-US" altLang="zh-CN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16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十六</a:t>
              </a:r>
              <a:r>
                <a:rPr lang="zh-CN" altLang="en-US" sz="1800" b="1" u="sng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进制</a:t>
              </a:r>
              <a:r>
                <a:rPr lang="zh-CN" altLang="en-US" sz="1800" b="1" u="sng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表示。</a:t>
              </a:r>
              <a:endPara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670" y="99441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 b="1" i="1" u="sng"/>
              <a:t>练一练：</a:t>
            </a:r>
            <a:endParaRPr lang="zh-CN" altLang="en-US" sz="1800" b="1" i="1" u="sng"/>
          </a:p>
        </p:txBody>
      </p:sp>
      <p:sp>
        <p:nvSpPr>
          <p:cNvPr id="11" name="文本框 10"/>
          <p:cNvSpPr txBox="1"/>
          <p:nvPr/>
        </p:nvSpPr>
        <p:spPr>
          <a:xfrm>
            <a:off x="1691640" y="1393190"/>
            <a:ext cx="37185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写出</a:t>
            </a:r>
            <a:r>
              <a:rPr lang="zh-CN" altLang="zh-CN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</a:t>
            </a:r>
            <a:r>
              <a:rPr lang="zh-CN" altLang="en-US" sz="1800" b="1" u="sng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</a:t>
            </a:r>
            <a:r>
              <a:rPr lang="zh-CN" altLang="en-US" sz="1800" b="1" u="sng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表示。</a:t>
            </a:r>
            <a:endParaRPr lang="en-US" altLang="zh-CN" sz="1800" b="1" u="sng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94230" y="1923415"/>
            <a:ext cx="3143250" cy="2029460"/>
            <a:chOff x="3298" y="3029"/>
            <a:chExt cx="4950" cy="3196"/>
          </a:xfrm>
        </p:grpSpPr>
        <p:sp>
          <p:nvSpPr>
            <p:cNvPr id="8" name="文本框 7"/>
            <p:cNvSpPr txBox="1"/>
            <p:nvPr/>
          </p:nvSpPr>
          <p:spPr>
            <a:xfrm>
              <a:off x="4779" y="3029"/>
              <a:ext cx="1499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  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12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13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14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15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16  </a:t>
              </a:r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→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852" y="3029"/>
              <a:ext cx="1132" cy="3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298" y="3030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十进制</a:t>
              </a:r>
              <a:endParaRPr lang="zh-CN" altLang="en-US" sz="18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20" y="3030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/>
                <a:t>十六进制</a:t>
              </a: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二进制的优点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1275080"/>
            <a:ext cx="674052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二进制最大的优点是</a:t>
            </a:r>
            <a:r>
              <a:rPr lang="zh-CN"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运算规则简单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，技术上很容易实现，且可靠性高不易出错，容易实现逻辑运算。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数制的相互转换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例1：将下列二进制数转换为十进制数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94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(11011)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3260" y="2000250"/>
            <a:ext cx="829310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0"/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数位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：指数字符号在一个数中所处的位置。</a:t>
            </a:r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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基数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：指在某种进位计数制中数位上所能使用的数字符号的个数。例如十进制的基数为</a:t>
            </a: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r>
              <a:rPr 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· 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位权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：数制中某一位上的1所表示数值的大小（所处位置的价值）。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685165" y="2931795"/>
            <a:ext cx="59670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1*2**4+1*2**3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+0*2**2+1*2**1+1*2**0 == 27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28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(110101)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2067560"/>
            <a:ext cx="67284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1*2**5+1*2**4+0*2**3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+1*2**2+0*2**1+1*2**0 ==53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二进制转十进制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2" name="图片 1" descr="IMG_256">
            <a:hlinkClick r:id="rId1"/>
          </p:cNvPr>
          <p:cNvPicPr>
            <a:picLocks noChangeAspect="1"/>
          </p:cNvPicPr>
          <p:nvPr/>
        </p:nvPicPr>
        <p:blipFill>
          <a:blip r:embed="rId2"/>
          <a:srcRect l="1814" t="-1340" r="2682"/>
          <a:stretch>
            <a:fillRect/>
          </a:stretch>
        </p:blipFill>
        <p:spPr>
          <a:xfrm>
            <a:off x="179705" y="2428240"/>
            <a:ext cx="8822690" cy="1165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661670" y="1347470"/>
            <a:ext cx="2047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(110010011111)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例1：将下列八进制数转换为十进制数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826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(252)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2*8**2+5*8**1+2*8**0 == 170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列八进制数转换为十进制数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8267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(477)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4*8**2+*7**1+7*8**0 == 319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八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2" descr="IMG_257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0" y="2426335"/>
            <a:ext cx="6394450" cy="13296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61670" y="1285875"/>
            <a:ext cx="9607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(6137)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例1：将下列十六进制数转换为十进制数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429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(25A)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2*16**2+5*16**1+10*16**0 == 602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：将下列十六进制数转换为十进制数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7791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(FB)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670" y="1995170"/>
            <a:ext cx="5967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15*16**1+11*16**0 == 251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十六</a:t>
            </a:r>
            <a:r>
              <a:rPr lang="zh-CN" sz="2400" b="1" dirty="0">
                <a:sym typeface="+mn-ea"/>
              </a:rPr>
              <a:t>进制转十进制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3" descr="IMG_258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1996440"/>
            <a:ext cx="6788150" cy="1979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61670" y="1203325"/>
            <a:ext cx="952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(3AB)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795" y="156337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1.(151)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11450" y="1563370"/>
            <a:ext cx="1450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2.(CF1)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5795" y="3072130"/>
            <a:ext cx="1842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3.(100111)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94940" y="307213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4.(175)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9980" y="156337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5.(152)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19980" y="3072130"/>
            <a:ext cx="1842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6.(110101)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19620" y="1563370"/>
            <a:ext cx="1292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7.(166)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18985" y="3072130"/>
            <a:ext cx="1292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8.(411)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10285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33640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118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35300" y="3677920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533640" y="3677920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265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89380" y="3677920"/>
            <a:ext cx="4813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00700" y="3677920"/>
            <a:ext cx="4813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53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60065" y="2140585"/>
            <a:ext cx="7797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3313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96535" y="2140585"/>
            <a:ext cx="630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338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3" grpId="0"/>
      <p:bldP spid="23" grpId="1"/>
      <p:bldP spid="24" grpId="0"/>
      <p:bldP spid="24" grpId="1"/>
      <p:bldP spid="18" grpId="0"/>
      <p:bldP spid="18" grpId="1"/>
      <p:bldP spid="21" grpId="0"/>
      <p:bldP spid="21" grpId="1"/>
      <p:bldP spid="19" grpId="0"/>
      <p:bldP spid="19" grpId="1"/>
      <p:bldP spid="22" grpId="0"/>
      <p:bldP spid="22" grpId="1"/>
      <p:bldP spid="20" grpId="0"/>
      <p:bldP spid="20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163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(156)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4" descr="IMG_259">
            <a:hlinkClick r:id="rId1"/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1685" y="1564005"/>
            <a:ext cx="3733800" cy="2857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75810" y="1590675"/>
            <a:ext cx="3670935" cy="2830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" name="墨迹 7"/>
              <p14:cNvContentPartPr/>
              <p14:nvPr/>
            </p14:nvContentPartPr>
            <p14:xfrm>
              <a:off x="3081020" y="2819400"/>
              <a:ext cx="123825" cy="1047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3081020" y="2819400"/>
                <a:ext cx="123825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0" name="墨迹 9"/>
              <p14:cNvContentPartPr/>
              <p14:nvPr/>
            </p14:nvContentPartPr>
            <p14:xfrm>
              <a:off x="3228975" y="2762250"/>
              <a:ext cx="123825" cy="2476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9"/>
            </p:blipFill>
            <p:spPr>
              <a:xfrm>
                <a:off x="3228975" y="2762250"/>
                <a:ext cx="123825" cy="24765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075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(87)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0020" y="2787650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1010111</a:t>
            </a:r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502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(1430)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5" descr="IMG_260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323" y="2355533"/>
            <a:ext cx="5038725" cy="1933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283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(125)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01035" y="2787650"/>
            <a:ext cx="1433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(175)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9163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(156)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6" descr="IMG_261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445" y="2427605"/>
            <a:ext cx="4095750" cy="15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：将下列十进制数转换为</a:t>
            </a:r>
            <a:r>
              <a:rPr lang="zh-CN" sz="1800" dirty="0">
                <a:sym typeface="+mn-ea"/>
              </a:rPr>
              <a:t>十六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1534160"/>
            <a:ext cx="1283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(201)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5965" y="2790190"/>
            <a:ext cx="1433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(C9)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55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06065" y="1061720"/>
            <a:ext cx="12630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2.(77)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6145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3.(154)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0466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4.(216)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09880" y="1879600"/>
            <a:ext cx="1787525" cy="2070735"/>
            <a:chOff x="488" y="2960"/>
            <a:chExt cx="2815" cy="3261"/>
          </a:xfrm>
        </p:grpSpPr>
        <p:sp>
          <p:nvSpPr>
            <p:cNvPr id="2" name="文本框 1"/>
            <p:cNvSpPr txBox="1"/>
            <p:nvPr/>
          </p:nvSpPr>
          <p:spPr>
            <a:xfrm>
              <a:off x="488" y="2960"/>
              <a:ext cx="276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1100100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636" y="4261"/>
              <a:ext cx="161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(144)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05" y="5497"/>
              <a:ext cx="149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(64)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230755" y="1879600"/>
            <a:ext cx="1840865" cy="2070735"/>
            <a:chOff x="3513" y="2960"/>
            <a:chExt cx="2899" cy="3261"/>
          </a:xfrm>
        </p:grpSpPr>
        <p:sp>
          <p:nvSpPr>
            <p:cNvPr id="26" name="文本框 25"/>
            <p:cNvSpPr txBox="1"/>
            <p:nvPr/>
          </p:nvSpPr>
          <p:spPr>
            <a:xfrm>
              <a:off x="3513" y="2960"/>
              <a:ext cx="276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1001101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661" y="4261"/>
              <a:ext cx="161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(115)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830" y="5497"/>
              <a:ext cx="1583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(4D)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16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4311650" y="1879600"/>
            <a:ext cx="19329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10011010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40630" y="270573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(232)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47945" y="3490595"/>
            <a:ext cx="10775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( 9A)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64300" y="1879600"/>
            <a:ext cx="19329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11011000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93280" y="270573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(330)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67575" y="3490595"/>
            <a:ext cx="10052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(D8)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9" grpId="1"/>
      <p:bldP spid="30" grpId="1"/>
      <p:bldP spid="31" grpId="1"/>
      <p:bldP spid="32" grpId="0"/>
      <p:bldP spid="33" grpId="0"/>
      <p:bldP spid="34" grpId="0"/>
      <p:bldP spid="32" grpId="1"/>
      <p:bldP spid="33" grpId="1"/>
      <p:bldP spid="34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287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(100010)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7" descr="IMG_262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03" y="2355850"/>
            <a:ext cx="2790825" cy="1504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二进制转八进制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：将下列二进制数转换为八进制数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0947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(11010)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935" y="2499995"/>
            <a:ext cx="10801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(32)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：将下列八进制数转换为二进制数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1635760"/>
            <a:ext cx="12960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(27)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1820" y="2715895"/>
            <a:ext cx="21894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(10111)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：将下列八进制数转换为二进制数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1635760"/>
            <a:ext cx="15938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(151)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31820" y="2715895"/>
            <a:ext cx="27851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(1101001)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338074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(100111010)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8" descr="IMG_263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0" y="2571433"/>
            <a:ext cx="4591050" cy="187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二进制转十六进制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：将下列二进制数转换为十六进制数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30829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(11011001)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90315" y="2787650"/>
            <a:ext cx="15633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(D9)</a:t>
            </a:r>
            <a:r>
              <a:rPr lang="en-US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33794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(C2)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8295" y="2643505"/>
            <a:ext cx="34074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11000010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十六进制转二进制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9829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：将下列十六进制数转换为二进制数</a:t>
            </a:r>
            <a:endParaRPr lang="zh-CN" altLang="en-US" sz="18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260" y="1491615"/>
            <a:ext cx="12680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(9F)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8295" y="2643505"/>
            <a:ext cx="34074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10011111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八进制转十六进制</a:t>
            </a:r>
            <a:endParaRPr lang="zh-CN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55650" y="2387600"/>
            <a:ext cx="74295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八进制和十六进制无法直接转换，需要先转成二进制或者十进制再转换。</a:t>
            </a:r>
            <a:endParaRPr lang="zh-CN" sz="24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30302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>
                <a:solidFill>
                  <a:srgbClr val="FF0000"/>
                </a:solidFill>
              </a:rPr>
              <a:t>注意：</a:t>
            </a:r>
            <a:endParaRPr lang="zh-CN" alt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练一练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7550" y="106172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1.(100)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00655" y="1061720"/>
            <a:ext cx="13074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44390" y="106172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48805" y="1069340"/>
            <a:ext cx="14414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(100)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8675" y="1807845"/>
            <a:ext cx="8032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8675" y="2643505"/>
            <a:ext cx="6686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8675" y="3428365"/>
            <a:ext cx="7727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21305" y="1863090"/>
            <a:ext cx="981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(64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21305" y="2698750"/>
            <a:ext cx="17392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(1000000)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21305" y="3483610"/>
            <a:ext cx="951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86935" y="1863090"/>
            <a:ext cx="11601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(256)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16145" y="2715895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(400)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86935" y="3483610"/>
            <a:ext cx="20961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(100000000)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11340" y="1863090"/>
            <a:ext cx="17545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(1100100)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11340" y="2698750"/>
            <a:ext cx="10255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(144)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11340" y="3483610"/>
            <a:ext cx="951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(64)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3" grpId="1"/>
      <p:bldP spid="14" grpId="1"/>
      <p:bldP spid="15" grpId="1"/>
      <p:bldP spid="16" grpId="0"/>
      <p:bldP spid="17" grpId="0"/>
      <p:bldP spid="18" grpId="0"/>
      <p:bldP spid="16" grpId="1"/>
      <p:bldP spid="17" grpId="1"/>
      <p:bldP spid="18" grpId="1"/>
      <p:bldP spid="20" grpId="0"/>
      <p:bldP spid="19" grpId="0"/>
      <p:bldP spid="21" grpId="0"/>
      <p:bldP spid="20" grpId="1"/>
      <p:bldP spid="19" grpId="1"/>
      <p:bldP spid="21" grpId="1"/>
      <p:bldP spid="22" grpId="0"/>
      <p:bldP spid="23" grpId="0"/>
      <p:bldP spid="24" grpId="0"/>
      <p:bldP spid="22" grpId="1"/>
      <p:bldP spid="23" grpId="1"/>
      <p:bldP spid="24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ym typeface="+mn-ea"/>
              </a:rPr>
              <a:t>带小数的换算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105981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简单知道即可</a:t>
            </a:r>
            <a:endParaRPr lang="zh-CN" altLang="en-US" sz="3200"/>
          </a:p>
        </p:txBody>
      </p:sp>
      <p:pic>
        <p:nvPicPr>
          <p:cNvPr id="9" name="图片 9" descr="IMG_264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203" y="2386330"/>
            <a:ext cx="4657725" cy="51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683260" y="1903095"/>
            <a:ext cx="4627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二进制，八进制，十六进制的小数转换十进制，方法类似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83260" y="3151505"/>
            <a:ext cx="4805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十进制小数转换成二进制，八进制，十六进制方法也是类似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683260" y="3723640"/>
            <a:ext cx="79241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例如十进制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转换成二进制，就是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0.75*2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取整数，刚好是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，然后剩下的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0.5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取整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最后结果为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(0.11)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89960" y="4500880"/>
            <a:ext cx="16363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(0.6)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,(0.C)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500,&quot;width&quot;:5880}"/>
</p:tagLst>
</file>

<file path=ppt/tags/tag2.xml><?xml version="1.0" encoding="utf-8"?>
<p:tagLst xmlns:p="http://schemas.openxmlformats.org/presentationml/2006/main">
  <p:tag name="KSO_WM_UNIT_PLACING_PICTURE_USER_VIEWPORT" val="{&quot;height&quot;:5700,&quot;width&quot;:7392}"/>
</p:tagLst>
</file>

<file path=ppt/tags/tag3.xml><?xml version="1.0" encoding="utf-8"?>
<p:tagLst xmlns:p="http://schemas.openxmlformats.org/presentationml/2006/main">
  <p:tag name="ISPRING_RESOURCE_PATHS_HASH_PRESENTER" val="76ce7ccbcda6cf12636bdb4ab607c4c83d474"/>
  <p:tag name="KSO_WPP_MARK_KEY" val="b58beec5-ac75-48c0-84c1-fabb63cdc626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2700</Words>
  <Application>WPS 演示</Application>
  <PresentationFormat>全屏显示(16:9)</PresentationFormat>
  <Paragraphs>517</Paragraphs>
  <Slides>46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440</cp:revision>
  <cp:lastPrinted>2000-12-31T21:09:00Z</cp:lastPrinted>
  <dcterms:created xsi:type="dcterms:W3CDTF">2015-11-10T12:01:00Z</dcterms:created>
  <dcterms:modified xsi:type="dcterms:W3CDTF">2023-01-28T11:54:45Z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D26F464B56CF46559EAFED78C78A2B3A</vt:lpwstr>
  </property>
  <property fmtid="{D5CDD505-2E9C-101B-9397-08002B2CF9AE}" pid="3" name="KSOProductBuildVer">
    <vt:lpwstr>2052-11.1.0.12970</vt:lpwstr>
  </property>
</Properties>
</file>