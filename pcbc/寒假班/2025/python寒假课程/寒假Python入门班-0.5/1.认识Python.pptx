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5" r:id="rId3"/>
    <p:sldId id="497" r:id="rId5"/>
    <p:sldId id="545" r:id="rId6"/>
    <p:sldId id="525" r:id="rId7"/>
    <p:sldId id="526" r:id="rId8"/>
    <p:sldId id="499" r:id="rId9"/>
    <p:sldId id="546" r:id="rId10"/>
    <p:sldId id="566" r:id="rId11"/>
    <p:sldId id="547" r:id="rId12"/>
    <p:sldId id="548" r:id="rId13"/>
    <p:sldId id="549" r:id="rId14"/>
    <p:sldId id="550" r:id="rId15"/>
    <p:sldId id="552" r:id="rId16"/>
    <p:sldId id="563" r:id="rId17"/>
    <p:sldId id="554" r:id="rId18"/>
    <p:sldId id="555" r:id="rId19"/>
    <p:sldId id="556" r:id="rId20"/>
    <p:sldId id="557" r:id="rId21"/>
    <p:sldId id="558" r:id="rId22"/>
    <p:sldId id="559" r:id="rId23"/>
    <p:sldId id="561" r:id="rId24"/>
    <p:sldId id="564" r:id="rId25"/>
    <p:sldId id="565" r:id="rId26"/>
  </p:sldIdLst>
  <p:sldSz cx="9144000" cy="5143500" type="screen16x9"/>
  <p:notesSz cx="6797675" cy="9925050"/>
  <p:custDataLst>
    <p:tags r:id="rId30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89" userDrawn="1">
          <p15:clr>
            <a:srgbClr val="A4A3A4"/>
          </p15:clr>
        </p15:guide>
        <p15:guide id="2" pos="2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9" autoAdjust="0"/>
    <p:restoredTop sz="95212" autoAdjust="0"/>
  </p:normalViewPr>
  <p:slideViewPr>
    <p:cSldViewPr showGuides="1">
      <p:cViewPr varScale="1">
        <p:scale>
          <a:sx n="114" d="100"/>
          <a:sy n="114" d="100"/>
        </p:scale>
        <p:origin x="518" y="82"/>
      </p:cViewPr>
      <p:guideLst>
        <p:guide orient="horz" pos="1689"/>
        <p:guide pos="28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12.png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12.png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程序设计</a:t>
            </a:r>
            <a:endParaRPr lang="zh-CN" altLang="en-US" sz="3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745730" y="1851660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朱龙雨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课程前言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67760" y="365252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教室卫生</a:t>
            </a:r>
            <a:endParaRPr lang="zh-CN" alt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67760" y="1131570"/>
            <a:ext cx="18084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32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自我介绍</a:t>
            </a:r>
            <a:endParaRPr lang="zh-CN" altLang="en-US" sz="32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7760" y="2392045"/>
            <a:ext cx="180848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课堂纪律</a:t>
            </a:r>
            <a:endParaRPr lang="zh-CN" altLang="en-US" sz="32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Python</a:t>
            </a:r>
            <a:r>
              <a:rPr 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简介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sym typeface="+mn-ea"/>
              </a:rPr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简介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61670" y="1131570"/>
            <a:ext cx="6268720" cy="2210435"/>
            <a:chOff x="1042" y="1782"/>
            <a:chExt cx="9872" cy="3481"/>
          </a:xfrm>
        </p:grpSpPr>
        <p:sp>
          <p:nvSpPr>
            <p:cNvPr id="2" name="文本框 1"/>
            <p:cNvSpPr txBox="1"/>
            <p:nvPr/>
          </p:nvSpPr>
          <p:spPr>
            <a:xfrm>
              <a:off x="1042" y="1782"/>
              <a:ext cx="2930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000"/>
                <a:t>Python</a:t>
              </a:r>
              <a:r>
                <a:rPr lang="zh-CN" altLang="en-US" sz="2000" b="1"/>
                <a:t>的历史</a:t>
              </a:r>
              <a:endParaRPr lang="zh-CN" altLang="en-US" sz="2000" b="1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1042" y="2575"/>
              <a:ext cx="9873" cy="268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b="1"/>
                <a:t>1.</a:t>
              </a:r>
              <a:r>
                <a:rPr lang="zh-CN" altLang="en-US"/>
                <a:t>1989年圣诞节：</a:t>
              </a:r>
              <a:r>
                <a:rPr lang="en-US" altLang="zh-CN"/>
                <a:t>Python</a:t>
              </a:r>
              <a:r>
                <a:rPr lang="zh-CN" altLang="en-US"/>
                <a:t>之父</a:t>
              </a:r>
              <a:r>
                <a:rPr lang="en-US" altLang="zh-CN"/>
                <a:t>—</a:t>
              </a:r>
              <a:r>
                <a:rPr lang="zh-CN" altLang="en-US"/>
                <a:t>吉多·范罗苏姆开始写Python语言的编译器。</a:t>
              </a:r>
              <a:endParaRPr lang="zh-CN" altLang="en-US"/>
            </a:p>
            <a:p>
              <a:pPr>
                <a:lnSpc>
                  <a:spcPct val="150000"/>
                </a:lnSpc>
              </a:pPr>
              <a:r>
                <a:rPr lang="en-US" altLang="zh-CN" b="1"/>
                <a:t>2.</a:t>
              </a:r>
              <a:r>
                <a:rPr lang="zh-CN" altLang="en-US"/>
                <a:t>1991年2月：第一个Python解释器诞生。</a:t>
              </a:r>
              <a:endParaRPr lang="zh-CN" altLang="en-US"/>
            </a:p>
            <a:p>
              <a:pPr>
                <a:lnSpc>
                  <a:spcPct val="150000"/>
                </a:lnSpc>
              </a:pPr>
              <a:r>
                <a:rPr lang="en-US" altLang="zh-CN" b="1"/>
                <a:t>3.</a:t>
              </a:r>
              <a:r>
                <a:rPr lang="zh-CN" altLang="en-US"/>
                <a:t>1994年1月：Python 1.0正式发布。</a:t>
              </a:r>
              <a:endParaRPr lang="zh-CN" altLang="en-US"/>
            </a:p>
            <a:p>
              <a:pPr>
                <a:lnSpc>
                  <a:spcPct val="150000"/>
                </a:lnSpc>
              </a:pPr>
              <a:r>
                <a:rPr lang="en-US" altLang="zh-CN" b="1"/>
                <a:t>4.</a:t>
              </a:r>
              <a:r>
                <a:rPr lang="zh-CN" altLang="en-US"/>
                <a:t>2000年10月16日：Python 2.0发布。</a:t>
              </a:r>
              <a:endParaRPr lang="zh-CN" altLang="en-US"/>
            </a:p>
            <a:p>
              <a:pPr>
                <a:lnSpc>
                  <a:spcPct val="150000"/>
                </a:lnSpc>
              </a:pPr>
              <a:r>
                <a:rPr lang="en-US" altLang="zh-CN" b="1"/>
                <a:t>5.</a:t>
              </a:r>
              <a:r>
                <a:rPr lang="zh-CN" altLang="en-US"/>
                <a:t>2008年12月3日：Python 3.0发布，它并不完全兼容之前的Python代码。</a:t>
              </a: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sym typeface="+mn-ea"/>
              </a:rPr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简介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661670" y="1131570"/>
            <a:ext cx="7584440" cy="3763645"/>
            <a:chOff x="1042" y="1782"/>
            <a:chExt cx="11944" cy="5927"/>
          </a:xfrm>
        </p:grpSpPr>
        <p:sp>
          <p:nvSpPr>
            <p:cNvPr id="2" name="文本框 1"/>
            <p:cNvSpPr txBox="1"/>
            <p:nvPr/>
          </p:nvSpPr>
          <p:spPr>
            <a:xfrm>
              <a:off x="1042" y="1782"/>
              <a:ext cx="3784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zh-CN" altLang="en-US" sz="2000"/>
                <a:t>Python</a:t>
              </a:r>
              <a:r>
                <a:rPr lang="zh-CN" altLang="en-US" sz="2000" b="1"/>
                <a:t>的名字由来</a:t>
              </a:r>
              <a:endParaRPr lang="en-US" altLang="zh-CN" sz="2000" b="1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76" y="2788"/>
              <a:ext cx="11911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zh-CN"/>
                <a:t>Python</a:t>
              </a:r>
              <a:r>
                <a:rPr lang="zh-CN" altLang="en-US"/>
                <a:t>的英文直译是大蟒蛇的意思。而真正作为该编程语言的名字，是取自</a:t>
              </a:r>
              <a:r>
                <a:rPr lang="en-US" altLang="zh-CN">
                  <a:sym typeface="+mn-ea"/>
                </a:rPr>
                <a:t>Python</a:t>
              </a:r>
              <a:r>
                <a:rPr lang="zh-CN" altLang="en-US">
                  <a:sym typeface="+mn-ea"/>
                </a:rPr>
                <a:t>之父</a:t>
              </a:r>
              <a:r>
                <a:rPr lang="en-US" altLang="zh-CN">
                  <a:sym typeface="+mn-ea"/>
                </a:rPr>
                <a:t>—</a:t>
              </a:r>
              <a:r>
                <a:rPr lang="zh-CN" altLang="en-US">
                  <a:sym typeface="+mn-ea"/>
                </a:rPr>
                <a:t>吉多·范罗苏姆非常喜欢的一个</a:t>
              </a:r>
              <a:r>
                <a:rPr lang="zh-CN" altLang="en-US"/>
                <a:t>英国20世纪70年代首播的电视喜剧《蒙提.派森的飞行马戏团》。</a:t>
              </a:r>
              <a:endParaRPr lang="zh-CN" altLang="en-US"/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90" y="4163"/>
              <a:ext cx="4318" cy="354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/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矩形 1"/>
          <p:cNvSpPr>
            <a:spLocks noChangeArrowheads="1"/>
          </p:cNvSpPr>
          <p:nvPr/>
        </p:nvSpPr>
        <p:spPr bwMode="auto">
          <a:xfrm>
            <a:off x="1535430" y="2355215"/>
            <a:ext cx="6073140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是一门简单而强大的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编程语言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07687" y="997405"/>
            <a:ext cx="6890962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啥是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307687" y="1492642"/>
            <a:ext cx="6314731" cy="0"/>
          </a:xfrm>
          <a:prstGeom prst="line">
            <a:avLst/>
          </a:prstGeom>
          <a:ln w="158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38793" y="813717"/>
            <a:ext cx="1264379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6000" b="1" cap="all" dirty="0">
                <a:ln w="0"/>
                <a:gradFill flip="none">
                  <a:gsLst>
                    <a:gs pos="0">
                      <a:srgbClr val="C00000"/>
                    </a:gs>
                    <a:gs pos="49000">
                      <a:srgbClr val="C00000"/>
                    </a:gs>
                    <a:gs pos="49000">
                      <a:srgbClr val="C00000"/>
                    </a:gs>
                    <a:gs pos="92000">
                      <a:srgbClr val="C00000"/>
                    </a:gs>
                    <a:gs pos="100000">
                      <a:srgbClr val="C00000"/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等线" panose="02010600030101010101" charset="-122"/>
                <a:ea typeface="等线" panose="02010600030101010101" charset="-122"/>
              </a:rPr>
              <a:t>？</a:t>
            </a:r>
            <a:endParaRPr lang="zh-CN" altLang="en-US" sz="6000" b="1" cap="all" dirty="0">
              <a:ln w="0"/>
              <a:gradFill flip="none">
                <a:gsLst>
                  <a:gs pos="0">
                    <a:srgbClr val="C00000"/>
                  </a:gs>
                  <a:gs pos="49000">
                    <a:srgbClr val="C00000"/>
                  </a:gs>
                  <a:gs pos="49000">
                    <a:srgbClr val="C00000"/>
                  </a:gs>
                  <a:gs pos="92000">
                    <a:srgbClr val="C00000"/>
                  </a:gs>
                  <a:gs pos="100000">
                    <a:srgbClr val="C00000"/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/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07687" y="997405"/>
            <a:ext cx="6890962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ym typeface="+mn-ea"/>
              </a:rPr>
              <a:t>那啥是编程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语言</a:t>
            </a:r>
            <a:r>
              <a:rPr lang="zh-CN" altLang="en-US" sz="2400" dirty="0">
                <a:sym typeface="+mn-ea"/>
              </a:rPr>
              <a:t>呢？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307687" y="1492642"/>
            <a:ext cx="6314731" cy="0"/>
          </a:xfrm>
          <a:prstGeom prst="line">
            <a:avLst/>
          </a:prstGeom>
          <a:ln w="158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38793" y="813717"/>
            <a:ext cx="1264379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6000" b="1" cap="all" dirty="0">
                <a:ln w="0"/>
                <a:gradFill flip="none">
                  <a:gsLst>
                    <a:gs pos="0">
                      <a:srgbClr val="C00000"/>
                    </a:gs>
                    <a:gs pos="49000">
                      <a:srgbClr val="C00000"/>
                    </a:gs>
                    <a:gs pos="49000">
                      <a:srgbClr val="C00000"/>
                    </a:gs>
                    <a:gs pos="92000">
                      <a:srgbClr val="C00000"/>
                    </a:gs>
                    <a:gs pos="100000">
                      <a:srgbClr val="C00000"/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等线" panose="02010600030101010101" charset="-122"/>
                <a:ea typeface="等线" panose="02010600030101010101" charset="-122"/>
              </a:rPr>
              <a:t>？</a:t>
            </a:r>
            <a:endParaRPr lang="zh-CN" altLang="en-US" sz="6000" b="1" cap="all" dirty="0">
              <a:ln w="0"/>
              <a:gradFill flip="none">
                <a:gsLst>
                  <a:gs pos="0">
                    <a:srgbClr val="C00000"/>
                  </a:gs>
                  <a:gs pos="49000">
                    <a:srgbClr val="C00000"/>
                  </a:gs>
                  <a:gs pos="49000">
                    <a:srgbClr val="C00000"/>
                  </a:gs>
                  <a:gs pos="92000">
                    <a:srgbClr val="C00000"/>
                  </a:gs>
                  <a:gs pos="100000">
                    <a:srgbClr val="C00000"/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280160" y="1714500"/>
            <a:ext cx="3463290" cy="1590040"/>
            <a:chOff x="2016" y="2700"/>
            <a:chExt cx="5454" cy="2504"/>
          </a:xfrm>
        </p:grpSpPr>
        <p:grpSp>
          <p:nvGrpSpPr>
            <p:cNvPr id="17" name="组合 16"/>
            <p:cNvGrpSpPr/>
            <p:nvPr/>
          </p:nvGrpSpPr>
          <p:grpSpPr>
            <a:xfrm>
              <a:off x="2016" y="3466"/>
              <a:ext cx="1587" cy="1735"/>
              <a:chOff x="2059" y="3029"/>
              <a:chExt cx="2591" cy="2830"/>
            </a:xfrm>
          </p:grpSpPr>
          <p:pic>
            <p:nvPicPr>
              <p:cNvPr id="2" name="图片 1"/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2"/>
              <a:stretch>
                <a:fillRect/>
              </a:stretch>
            </p:blipFill>
            <p:spPr>
              <a:xfrm>
                <a:off x="2059" y="3029"/>
                <a:ext cx="2591" cy="1731"/>
              </a:xfrm>
              <a:prstGeom prst="rect">
                <a:avLst/>
              </a:prstGeom>
            </p:spPr>
          </p:pic>
          <p:sp>
            <p:nvSpPr>
              <p:cNvPr id="13" name="文本框 12"/>
              <p:cNvSpPr txBox="1"/>
              <p:nvPr/>
            </p:nvSpPr>
            <p:spPr>
              <a:xfrm>
                <a:off x="2061" y="5071"/>
                <a:ext cx="2588" cy="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/>
                  <a:t>中文</a:t>
                </a:r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3717" y="3466"/>
              <a:ext cx="1843" cy="1738"/>
              <a:chOff x="5653" y="3023"/>
              <a:chExt cx="3009" cy="2835"/>
            </a:xfrm>
          </p:grpSpPr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39" y="3023"/>
                <a:ext cx="2614" cy="1744"/>
              </a:xfrm>
              <a:prstGeom prst="rect">
                <a:avLst/>
              </a:prstGeom>
            </p:spPr>
          </p:pic>
          <p:sp>
            <p:nvSpPr>
              <p:cNvPr id="15" name="文本框 14"/>
              <p:cNvSpPr txBox="1"/>
              <p:nvPr/>
            </p:nvSpPr>
            <p:spPr>
              <a:xfrm>
                <a:off x="5653" y="5070"/>
                <a:ext cx="3009" cy="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/>
                  <a:t>英语</a:t>
                </a:r>
                <a:endParaRPr lang="zh-CN" altLang="en-US"/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5674" y="3466"/>
              <a:ext cx="1797" cy="1738"/>
              <a:chOff x="9275" y="3023"/>
              <a:chExt cx="2933" cy="2835"/>
            </a:xfrm>
          </p:grpSpPr>
          <p:pic>
            <p:nvPicPr>
              <p:cNvPr id="12" name="图片 1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94" y="3023"/>
                <a:ext cx="2610" cy="1738"/>
              </a:xfrm>
              <a:prstGeom prst="rect">
                <a:avLst/>
              </a:prstGeom>
            </p:spPr>
          </p:pic>
          <p:sp>
            <p:nvSpPr>
              <p:cNvPr id="16" name="文本框 15"/>
              <p:cNvSpPr txBox="1"/>
              <p:nvPr/>
            </p:nvSpPr>
            <p:spPr>
              <a:xfrm>
                <a:off x="9275" y="5070"/>
                <a:ext cx="2933" cy="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/>
                  <a:t>日语</a:t>
                </a:r>
                <a:endParaRPr lang="zh-CN" altLang="en-US"/>
              </a:p>
            </p:txBody>
          </p:sp>
        </p:grpSp>
        <p:sp>
          <p:nvSpPr>
            <p:cNvPr id="3" name="文本框 2"/>
            <p:cNvSpPr txBox="1"/>
            <p:nvPr/>
          </p:nvSpPr>
          <p:spPr>
            <a:xfrm>
              <a:off x="3005" y="2700"/>
              <a:ext cx="31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 b="1"/>
                <a:t>人和人交流的语言</a:t>
              </a:r>
              <a:endParaRPr lang="zh-CN" altLang="en-US" sz="1800" b="1"/>
            </a:p>
          </p:txBody>
        </p:sp>
      </p:grpSp>
      <p:sp>
        <p:nvSpPr>
          <p:cNvPr id="20" name="矩形 1"/>
          <p:cNvSpPr>
            <a:spLocks noChangeArrowheads="1"/>
          </p:cNvSpPr>
          <p:nvPr/>
        </p:nvSpPr>
        <p:spPr bwMode="auto">
          <a:xfrm>
            <a:off x="1403985" y="3423920"/>
            <a:ext cx="6364605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编程语言，计算机和人都能识别的语言。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004435" y="2341245"/>
            <a:ext cx="246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/>
              <a:t>人和电脑交流的语言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0" grpId="0"/>
      <p:bldP spid="20" grpId="1"/>
      <p:bldP spid="21" grpId="0"/>
      <p:bldP spid="21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/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07687" y="997405"/>
            <a:ext cx="6890962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为什么选择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307687" y="1492642"/>
            <a:ext cx="6314731" cy="0"/>
          </a:xfrm>
          <a:prstGeom prst="line">
            <a:avLst/>
          </a:prstGeom>
          <a:ln w="158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38793" y="813717"/>
            <a:ext cx="1264379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6000" b="1" cap="all" dirty="0">
                <a:ln w="0"/>
                <a:gradFill flip="none">
                  <a:gsLst>
                    <a:gs pos="0">
                      <a:srgbClr val="C00000"/>
                    </a:gs>
                    <a:gs pos="49000">
                      <a:srgbClr val="C00000"/>
                    </a:gs>
                    <a:gs pos="49000">
                      <a:srgbClr val="C00000"/>
                    </a:gs>
                    <a:gs pos="92000">
                      <a:srgbClr val="C00000"/>
                    </a:gs>
                    <a:gs pos="100000">
                      <a:srgbClr val="C00000"/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等线" panose="02010600030101010101" charset="-122"/>
                <a:ea typeface="等线" panose="02010600030101010101" charset="-122"/>
              </a:rPr>
              <a:t>？</a:t>
            </a:r>
            <a:endParaRPr lang="zh-CN" altLang="en-US" sz="6000" b="1" cap="all" dirty="0">
              <a:ln w="0"/>
              <a:gradFill flip="none">
                <a:gsLst>
                  <a:gs pos="0">
                    <a:srgbClr val="C00000"/>
                  </a:gs>
                  <a:gs pos="49000">
                    <a:srgbClr val="C00000"/>
                  </a:gs>
                  <a:gs pos="49000">
                    <a:srgbClr val="C00000"/>
                  </a:gs>
                  <a:gs pos="92000">
                    <a:srgbClr val="C00000"/>
                  </a:gs>
                  <a:gs pos="100000">
                    <a:srgbClr val="C00000"/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88085" y="1635125"/>
            <a:ext cx="60712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通过百度百科，可以查询到有记录的编程语言就有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600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多种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188085" y="2193925"/>
            <a:ext cx="191960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的优势：</a:t>
            </a:r>
            <a:endPara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88085" y="2752725"/>
            <a:ext cx="5858510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简单易学，代码可读性高。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是世界上最受欢迎的编程语言，没有之一。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浙江高中必学课程，高考科目之一。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在各项领域排名第一，如人工智能和脚本编写等方面。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1" grpId="1"/>
      <p:bldP spid="22" grpId="0"/>
      <p:bldP spid="22" grpId="1"/>
      <p:bldP spid="23" grpId="0"/>
      <p:bldP spid="2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/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07687" y="997405"/>
            <a:ext cx="6890962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ym typeface="+mn-ea"/>
              </a:rPr>
              <a:t>Python</a:t>
            </a:r>
            <a:r>
              <a:rPr lang="zh-CN" altLang="en-US" sz="2400" dirty="0">
                <a:sym typeface="+mn-ea"/>
              </a:rPr>
              <a:t>的成果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307687" y="1492642"/>
            <a:ext cx="6314731" cy="0"/>
          </a:xfrm>
          <a:prstGeom prst="line">
            <a:avLst/>
          </a:prstGeom>
          <a:ln w="158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38793" y="813717"/>
            <a:ext cx="1264379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6000" b="1" cap="all" dirty="0">
                <a:ln w="0"/>
                <a:gradFill flip="none">
                  <a:gsLst>
                    <a:gs pos="0">
                      <a:srgbClr val="C00000"/>
                    </a:gs>
                    <a:gs pos="49000">
                      <a:srgbClr val="C00000"/>
                    </a:gs>
                    <a:gs pos="49000">
                      <a:srgbClr val="C00000"/>
                    </a:gs>
                    <a:gs pos="92000">
                      <a:srgbClr val="C00000"/>
                    </a:gs>
                    <a:gs pos="100000">
                      <a:srgbClr val="C00000"/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等线" panose="02010600030101010101" charset="-122"/>
                <a:ea typeface="等线" panose="02010600030101010101" charset="-122"/>
              </a:rPr>
              <a:t>？</a:t>
            </a:r>
            <a:endParaRPr lang="zh-CN" altLang="en-US" sz="6000" b="1" cap="all" dirty="0">
              <a:ln w="0"/>
              <a:gradFill flip="none">
                <a:gsLst>
                  <a:gs pos="0">
                    <a:srgbClr val="C00000"/>
                  </a:gs>
                  <a:gs pos="49000">
                    <a:srgbClr val="C00000"/>
                  </a:gs>
                  <a:gs pos="49000">
                    <a:srgbClr val="C00000"/>
                  </a:gs>
                  <a:gs pos="92000">
                    <a:srgbClr val="C00000"/>
                  </a:gs>
                  <a:gs pos="100000">
                    <a:srgbClr val="C00000"/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8125" y="1944370"/>
            <a:ext cx="2042160" cy="153162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05" y="2211070"/>
            <a:ext cx="2061210" cy="137287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b="37273"/>
          <a:stretch>
            <a:fillRect/>
          </a:stretch>
        </p:blipFill>
        <p:spPr>
          <a:xfrm>
            <a:off x="3277235" y="3867785"/>
            <a:ext cx="3094990" cy="1226820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2925445" y="2319655"/>
            <a:ext cx="3645535" cy="1610995"/>
            <a:chOff x="4607" y="3653"/>
            <a:chExt cx="5741" cy="2537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00" y="3653"/>
              <a:ext cx="3571" cy="1821"/>
            </a:xfrm>
            <a:prstGeom prst="rect">
              <a:avLst/>
            </a:prstGeom>
          </p:spPr>
        </p:pic>
        <p:sp>
          <p:nvSpPr>
            <p:cNvPr id="30" name="右箭头 29"/>
            <p:cNvSpPr/>
            <p:nvPr/>
          </p:nvSpPr>
          <p:spPr>
            <a:xfrm rot="9720000">
              <a:off x="9240" y="4187"/>
              <a:ext cx="1108" cy="35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右箭头 30"/>
            <p:cNvSpPr/>
            <p:nvPr/>
          </p:nvSpPr>
          <p:spPr>
            <a:xfrm rot="15960000">
              <a:off x="7044" y="5459"/>
              <a:ext cx="1108" cy="35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右箭头 31"/>
            <p:cNvSpPr/>
            <p:nvPr/>
          </p:nvSpPr>
          <p:spPr>
            <a:xfrm rot="21240000">
              <a:off x="4607" y="4447"/>
              <a:ext cx="1108" cy="35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/>
              <a:t>P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 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07687" y="997405"/>
            <a:ext cx="6890962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ym typeface="+mn-ea"/>
              </a:rPr>
              <a:t>Python</a:t>
            </a:r>
            <a:r>
              <a:rPr lang="zh-CN" altLang="en-US" sz="2400" dirty="0">
                <a:sym typeface="+mn-ea"/>
              </a:rPr>
              <a:t>的成果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307687" y="1492642"/>
            <a:ext cx="6314731" cy="0"/>
          </a:xfrm>
          <a:prstGeom prst="line">
            <a:avLst/>
          </a:prstGeom>
          <a:ln w="158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38793" y="813717"/>
            <a:ext cx="1264379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6000" b="1" cap="all" dirty="0">
                <a:ln w="0"/>
                <a:gradFill flip="none">
                  <a:gsLst>
                    <a:gs pos="0">
                      <a:srgbClr val="C00000"/>
                    </a:gs>
                    <a:gs pos="49000">
                      <a:srgbClr val="C00000"/>
                    </a:gs>
                    <a:gs pos="49000">
                      <a:srgbClr val="C00000"/>
                    </a:gs>
                    <a:gs pos="92000">
                      <a:srgbClr val="C00000"/>
                    </a:gs>
                    <a:gs pos="100000">
                      <a:srgbClr val="C00000"/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等线" panose="02010600030101010101" charset="-122"/>
                <a:ea typeface="等线" panose="02010600030101010101" charset="-122"/>
              </a:rPr>
              <a:t>？</a:t>
            </a:r>
            <a:endParaRPr lang="zh-CN" altLang="en-US" sz="6000" b="1" cap="all" dirty="0">
              <a:ln w="0"/>
              <a:gradFill flip="none">
                <a:gsLst>
                  <a:gs pos="0">
                    <a:srgbClr val="C00000"/>
                  </a:gs>
                  <a:gs pos="49000">
                    <a:srgbClr val="C00000"/>
                  </a:gs>
                  <a:gs pos="49000">
                    <a:srgbClr val="C00000"/>
                  </a:gs>
                  <a:gs pos="92000">
                    <a:srgbClr val="C00000"/>
                  </a:gs>
                  <a:gs pos="100000">
                    <a:srgbClr val="C00000"/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339975" y="1828165"/>
            <a:ext cx="4061460" cy="2942590"/>
            <a:chOff x="3685" y="2879"/>
            <a:chExt cx="6396" cy="463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685" y="2879"/>
              <a:ext cx="6396" cy="3600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/>
          </p:nvSpPr>
          <p:spPr>
            <a:xfrm>
              <a:off x="5856" y="6885"/>
              <a:ext cx="2688" cy="6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/>
                <a:t>人工智能产品</a:t>
              </a:r>
              <a:endParaRPr lang="zh-CN" altLang="en-US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4425950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7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第一个</a:t>
            </a:r>
            <a:r>
              <a:rPr lang="en-US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Python</a:t>
            </a:r>
            <a:r>
              <a:rPr lang="zh-CN" altLang="en-US" sz="27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程序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第一个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07687" y="997405"/>
            <a:ext cx="6890962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如何使用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Python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？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307687" y="1492642"/>
            <a:ext cx="6314731" cy="0"/>
          </a:xfrm>
          <a:prstGeom prst="line">
            <a:avLst/>
          </a:prstGeom>
          <a:ln w="1587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38793" y="813717"/>
            <a:ext cx="1264379" cy="10147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>
              <a:defRPr/>
            </a:pPr>
            <a:r>
              <a:rPr lang="zh-CN" altLang="en-US" sz="6000" b="1" cap="all" dirty="0">
                <a:ln w="0"/>
                <a:gradFill flip="none">
                  <a:gsLst>
                    <a:gs pos="0">
                      <a:srgbClr val="C00000"/>
                    </a:gs>
                    <a:gs pos="49000">
                      <a:srgbClr val="C00000"/>
                    </a:gs>
                    <a:gs pos="49000">
                      <a:srgbClr val="C00000"/>
                    </a:gs>
                    <a:gs pos="92000">
                      <a:srgbClr val="C00000"/>
                    </a:gs>
                    <a:gs pos="100000">
                      <a:srgbClr val="C00000"/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等线" panose="02010600030101010101" charset="-122"/>
                <a:ea typeface="等线" panose="02010600030101010101" charset="-122"/>
              </a:rPr>
              <a:t>？</a:t>
            </a:r>
            <a:endParaRPr lang="zh-CN" altLang="en-US" sz="6000" b="1" cap="all" dirty="0">
              <a:ln w="0"/>
              <a:gradFill flip="none">
                <a:gsLst>
                  <a:gs pos="0">
                    <a:srgbClr val="C00000"/>
                  </a:gs>
                  <a:gs pos="49000">
                    <a:srgbClr val="C00000"/>
                  </a:gs>
                  <a:gs pos="49000">
                    <a:srgbClr val="C00000"/>
                  </a:gs>
                  <a:gs pos="92000">
                    <a:srgbClr val="C00000"/>
                  </a:gs>
                  <a:gs pos="100000">
                    <a:srgbClr val="C00000"/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32230" y="1655445"/>
            <a:ext cx="559879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程序，那么我们就需要一个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集成开发环境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(IDE)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475740" y="2224405"/>
            <a:ext cx="3183890" cy="1112520"/>
            <a:chOff x="2324" y="3503"/>
            <a:chExt cx="5014" cy="1752"/>
          </a:xfrm>
        </p:grpSpPr>
        <p:pic>
          <p:nvPicPr>
            <p:cNvPr id="101" name="图片 100"/>
            <p:cNvPicPr/>
            <p:nvPr/>
          </p:nvPicPr>
          <p:blipFill>
            <a:blip r:embed="rId1"/>
            <a:srcRect l="28477" t="22877" r="26538" b="14457"/>
            <a:stretch>
              <a:fillRect/>
            </a:stretch>
          </p:blipFill>
          <p:spPr>
            <a:xfrm>
              <a:off x="3798" y="3503"/>
              <a:ext cx="1892" cy="175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1" name="文本框 10"/>
            <p:cNvSpPr txBox="1"/>
            <p:nvPr/>
          </p:nvSpPr>
          <p:spPr>
            <a:xfrm>
              <a:off x="2324" y="4089"/>
              <a:ext cx="10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 b="1"/>
                <a:t>英文</a:t>
              </a:r>
              <a:endParaRPr lang="zh-CN" altLang="en-US" sz="1800" b="1"/>
            </a:p>
          </p:txBody>
        </p:sp>
        <p:sp>
          <p:nvSpPr>
            <p:cNvPr id="12" name="右箭头 11"/>
            <p:cNvSpPr/>
            <p:nvPr/>
          </p:nvSpPr>
          <p:spPr>
            <a:xfrm>
              <a:off x="3345" y="4208"/>
              <a:ext cx="340" cy="34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330" y="4089"/>
              <a:ext cx="100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800" b="1"/>
                <a:t>中文</a:t>
              </a:r>
              <a:endParaRPr lang="zh-CN" altLang="en-US" sz="1800" b="1"/>
            </a:p>
          </p:txBody>
        </p:sp>
        <p:sp>
          <p:nvSpPr>
            <p:cNvPr id="16" name="右箭头 15"/>
            <p:cNvSpPr/>
            <p:nvPr/>
          </p:nvSpPr>
          <p:spPr>
            <a:xfrm>
              <a:off x="5805" y="4209"/>
              <a:ext cx="340" cy="34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115695" y="3723640"/>
            <a:ext cx="3847465" cy="1112520"/>
            <a:chOff x="1757" y="5864"/>
            <a:chExt cx="6059" cy="175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rcRect r="4954" b="18625"/>
            <a:stretch>
              <a:fillRect/>
            </a:stretch>
          </p:blipFill>
          <p:spPr>
            <a:xfrm>
              <a:off x="3885" y="5864"/>
              <a:ext cx="1718" cy="1753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757" y="6407"/>
              <a:ext cx="156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1600" b="1"/>
                <a:t>编程语言</a:t>
              </a:r>
              <a:endParaRPr lang="zh-CN" sz="1600" b="1"/>
            </a:p>
          </p:txBody>
        </p:sp>
        <p:sp>
          <p:nvSpPr>
            <p:cNvPr id="18" name="右箭头 17"/>
            <p:cNvSpPr/>
            <p:nvPr/>
          </p:nvSpPr>
          <p:spPr>
            <a:xfrm>
              <a:off x="3345" y="6544"/>
              <a:ext cx="340" cy="34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248" y="6462"/>
              <a:ext cx="156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1600" b="1"/>
                <a:t>机械语言</a:t>
              </a:r>
              <a:endParaRPr lang="zh-CN" sz="1600" b="1"/>
            </a:p>
          </p:txBody>
        </p:sp>
        <p:sp>
          <p:nvSpPr>
            <p:cNvPr id="20" name="右箭头 19"/>
            <p:cNvSpPr/>
            <p:nvPr/>
          </p:nvSpPr>
          <p:spPr>
            <a:xfrm>
              <a:off x="5805" y="6518"/>
              <a:ext cx="340" cy="34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4106545" y="2125980"/>
            <a:ext cx="2824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/>
              <a:t>集成开发环境就像是一位翻译</a:t>
            </a:r>
            <a:endParaRPr lang="zh-CN" altLang="en-US" sz="1600"/>
          </a:p>
        </p:txBody>
      </p:sp>
      <p:grpSp>
        <p:nvGrpSpPr>
          <p:cNvPr id="33" name="组合 32"/>
          <p:cNvGrpSpPr/>
          <p:nvPr/>
        </p:nvGrpSpPr>
        <p:grpSpPr>
          <a:xfrm>
            <a:off x="5724525" y="2596515"/>
            <a:ext cx="1874520" cy="2312670"/>
            <a:chOff x="10149" y="4208"/>
            <a:chExt cx="2952" cy="3642"/>
          </a:xfrm>
        </p:grpSpPr>
        <p:sp>
          <p:nvSpPr>
            <p:cNvPr id="13" name="文本框 12"/>
            <p:cNvSpPr txBox="1"/>
            <p:nvPr/>
          </p:nvSpPr>
          <p:spPr>
            <a:xfrm>
              <a:off x="10716" y="7222"/>
              <a:ext cx="1936" cy="628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打开</a:t>
              </a: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IDLE</a:t>
              </a: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2"/>
            <a:srcRect r="4954" b="18625"/>
            <a:stretch>
              <a:fillRect/>
            </a:stretch>
          </p:blipFill>
          <p:spPr>
            <a:xfrm>
              <a:off x="10149" y="4208"/>
              <a:ext cx="2953" cy="301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3" grpId="1"/>
      <p:bldP spid="23" grpId="0"/>
      <p:bldP spid="2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260" y="339725"/>
            <a:ext cx="2887980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第一个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6035" y="1131570"/>
            <a:ext cx="3095625" cy="302958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1440180" y="2155190"/>
            <a:ext cx="2677160" cy="2336800"/>
            <a:chOff x="2268" y="3394"/>
            <a:chExt cx="4216" cy="3680"/>
          </a:xfrm>
        </p:grpSpPr>
        <p:pic>
          <p:nvPicPr>
            <p:cNvPr id="102" name="图片 101"/>
            <p:cNvPicPr/>
            <p:nvPr/>
          </p:nvPicPr>
          <p:blipFill>
            <a:blip r:embed="rId2"/>
            <a:srcRect l="18622" t="20030" r="10157" b="6768"/>
            <a:stretch>
              <a:fillRect/>
            </a:stretch>
          </p:blipFill>
          <p:spPr>
            <a:xfrm>
              <a:off x="2268" y="3394"/>
              <a:ext cx="4217" cy="286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8" name="文本框 17"/>
            <p:cNvSpPr txBox="1"/>
            <p:nvPr/>
          </p:nvSpPr>
          <p:spPr>
            <a:xfrm>
              <a:off x="3385" y="6544"/>
              <a:ext cx="1983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按下回车键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148580" y="4232275"/>
            <a:ext cx="3009900" cy="908050"/>
            <a:chOff x="8108" y="6665"/>
            <a:chExt cx="4740" cy="1430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/>
            <a:srcRect t="19919"/>
            <a:stretch>
              <a:fillRect/>
            </a:stretch>
          </p:blipFill>
          <p:spPr>
            <a:xfrm>
              <a:off x="8108" y="6665"/>
              <a:ext cx="4741" cy="788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9535" y="7565"/>
              <a:ext cx="188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/>
                <a:t>你好，世界</a:t>
              </a:r>
              <a:endParaRPr lang="zh-CN" altLang="en-US" sz="160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188085" y="1247140"/>
            <a:ext cx="3959860" cy="727075"/>
            <a:chOff x="1871" y="1964"/>
            <a:chExt cx="6236" cy="1145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71" y="2689"/>
              <a:ext cx="5010" cy="420"/>
            </a:xfrm>
            <a:prstGeom prst="rect">
              <a:avLst/>
            </a:prstGeom>
          </p:spPr>
        </p:pic>
        <p:cxnSp>
          <p:nvCxnSpPr>
            <p:cNvPr id="16" name="直接箭头连接符 15"/>
            <p:cNvCxnSpPr/>
            <p:nvPr/>
          </p:nvCxnSpPr>
          <p:spPr>
            <a:xfrm>
              <a:off x="6881" y="2899"/>
              <a:ext cx="1227" cy="17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3458" y="1964"/>
              <a:ext cx="1380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latin typeface="华文彩云" panose="02010800040101010101" charset="-122"/>
                  <a:ea typeface="华文彩云" panose="02010800040101010101" charset="-122"/>
                </a:rPr>
                <a:t>0101</a:t>
              </a:r>
              <a:endParaRPr lang="en-US" altLang="zh-CN" sz="2400">
                <a:latin typeface="华文彩云" panose="02010800040101010101" charset="-122"/>
                <a:ea typeface="华文彩云" panose="0201080004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/>
      <p:bldP spid="7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260" y="339725"/>
            <a:ext cx="2887980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第一个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612255" y="982980"/>
            <a:ext cx="1634200" cy="554786"/>
            <a:chOff x="8108" y="6665"/>
            <a:chExt cx="4741" cy="1610"/>
          </a:xfrm>
        </p:grpSpPr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1"/>
            <a:srcRect t="19919"/>
            <a:stretch>
              <a:fillRect/>
            </a:stretch>
          </p:blipFill>
          <p:spPr>
            <a:xfrm>
              <a:off x="8108" y="6665"/>
              <a:ext cx="4741" cy="788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9267" y="7564"/>
              <a:ext cx="2531" cy="7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000"/>
                <a:t>你好，世界</a:t>
              </a:r>
              <a:endParaRPr lang="zh-CN" altLang="en-US" sz="1000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755650" y="1177290"/>
            <a:ext cx="16922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的作用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5650" y="1923415"/>
            <a:ext cx="574421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print()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中被称之为内置函数，或者内建函数。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55650" y="2656840"/>
            <a:ext cx="71856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打个比方，如果把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想象成一个人，那么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Print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的作用就是说话。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l="11039" t="19822" r="5451" b="9312"/>
          <a:stretch>
            <a:fillRect/>
          </a:stretch>
        </p:blipFill>
        <p:spPr>
          <a:xfrm>
            <a:off x="5433060" y="3147060"/>
            <a:ext cx="2345690" cy="88011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55650" y="3390265"/>
            <a:ext cx="46380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>
                <a:latin typeface="+mn-ea"/>
                <a:cs typeface="+mn-ea"/>
              </a:rPr>
              <a:t>如果同学们学过</a:t>
            </a:r>
            <a:r>
              <a:rPr lang="en-US" altLang="zh-CN" sz="1800">
                <a:latin typeface="+mn-ea"/>
                <a:cs typeface="+mn-ea"/>
              </a:rPr>
              <a:t>Scratch</a:t>
            </a:r>
            <a:r>
              <a:rPr lang="zh-CN" altLang="en-US" sz="1800">
                <a:latin typeface="+mn-ea"/>
                <a:cs typeface="+mn-ea"/>
              </a:rPr>
              <a:t>，就就等同于里面的</a:t>
            </a:r>
            <a:endParaRPr lang="en-US" altLang="zh-CN" sz="1800">
              <a:latin typeface="+mn-ea"/>
              <a:cs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55650" y="4144010"/>
            <a:ext cx="6126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/>
              <a:t>它的作用，就是说出，或者说打印出我们想让电脑说出的话</a:t>
            </a:r>
            <a:endParaRPr lang="zh-CN" altLang="en-US" sz="1800"/>
          </a:p>
        </p:txBody>
      </p:sp>
      <p:sp>
        <p:nvSpPr>
          <p:cNvPr id="13" name="文本框 12"/>
          <p:cNvSpPr txBox="1"/>
          <p:nvPr/>
        </p:nvSpPr>
        <p:spPr>
          <a:xfrm>
            <a:off x="2700020" y="1177290"/>
            <a:ext cx="142938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1">
                <a:latin typeface="+mn-ea"/>
                <a:cs typeface="+mn-ea"/>
              </a:rPr>
              <a:t>print</a:t>
            </a:r>
            <a:r>
              <a:rPr lang="zh-CN" altLang="en-US" sz="1800" b="1">
                <a:latin typeface="+mn-ea"/>
                <a:cs typeface="+mn-ea"/>
              </a:rPr>
              <a:t>：打印</a:t>
            </a:r>
            <a:endParaRPr lang="zh-CN" altLang="en-US" sz="1800" b="1">
              <a:latin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/>
      <p:bldP spid="7" grpId="0" bldLvl="0" animBg="1"/>
      <p:bldP spid="8" grpId="0"/>
      <p:bldP spid="8" grpId="1"/>
      <p:bldP spid="9" grpId="0"/>
      <p:bldP spid="9" grpId="1"/>
      <p:bldP spid="11" grpId="0"/>
      <p:bldP spid="11" grpId="1"/>
      <p:bldP spid="12" grpId="0"/>
      <p:bldP spid="12" grpId="1"/>
      <p:bldP spid="13" grpId="0"/>
      <p:bldP spid="1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260" y="339725"/>
            <a:ext cx="2887980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第一个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81685" y="1153795"/>
            <a:ext cx="3027680" cy="1456055"/>
            <a:chOff x="1231" y="1817"/>
            <a:chExt cx="4768" cy="2293"/>
          </a:xfrm>
        </p:grpSpPr>
        <p:sp>
          <p:nvSpPr>
            <p:cNvPr id="4" name="文本框 3"/>
            <p:cNvSpPr txBox="1"/>
            <p:nvPr/>
          </p:nvSpPr>
          <p:spPr>
            <a:xfrm>
              <a:off x="1231" y="1817"/>
              <a:ext cx="476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/>
                <a:t>我们的第一个程序，完成了很完美。</a:t>
              </a:r>
              <a:endParaRPr lang="zh-CN" altLang="en-US"/>
            </a:p>
          </p:txBody>
        </p:sp>
        <p:pic>
          <p:nvPicPr>
            <p:cNvPr id="104" name="图片 103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1304" y="2462"/>
              <a:ext cx="1695" cy="1649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8" name="文本框 7"/>
          <p:cNvSpPr txBox="1"/>
          <p:nvPr/>
        </p:nvSpPr>
        <p:spPr>
          <a:xfrm>
            <a:off x="2160905" y="1779270"/>
            <a:ext cx="28498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那么，让我们来一点更有挑战性的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160905" y="2847975"/>
            <a:ext cx="30276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我们来用中文，让计算机对我们问好</a:t>
            </a:r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2160905" y="1702435"/>
            <a:ext cx="4119880" cy="984250"/>
            <a:chOff x="3403" y="2681"/>
            <a:chExt cx="6488" cy="1550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03" y="3539"/>
              <a:ext cx="6489" cy="692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8108" y="2681"/>
              <a:ext cx="1380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latin typeface="华文彩云" panose="02010800040101010101" charset="-122"/>
                  <a:ea typeface="华文彩云" panose="02010800040101010101" charset="-122"/>
                </a:rPr>
                <a:t>0102</a:t>
              </a:r>
              <a:endParaRPr lang="en-US" altLang="zh-CN" sz="2400">
                <a:latin typeface="华文彩云" panose="02010800040101010101" charset="-122"/>
                <a:ea typeface="华文彩云" panose="0201080004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/>
      <p:bldP spid="7" grpId="0" bldLvl="0" animBg="1"/>
      <p:bldP spid="8" grpId="0"/>
      <p:bldP spid="8" grpId="1"/>
      <p:bldP spid="10" grpId="0"/>
      <p:bldP spid="10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260" y="339725"/>
            <a:ext cx="2887980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第一个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4" name="图片 103"/>
          <p:cNvPicPr/>
          <p:nvPr/>
        </p:nvPicPr>
        <p:blipFill>
          <a:blip r:embed="rId1"/>
          <a:stretch>
            <a:fillRect/>
          </a:stretch>
        </p:blipFill>
        <p:spPr>
          <a:xfrm>
            <a:off x="828040" y="1563370"/>
            <a:ext cx="1076325" cy="104711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" name="组合 3"/>
          <p:cNvGrpSpPr/>
          <p:nvPr/>
        </p:nvGrpSpPr>
        <p:grpSpPr>
          <a:xfrm>
            <a:off x="1979930" y="1059180"/>
            <a:ext cx="4273550" cy="1684020"/>
            <a:chOff x="3118" y="1668"/>
            <a:chExt cx="6730" cy="265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18" y="2462"/>
              <a:ext cx="6731" cy="566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3912" y="3596"/>
              <a:ext cx="5541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一个</a:t>
              </a:r>
              <a:r>
                <a:rPr lang="en-US" altLang="zh-CN" sz="2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print()</a:t>
              </a: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输出两个内容</a:t>
              </a: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778" y="1668"/>
              <a:ext cx="1380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latin typeface="华文彩云" panose="02010800040101010101" charset="-122"/>
                  <a:ea typeface="华文彩云" panose="02010800040101010101" charset="-122"/>
                </a:rPr>
                <a:t>0103</a:t>
              </a:r>
              <a:endParaRPr lang="en-US" altLang="zh-CN" sz="2400">
                <a:latin typeface="华文彩云" panose="02010800040101010101" charset="-122"/>
                <a:ea typeface="华文彩云" panose="0201080004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/>
      <p:bldP spid="7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260" y="339725"/>
            <a:ext cx="2887980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第一个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程序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4" name="图片 103"/>
          <p:cNvPicPr/>
          <p:nvPr/>
        </p:nvPicPr>
        <p:blipFill>
          <a:blip r:embed="rId1"/>
          <a:stretch>
            <a:fillRect/>
          </a:stretch>
        </p:blipFill>
        <p:spPr>
          <a:xfrm>
            <a:off x="828040" y="1563370"/>
            <a:ext cx="1076325" cy="104711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组合 1"/>
          <p:cNvGrpSpPr/>
          <p:nvPr/>
        </p:nvGrpSpPr>
        <p:grpSpPr>
          <a:xfrm>
            <a:off x="1979930" y="1059180"/>
            <a:ext cx="5364480" cy="1612265"/>
            <a:chOff x="3118" y="1668"/>
            <a:chExt cx="8448" cy="2539"/>
          </a:xfrm>
        </p:grpSpPr>
        <p:sp>
          <p:nvSpPr>
            <p:cNvPr id="11" name="文本框 10"/>
            <p:cNvSpPr txBox="1"/>
            <p:nvPr/>
          </p:nvSpPr>
          <p:spPr>
            <a:xfrm>
              <a:off x="3118" y="3483"/>
              <a:ext cx="844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带引号的数学表达式和不带引号的区别</a:t>
              </a: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1" y="2462"/>
              <a:ext cx="6162" cy="636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5622" y="1668"/>
              <a:ext cx="1380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latin typeface="华文彩云" panose="02010800040101010101" charset="-122"/>
                  <a:ea typeface="华文彩云" panose="02010800040101010101" charset="-122"/>
                </a:rPr>
                <a:t>0104</a:t>
              </a:r>
              <a:endParaRPr lang="en-US" altLang="zh-CN" sz="2400">
                <a:latin typeface="华文彩云" panose="02010800040101010101" charset="-122"/>
                <a:ea typeface="华文彩云" panose="0201080004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/>
      <p:bldP spid="7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4425950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7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Python</a:t>
            </a:r>
            <a:r>
              <a:rPr lang="zh-CN" altLang="en-US" sz="27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的两种模式</a:t>
            </a:r>
            <a:endParaRPr lang="zh-CN" altLang="en-US" sz="27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buClrTx/>
              <a:buSzTx/>
              <a:buFontTx/>
            </a:pPr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buClrTx/>
              <a:buSzTx/>
              <a:buFontTx/>
            </a:pPr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260" y="339725"/>
            <a:ext cx="2887980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的两种模式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12775" y="1073785"/>
            <a:ext cx="7284720" cy="973455"/>
            <a:chOff x="965" y="1691"/>
            <a:chExt cx="11472" cy="1533"/>
          </a:xfrm>
        </p:grpSpPr>
        <p:sp>
          <p:nvSpPr>
            <p:cNvPr id="2" name="文本框 1"/>
            <p:cNvSpPr txBox="1"/>
            <p:nvPr/>
          </p:nvSpPr>
          <p:spPr>
            <a:xfrm>
              <a:off x="965" y="1691"/>
              <a:ext cx="1147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/>
                <a:t>刚刚编程了好多个不同的</a:t>
              </a:r>
              <a:r>
                <a:rPr lang="en-US" altLang="zh-CN"/>
                <a:t>print</a:t>
              </a:r>
              <a:r>
                <a:rPr lang="zh-CN" altLang="en-US"/>
                <a:t>语句。同学们发现了一件事情没有，我们每次只能写一句话。</a:t>
              </a:r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965" y="2742"/>
              <a:ext cx="784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/>
                <a:t>这一种像是对话，面对面交流的方式，我们称之为交互模式。</a:t>
              </a:r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12775" y="2408555"/>
            <a:ext cx="6604000" cy="973455"/>
            <a:chOff x="965" y="3793"/>
            <a:chExt cx="10400" cy="1533"/>
          </a:xfrm>
        </p:grpSpPr>
        <p:sp>
          <p:nvSpPr>
            <p:cNvPr id="9" name="文本框 8"/>
            <p:cNvSpPr txBox="1"/>
            <p:nvPr/>
          </p:nvSpPr>
          <p:spPr>
            <a:xfrm>
              <a:off x="965" y="3793"/>
              <a:ext cx="10401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/>
                <a:t>那么</a:t>
              </a:r>
              <a:r>
                <a:rPr lang="en-US" altLang="zh-CN"/>
                <a:t>Python</a:t>
              </a:r>
              <a:r>
                <a:rPr lang="zh-CN" altLang="en-US"/>
                <a:t>还有一种模式，就像是写信，写作文，要先写好一段话，才传给别人。</a:t>
              </a:r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965" y="4844"/>
              <a:ext cx="448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/>
                <a:t>这一种模式，我们叫做脚本模式。</a:t>
              </a:r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12775" y="3743325"/>
            <a:ext cx="3383280" cy="924560"/>
            <a:chOff x="965" y="5895"/>
            <a:chExt cx="5328" cy="1456"/>
          </a:xfrm>
        </p:grpSpPr>
        <p:sp>
          <p:nvSpPr>
            <p:cNvPr id="12" name="文本框 11"/>
            <p:cNvSpPr txBox="1"/>
            <p:nvPr/>
          </p:nvSpPr>
          <p:spPr>
            <a:xfrm>
              <a:off x="965" y="5895"/>
              <a:ext cx="532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/>
                <a:t>交互，我们很好理解，就是交流互动呗。</a:t>
              </a:r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65" y="6771"/>
              <a:ext cx="4088" cy="580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zh-CN" altLang="en-US" sz="1800">
                  <a:solidFill>
                    <a:srgbClr val="FF0000"/>
                  </a:solidFill>
                  <a:sym typeface="+mn-ea"/>
                </a:rPr>
                <a:t>那脚本是个什么东西呢</a:t>
              </a:r>
              <a:r>
                <a:rPr lang="en-US" altLang="zh-CN" sz="1800">
                  <a:solidFill>
                    <a:srgbClr val="FF0000"/>
                  </a:solidFill>
                  <a:sym typeface="+mn-ea"/>
                </a:rPr>
                <a:t>?</a:t>
              </a:r>
              <a:endParaRPr lang="en-US" altLang="zh-CN" sz="1800">
                <a:solidFill>
                  <a:srgbClr val="FF0000"/>
                </a:solidFill>
                <a:sym typeface="+mn-ea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3923030" y="4187190"/>
            <a:ext cx="378396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指表演戏剧、拍摄电影等所依据的剧本、底本。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923030" y="4588510"/>
            <a:ext cx="33832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让电脑按照我们的要求做出一系列行为。</a:t>
            </a:r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4284345" y="3035300"/>
            <a:ext cx="1862455" cy="1024890"/>
            <a:chOff x="6747" y="4780"/>
            <a:chExt cx="2933" cy="1614"/>
          </a:xfrm>
        </p:grpSpPr>
        <p:pic>
          <p:nvPicPr>
            <p:cNvPr id="106" name="图片 10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8446" y="4780"/>
              <a:ext cx="1235" cy="160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5" name="图片 10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747" y="4790"/>
              <a:ext cx="1235" cy="160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加号 16"/>
            <p:cNvSpPr/>
            <p:nvPr/>
          </p:nvSpPr>
          <p:spPr>
            <a:xfrm>
              <a:off x="7881" y="5327"/>
              <a:ext cx="681" cy="681"/>
            </a:xfrm>
            <a:prstGeom prst="mathPlus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/>
      <p:bldP spid="7" grpId="0" bldLvl="0" animBg="1"/>
      <p:bldP spid="15" grpId="0"/>
      <p:bldP spid="15" grpId="1"/>
      <p:bldP spid="16" grpId="0"/>
      <p:bldP spid="16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260" y="339725"/>
            <a:ext cx="2887980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的两种模式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83260" y="1059180"/>
            <a:ext cx="1000760" cy="550545"/>
            <a:chOff x="6747" y="4780"/>
            <a:chExt cx="2933" cy="1614"/>
          </a:xfrm>
        </p:grpSpPr>
        <p:pic>
          <p:nvPicPr>
            <p:cNvPr id="106" name="图片 10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8446" y="4780"/>
              <a:ext cx="1235" cy="160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5" name="图片 10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747" y="4790"/>
              <a:ext cx="1235" cy="160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加号 16"/>
            <p:cNvSpPr/>
            <p:nvPr/>
          </p:nvSpPr>
          <p:spPr>
            <a:xfrm>
              <a:off x="7881" y="5327"/>
              <a:ext cx="681" cy="681"/>
            </a:xfrm>
            <a:prstGeom prst="mathPlus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842770" y="1062355"/>
            <a:ext cx="37503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那么，如何使用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的脚本模式呢？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131820" y="1347470"/>
            <a:ext cx="5001895" cy="3568065"/>
            <a:chOff x="4932" y="2122"/>
            <a:chExt cx="7877" cy="5619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75" y="2122"/>
              <a:ext cx="4134" cy="4046"/>
            </a:xfrm>
            <a:prstGeom prst="rect">
              <a:avLst/>
            </a:prstGeom>
          </p:spPr>
        </p:pic>
        <p:cxnSp>
          <p:nvCxnSpPr>
            <p:cNvPr id="19" name="直接箭头连接符 18"/>
            <p:cNvCxnSpPr>
              <a:stCxn id="14" idx="3"/>
            </p:cNvCxnSpPr>
            <p:nvPr/>
          </p:nvCxnSpPr>
          <p:spPr>
            <a:xfrm flipV="1">
              <a:off x="7384" y="2349"/>
              <a:ext cx="1291" cy="427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组合 20"/>
            <p:cNvGrpSpPr/>
            <p:nvPr/>
          </p:nvGrpSpPr>
          <p:grpSpPr>
            <a:xfrm>
              <a:off x="6357" y="2462"/>
              <a:ext cx="1027" cy="937"/>
              <a:chOff x="6357" y="2462"/>
              <a:chExt cx="1027" cy="937"/>
            </a:xfrm>
          </p:grpSpPr>
          <p:sp>
            <p:nvSpPr>
              <p:cNvPr id="14" name="文本框 13"/>
              <p:cNvSpPr txBox="1"/>
              <p:nvPr/>
            </p:nvSpPr>
            <p:spPr>
              <a:xfrm>
                <a:off x="6404" y="2462"/>
                <a:ext cx="980" cy="6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File</a:t>
                </a:r>
                <a:endPara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6357" y="2916"/>
                <a:ext cx="848" cy="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/>
                  <a:t>文件</a:t>
                </a:r>
                <a:endParaRPr lang="zh-CN" altLang="en-US"/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5382" y="2462"/>
              <a:ext cx="1201" cy="937"/>
              <a:chOff x="5269" y="2462"/>
              <a:chExt cx="1201" cy="937"/>
            </a:xfrm>
          </p:grpSpPr>
          <p:sp>
            <p:nvSpPr>
              <p:cNvPr id="22" name="文本框 21"/>
              <p:cNvSpPr txBox="1"/>
              <p:nvPr/>
            </p:nvSpPr>
            <p:spPr>
              <a:xfrm>
                <a:off x="5269" y="2462"/>
                <a:ext cx="1201" cy="6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New</a:t>
                </a:r>
                <a:endPara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5559" y="2916"/>
                <a:ext cx="848" cy="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/>
                  <a:t>新的</a:t>
                </a:r>
                <a:endParaRPr lang="zh-CN" altLang="en-US"/>
              </a:p>
            </p:txBody>
          </p:sp>
        </p:grpSp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32" y="3823"/>
              <a:ext cx="3116" cy="3918"/>
            </a:xfrm>
            <a:prstGeom prst="rect">
              <a:avLst/>
            </a:prstGeom>
          </p:spPr>
        </p:pic>
        <p:sp>
          <p:nvSpPr>
            <p:cNvPr id="26" name="右箭头 25"/>
            <p:cNvSpPr/>
            <p:nvPr/>
          </p:nvSpPr>
          <p:spPr>
            <a:xfrm rot="5400000">
              <a:off x="6302" y="3399"/>
              <a:ext cx="340" cy="34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764030" y="1635125"/>
            <a:ext cx="1175385" cy="2715260"/>
            <a:chOff x="2778" y="2575"/>
            <a:chExt cx="1851" cy="4276"/>
          </a:xfrm>
        </p:grpSpPr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45" y="3823"/>
              <a:ext cx="1188" cy="3028"/>
            </a:xfrm>
            <a:prstGeom prst="rect">
              <a:avLst/>
            </a:prstGeom>
          </p:spPr>
        </p:pic>
        <p:sp>
          <p:nvSpPr>
            <p:cNvPr id="29" name="文本框 28"/>
            <p:cNvSpPr txBox="1"/>
            <p:nvPr/>
          </p:nvSpPr>
          <p:spPr>
            <a:xfrm>
              <a:off x="2778" y="3304"/>
              <a:ext cx="124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/>
                <a:t>结果：</a:t>
              </a:r>
              <a:endParaRPr lang="zh-CN" altLang="en-US" sz="1600" b="1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249" y="2575"/>
              <a:ext cx="1380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latin typeface="华文彩云" panose="02010800040101010101" charset="-122"/>
                  <a:ea typeface="华文彩云" panose="02010800040101010101" charset="-122"/>
                </a:rPr>
                <a:t>0105</a:t>
              </a:r>
              <a:endParaRPr lang="en-US" altLang="zh-CN" sz="2400">
                <a:latin typeface="华文彩云" panose="02010800040101010101" charset="-122"/>
                <a:ea typeface="华文彩云" panose="0201080004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/>
      <p:bldP spid="7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260" y="339725"/>
            <a:ext cx="2887980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Python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的两种模式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83260" y="1059180"/>
            <a:ext cx="1000760" cy="550545"/>
            <a:chOff x="6747" y="4780"/>
            <a:chExt cx="2933" cy="1614"/>
          </a:xfrm>
        </p:grpSpPr>
        <p:pic>
          <p:nvPicPr>
            <p:cNvPr id="106" name="图片 10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8446" y="4780"/>
              <a:ext cx="1235" cy="160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5" name="图片 104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6747" y="4790"/>
              <a:ext cx="1235" cy="160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加号 16"/>
            <p:cNvSpPr/>
            <p:nvPr/>
          </p:nvSpPr>
          <p:spPr>
            <a:xfrm>
              <a:off x="7881" y="5327"/>
              <a:ext cx="681" cy="681"/>
            </a:xfrm>
            <a:prstGeom prst="mathPlus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908175" y="1347470"/>
            <a:ext cx="6225540" cy="2569210"/>
            <a:chOff x="3005" y="2122"/>
            <a:chExt cx="9804" cy="4046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75" y="2122"/>
              <a:ext cx="4134" cy="4046"/>
            </a:xfrm>
            <a:prstGeom prst="rect">
              <a:avLst/>
            </a:prstGeom>
          </p:spPr>
        </p:pic>
        <p:cxnSp>
          <p:nvCxnSpPr>
            <p:cNvPr id="19" name="直接箭头连接符 18"/>
            <p:cNvCxnSpPr>
              <a:stCxn id="14" idx="3"/>
            </p:cNvCxnSpPr>
            <p:nvPr/>
          </p:nvCxnSpPr>
          <p:spPr>
            <a:xfrm flipV="1">
              <a:off x="7391" y="2373"/>
              <a:ext cx="1291" cy="427"/>
            </a:xfrm>
            <a:prstGeom prst="straightConnector1">
              <a:avLst/>
            </a:prstGeom>
            <a:ln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组合 20"/>
            <p:cNvGrpSpPr/>
            <p:nvPr/>
          </p:nvGrpSpPr>
          <p:grpSpPr>
            <a:xfrm>
              <a:off x="6172" y="2486"/>
              <a:ext cx="1219" cy="937"/>
              <a:chOff x="6172" y="2462"/>
              <a:chExt cx="1219" cy="937"/>
            </a:xfrm>
          </p:grpSpPr>
          <p:sp>
            <p:nvSpPr>
              <p:cNvPr id="14" name="文本框 13"/>
              <p:cNvSpPr txBox="1"/>
              <p:nvPr/>
            </p:nvSpPr>
            <p:spPr>
              <a:xfrm>
                <a:off x="6172" y="2462"/>
                <a:ext cx="1219" cy="6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Save</a:t>
                </a:r>
                <a:endPara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6357" y="2916"/>
                <a:ext cx="848" cy="4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/>
                  <a:t>保存</a:t>
                </a:r>
                <a:endParaRPr lang="zh-CN" altLang="en-US"/>
              </a:p>
            </p:txBody>
          </p:sp>
        </p:grpSp>
        <p:sp>
          <p:nvSpPr>
            <p:cNvPr id="2" name="文本框 1"/>
            <p:cNvSpPr txBox="1"/>
            <p:nvPr/>
          </p:nvSpPr>
          <p:spPr>
            <a:xfrm>
              <a:off x="3005" y="2689"/>
              <a:ext cx="316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/>
                <a:t>运行脚本会自动保存</a:t>
              </a:r>
              <a:endParaRPr lang="zh-CN" altLang="en-US" sz="1600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871" y="3596"/>
              <a:ext cx="1085" cy="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Run</a:t>
              </a:r>
              <a:endPara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</a:t>
              </a: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840" y="3596"/>
              <a:ext cx="1838" cy="9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Module</a:t>
              </a:r>
              <a:endPara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模块、脚本</a:t>
              </a:r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260" y="2173605"/>
            <a:ext cx="1869440" cy="1743075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2700020" y="3003550"/>
            <a:ext cx="2388235" cy="1804670"/>
            <a:chOff x="4252" y="4730"/>
            <a:chExt cx="3761" cy="2842"/>
          </a:xfrm>
        </p:grpSpPr>
        <p:sp>
          <p:nvSpPr>
            <p:cNvPr id="12" name="文本框 11"/>
            <p:cNvSpPr txBox="1"/>
            <p:nvPr/>
          </p:nvSpPr>
          <p:spPr>
            <a:xfrm>
              <a:off x="4252" y="4730"/>
              <a:ext cx="124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/>
                <a:t>结果：</a:t>
              </a:r>
              <a:endParaRPr lang="zh-CN" altLang="en-US" sz="1600" b="1"/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60" y="5148"/>
              <a:ext cx="1267" cy="2424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6633" y="5996"/>
              <a:ext cx="1380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>
                  <a:latin typeface="华文彩云" panose="02010800040101010101" charset="-122"/>
                  <a:ea typeface="华文彩云" panose="02010800040101010101" charset="-122"/>
                </a:rPr>
                <a:t>0106</a:t>
              </a:r>
              <a:endParaRPr lang="en-US" altLang="zh-CN" sz="2400">
                <a:latin typeface="华文彩云" panose="02010800040101010101" charset="-122"/>
                <a:ea typeface="华文彩云" panose="0201080004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/>
      <p:bldP spid="7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4425950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总结</a:t>
            </a:r>
            <a:endParaRPr lang="zh-CN" sz="27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buClrTx/>
              <a:buSzTx/>
              <a:buFontTx/>
            </a:pPr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buClrTx/>
              <a:buSzTx/>
              <a:buFontTx/>
            </a:pPr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683260" y="339725"/>
            <a:ext cx="2887980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总结</a:t>
            </a:r>
            <a:endParaRPr lang="zh-CN" altLang="en-US" sz="2400" b="1" dirty="0">
              <a:solidFill>
                <a:schemeClr val="bg1">
                  <a:lumMod val="50000"/>
                </a:schemeClr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1670" y="987425"/>
            <a:ext cx="1706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/>
              <a:t>学习与收获：</a:t>
            </a:r>
            <a:endParaRPr lang="en-US" altLang="zh-CN" sz="2000" b="1"/>
          </a:p>
        </p:txBody>
      </p:sp>
      <p:sp>
        <p:nvSpPr>
          <p:cNvPr id="22" name="文本框 21"/>
          <p:cNvSpPr txBox="1"/>
          <p:nvPr/>
        </p:nvSpPr>
        <p:spPr>
          <a:xfrm>
            <a:off x="612140" y="1512570"/>
            <a:ext cx="20142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+mn-ea"/>
                <a:cs typeface="+mn-ea"/>
              </a:rPr>
              <a:t>1.Python</a:t>
            </a:r>
            <a:r>
              <a:rPr lang="zh-CN" altLang="en-US" sz="2000">
                <a:latin typeface="+mn-ea"/>
                <a:cs typeface="+mn-ea"/>
              </a:rPr>
              <a:t>的简介</a:t>
            </a:r>
            <a:endParaRPr lang="zh-CN" altLang="en-US" sz="2000">
              <a:latin typeface="+mn-ea"/>
              <a:cs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63600" y="1911350"/>
            <a:ext cx="7369810" cy="678815"/>
            <a:chOff x="1360" y="3010"/>
            <a:chExt cx="11606" cy="1069"/>
          </a:xfrm>
        </p:grpSpPr>
        <p:sp>
          <p:nvSpPr>
            <p:cNvPr id="23" name="文本框 22"/>
            <p:cNvSpPr txBox="1"/>
            <p:nvPr/>
          </p:nvSpPr>
          <p:spPr>
            <a:xfrm>
              <a:off x="1360" y="3010"/>
              <a:ext cx="3121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问：</a:t>
              </a:r>
              <a:r>
                <a:rPr lang="en-US" altLang="zh-CN" dirty="0"/>
                <a:t>Python</a:t>
              </a:r>
              <a:r>
                <a:rPr lang="zh-CN" altLang="en-US" dirty="0"/>
                <a:t>之父是谁？</a:t>
              </a:r>
              <a:endParaRPr lang="zh-CN" altLang="en-US" dirty="0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296" y="3596"/>
              <a:ext cx="2326" cy="48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CN">
                  <a:sym typeface="+mn-ea"/>
                </a:rPr>
                <a:t>B.</a:t>
              </a:r>
              <a:r>
                <a:rPr lang="zh-CN" altLang="en-US">
                  <a:sym typeface="+mn-ea"/>
                </a:rPr>
                <a:t>吉多·范罗苏姆</a:t>
              </a:r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417" y="3596"/>
              <a:ext cx="111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A.</a:t>
              </a:r>
              <a:r>
                <a:rPr lang="zh-CN" altLang="en-US"/>
                <a:t>小明</a:t>
              </a:r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388" y="3596"/>
              <a:ext cx="1408" cy="48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CN" dirty="0">
                  <a:sym typeface="+mn-ea"/>
                </a:rPr>
                <a:t>C.</a:t>
              </a:r>
              <a:r>
                <a:rPr lang="zh-CN" altLang="en-US" dirty="0">
                  <a:sym typeface="+mn-ea"/>
                </a:rPr>
                <a:t>李</a:t>
              </a:r>
              <a:r>
                <a:rPr lang="zh-CN" altLang="en-US" dirty="0">
                  <a:sym typeface="+mn-ea"/>
                </a:rPr>
                <a:t>老师</a:t>
              </a:r>
              <a:endParaRPr lang="zh-CN" altLang="en-US" dirty="0">
                <a:sym typeface="+mn-ea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8562" y="3596"/>
              <a:ext cx="4404" cy="48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l"/>
              <a:r>
                <a:rPr lang="en-US" altLang="zh-CN">
                  <a:sym typeface="+mn-ea"/>
                </a:rPr>
                <a:t>D.</a:t>
              </a:r>
              <a:r>
                <a:rPr>
                  <a:sym typeface="+mn-ea"/>
                </a:rPr>
                <a:t>弗拉基米尔•伊里奇•乌里扬诺夫</a:t>
              </a:r>
              <a:endParaRPr>
                <a:sym typeface="+mn-ea"/>
              </a:endParaRPr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2411730" y="2218055"/>
            <a:ext cx="741680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4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✔</a:t>
            </a:r>
            <a:endParaRPr lang="zh-CN" altLang="en-US" sz="4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647950" y="1512570"/>
            <a:ext cx="217106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什么是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编程语言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840605" y="1512570"/>
            <a:ext cx="201422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000">
                <a:latin typeface="+mn-ea"/>
                <a:cs typeface="+mn-ea"/>
              </a:rPr>
              <a:t>3.Python</a:t>
            </a:r>
            <a:r>
              <a:rPr lang="zh-CN" altLang="en-US" sz="2000">
                <a:latin typeface="+mn-ea"/>
                <a:cs typeface="+mn-ea"/>
              </a:rPr>
              <a:t>的优势</a:t>
            </a:r>
            <a:endParaRPr lang="zh-CN" altLang="en-US" sz="2000">
              <a:latin typeface="+mn-ea"/>
              <a:cs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876415" y="1512570"/>
            <a:ext cx="22339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4.Print语句的使用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863600" y="2827655"/>
            <a:ext cx="2494280" cy="716280"/>
            <a:chOff x="1360" y="4453"/>
            <a:chExt cx="3928" cy="1128"/>
          </a:xfrm>
        </p:grpSpPr>
        <p:sp>
          <p:nvSpPr>
            <p:cNvPr id="32" name="文本框 31"/>
            <p:cNvSpPr txBox="1"/>
            <p:nvPr/>
          </p:nvSpPr>
          <p:spPr>
            <a:xfrm>
              <a:off x="1360" y="4453"/>
              <a:ext cx="392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/>
                <a:t>问：用一句话解释编程语言？</a:t>
              </a:r>
              <a:endParaRPr lang="en-US" altLang="zh-CN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417" y="5099"/>
              <a:ext cx="3744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___</a:t>
              </a:r>
              <a:r>
                <a:rPr lang="zh-CN" altLang="en-US"/>
                <a:t>和</a:t>
              </a:r>
              <a:r>
                <a:rPr lang="en-US" altLang="en-US"/>
                <a:t>___</a:t>
              </a:r>
              <a:r>
                <a:rPr lang="zh-CN" altLang="en-US"/>
                <a:t>都能识别的语言。</a:t>
              </a:r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847090" y="3672205"/>
            <a:ext cx="7050405" cy="766445"/>
            <a:chOff x="1334" y="5783"/>
            <a:chExt cx="11103" cy="1207"/>
          </a:xfrm>
        </p:grpSpPr>
        <p:sp>
          <p:nvSpPr>
            <p:cNvPr id="37" name="文本框 36"/>
            <p:cNvSpPr txBox="1"/>
            <p:nvPr/>
          </p:nvSpPr>
          <p:spPr>
            <a:xfrm>
              <a:off x="1334" y="5783"/>
              <a:ext cx="6481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/>
                <a:t>问：下列哪一个选项不是</a:t>
              </a:r>
              <a:r>
                <a:rPr lang="en-US" altLang="zh-CN"/>
                <a:t>Python</a:t>
              </a:r>
              <a:r>
                <a:rPr lang="zh-CN" altLang="en-US"/>
                <a:t>编程语言的优势？</a:t>
              </a:r>
              <a:endParaRPr lang="zh-CN" altLang="en-US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391" y="6508"/>
              <a:ext cx="2513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A.</a:t>
              </a:r>
              <a:r>
                <a:rPr lang="zh-CN" altLang="en-US"/>
                <a:t>最受欢迎的语言</a:t>
              </a:r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4132" y="6508"/>
              <a:ext cx="2513" cy="48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CN">
                  <a:sym typeface="+mn-ea"/>
                </a:rPr>
                <a:t>B.</a:t>
              </a:r>
              <a:r>
                <a:rPr lang="zh-CN" altLang="en-US">
                  <a:sym typeface="+mn-ea"/>
                </a:rPr>
                <a:t>高中必学的课程</a:t>
              </a:r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873" y="6508"/>
              <a:ext cx="1688" cy="48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r>
                <a:rPr lang="en-US" altLang="zh-CN">
                  <a:sym typeface="+mn-ea"/>
                </a:rPr>
                <a:t>C.</a:t>
              </a:r>
              <a:r>
                <a:rPr lang="zh-CN" altLang="en-US">
                  <a:sym typeface="+mn-ea"/>
                </a:rPr>
                <a:t>简单易学</a:t>
              </a:r>
              <a:endParaRPr lang="zh-CN" altLang="en-US">
                <a:sym typeface="+mn-ea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8789" y="6508"/>
              <a:ext cx="3648" cy="483"/>
            </a:xfrm>
            <a:prstGeom prst="rect">
              <a:avLst/>
            </a:prstGeom>
            <a:noFill/>
          </p:spPr>
          <p:txBody>
            <a:bodyPr wrap="none" rtlCol="0" anchor="t">
              <a:spAutoFit/>
            </a:bodyPr>
            <a:lstStyle/>
            <a:p>
              <a:pPr algn="l"/>
              <a:r>
                <a:rPr lang="en-US" altLang="zh-CN">
                  <a:sym typeface="+mn-ea"/>
                </a:rPr>
                <a:t>D.</a:t>
              </a:r>
              <a:r>
                <a:rPr lang="zh-CN" altLang="en-US">
                  <a:sym typeface="+mn-ea"/>
                </a:rPr>
                <a:t>全世界最厉害的编程语言</a:t>
              </a:r>
              <a:endParaRPr lang="zh-CN" altLang="en-US">
                <a:sym typeface="+mn-ea"/>
              </a:endParaRP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5911215" y="3995420"/>
            <a:ext cx="741680" cy="7683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4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✔</a:t>
            </a:r>
            <a:endParaRPr lang="zh-CN" altLang="en-US" sz="4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ldLvl="0" animBg="1"/>
      <p:bldP spid="7" grpId="0" bldLvl="0" animBg="1"/>
      <p:bldP spid="30" grpId="0"/>
      <p:bldP spid="30" grpId="1"/>
      <p:bldP spid="43" grpId="0"/>
      <p:bldP spid="43" grpId="1"/>
    </p:bldLst>
  </p:timing>
</p:sld>
</file>

<file path=ppt/tags/tag1.xml><?xml version="1.0" encoding="utf-8"?>
<p:tagLst xmlns:p="http://schemas.openxmlformats.org/presentationml/2006/main">
  <p:tag name="KSO_WM_UNIT_PLACING_PICTURE_USER_VIEWPORT" val="{&quot;height&quot;:4008,&quot;width&quot;:6000}"/>
</p:tagLst>
</file>

<file path=ppt/tags/tag2.xml><?xml version="1.0" encoding="utf-8"?>
<p:tagLst xmlns:p="http://schemas.openxmlformats.org/presentationml/2006/main">
  <p:tag name="ISPRING_RESOURCE_PATHS_HASH_PRESENTER" val="76ce7ccbcda6cf12636bdb4ab607c4c83d474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1527</Words>
  <Application>WPS 演示</Application>
  <PresentationFormat>全屏显示(16:9)</PresentationFormat>
  <Paragraphs>281</Paragraphs>
  <Slides>23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Arial</vt:lpstr>
      <vt:lpstr>宋体</vt:lpstr>
      <vt:lpstr>Wingdings</vt:lpstr>
      <vt:lpstr>HandelGotDLig</vt:lpstr>
      <vt:lpstr>汉真广标</vt:lpstr>
      <vt:lpstr>微软雅黑</vt:lpstr>
      <vt:lpstr>思源黑体 CN Normal</vt:lpstr>
      <vt:lpstr>黑体</vt:lpstr>
      <vt:lpstr>等线</vt:lpstr>
      <vt:lpstr>AMGDT</vt:lpstr>
      <vt:lpstr>Arial Unicode MS</vt:lpstr>
      <vt:lpstr>Calibri</vt:lpstr>
      <vt:lpstr>Impact</vt:lpstr>
      <vt:lpstr>Times New Roman</vt:lpstr>
      <vt:lpstr>华文彩云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Super乐</cp:lastModifiedBy>
  <cp:revision>396</cp:revision>
  <cp:lastPrinted>2000-12-31T21:09:00Z</cp:lastPrinted>
  <dcterms:created xsi:type="dcterms:W3CDTF">2015-11-10T12:01:00Z</dcterms:created>
  <dcterms:modified xsi:type="dcterms:W3CDTF">2025-02-22T01:42:22Z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EC247363CBEA45B397AD5C0A13FEAA21</vt:lpwstr>
  </property>
  <property fmtid="{D5CDD505-2E9C-101B-9397-08002B2CF9AE}" pid="3" name="KSOProductBuildVer">
    <vt:lpwstr>2052-12.1.0.20305</vt:lpwstr>
  </property>
</Properties>
</file>