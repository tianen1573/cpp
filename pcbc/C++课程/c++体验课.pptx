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55" r:id="rId3"/>
    <p:sldId id="758" r:id="rId5"/>
    <p:sldId id="808" r:id="rId6"/>
    <p:sldId id="815" r:id="rId7"/>
    <p:sldId id="753" r:id="rId8"/>
    <p:sldId id="756" r:id="rId9"/>
    <p:sldId id="811" r:id="rId10"/>
    <p:sldId id="782" r:id="rId11"/>
    <p:sldId id="760" r:id="rId12"/>
    <p:sldId id="805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07" autoAdjust="0"/>
  </p:normalViewPr>
  <p:slideViewPr>
    <p:cSldViewPr snapToGrid="0">
      <p:cViewPr varScale="1">
        <p:scale>
          <a:sx n="85" d="100"/>
          <a:sy n="85" d="100"/>
        </p:scale>
        <p:origin x="41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6T07:42:28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1C942-5ECC-486F-88B5-F126605A6A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F7FA6-E57A-4355-B6F9-7A6F8640F5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3000">
        <p15:prstTrans prst="crush"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41C9F-201D-49BC-B91F-3B6A164A3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2F6EB-6AFC-4BE5-BBC5-C263403E98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自我介绍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293546" y="1353864"/>
            <a:ext cx="642045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C++</a:t>
            </a:r>
            <a:r>
              <a:rPr lang="zh-CN" altLang="en-US" sz="6000" b="1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语言程序设计入门</a:t>
            </a:r>
            <a:endParaRPr lang="zh-CN" altLang="en-US" sz="6000" b="1" i="0" dirty="0">
              <a:solidFill>
                <a:srgbClr val="33333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6000" b="1" i="0" dirty="0">
              <a:solidFill>
                <a:srgbClr val="33333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6000" b="1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邱老师</a:t>
            </a:r>
            <a:endParaRPr lang="zh-CN" altLang="en-US" sz="6000" b="1" i="0" dirty="0">
              <a:solidFill>
                <a:srgbClr val="33333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什么是</a:t>
            </a:r>
            <a:r>
              <a:rPr lang="en-US" altLang="zh-CN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C++</a:t>
            </a: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语言？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43" y="1487017"/>
            <a:ext cx="2509832" cy="388396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2" r="13718"/>
          <a:stretch>
            <a:fillRect/>
          </a:stretch>
        </p:blipFill>
        <p:spPr bwMode="auto">
          <a:xfrm>
            <a:off x="7283421" y="42530"/>
            <a:ext cx="1714606" cy="217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2" r="17365"/>
          <a:stretch>
            <a:fillRect/>
          </a:stretch>
        </p:blipFill>
        <p:spPr>
          <a:xfrm>
            <a:off x="7283421" y="2291747"/>
            <a:ext cx="1714606" cy="24118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21" y="5128856"/>
            <a:ext cx="2374935" cy="168661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3101009" y="1487017"/>
            <a:ext cx="3856382" cy="58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3" idx="3"/>
          </p:cNvCxnSpPr>
          <p:nvPr/>
        </p:nvCxnSpPr>
        <p:spPr>
          <a:xfrm flipV="1">
            <a:off x="3193975" y="3428999"/>
            <a:ext cx="40894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054626" y="4703601"/>
            <a:ext cx="4048539" cy="1268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054626" y="1004949"/>
            <a:ext cx="33329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英语 </a:t>
            </a:r>
            <a:r>
              <a:rPr lang="zh-CN" altLang="en-US" sz="2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Hello</a:t>
            </a:r>
            <a:r>
              <a:rPr lang="zh-CN" altLang="en-US" sz="2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endParaRPr lang="zh-CN" altLang="en-US" sz="2800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85153" y="2594658"/>
            <a:ext cx="34718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日语 </a:t>
            </a:r>
            <a:r>
              <a:rPr lang="zh-CN" altLang="en-US" sz="2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（扣你机哇）</a:t>
            </a:r>
            <a:r>
              <a:rPr lang="zh-CN" altLang="en-US" sz="44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endParaRPr lang="zh-CN" altLang="en-US" sz="2800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01009" y="3661759"/>
            <a:ext cx="2391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C++</a:t>
            </a:r>
            <a:r>
              <a:rPr lang="zh-CN" altLang="en-US" sz="4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语言</a:t>
            </a:r>
            <a:r>
              <a:rPr lang="en-US" altLang="zh-CN" sz="4800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en-US" altLang="zh-CN" sz="4800" i="0" dirty="0">
              <a:solidFill>
                <a:srgbClr val="33333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980" y="4501351"/>
            <a:ext cx="2852075" cy="650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5"/>
            <a:ext cx="540068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学习目标：让计算机帮我们解决问题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17" y="1950898"/>
            <a:ext cx="1714606" cy="265335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704" y="4377034"/>
            <a:ext cx="2374935" cy="168661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302923" y="1407736"/>
            <a:ext cx="5469477" cy="1090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299930" y="1217876"/>
            <a:ext cx="13292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Hello</a:t>
            </a:r>
            <a:r>
              <a:rPr lang="zh-CN" altLang="en-US" sz="4400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endParaRPr lang="zh-CN" altLang="en-US" sz="2800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071" y="159461"/>
            <a:ext cx="1157633" cy="1791437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V="1">
            <a:off x="2393576" y="2958572"/>
            <a:ext cx="4889845" cy="334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509851" y="4473388"/>
            <a:ext cx="5262549" cy="35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768976" y="25089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“请你去打扫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103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房间”</a:t>
            </a:r>
            <a:r>
              <a:rPr lang="en-US" altLang="zh-CN" sz="3200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3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63" y="3879861"/>
            <a:ext cx="3781133" cy="49717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949" y="2065811"/>
            <a:ext cx="1157633" cy="1791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什么是程序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3379304" y="188294"/>
            <a:ext cx="2014331" cy="6222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举左手</a:t>
            </a:r>
            <a:endParaRPr lang="zh-CN" altLang="en-US" dirty="0"/>
          </a:p>
        </p:txBody>
      </p:sp>
      <p:sp>
        <p:nvSpPr>
          <p:cNvPr id="7" name="流程图: 决策 6"/>
          <p:cNvSpPr/>
          <p:nvPr/>
        </p:nvSpPr>
        <p:spPr>
          <a:xfrm>
            <a:off x="3187147" y="1384619"/>
            <a:ext cx="2398644" cy="116619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老师看到我了吗</a:t>
            </a:r>
            <a:endParaRPr lang="zh-CN" altLang="en-US" dirty="0"/>
          </a:p>
        </p:txBody>
      </p:sp>
      <p:sp>
        <p:nvSpPr>
          <p:cNvPr id="8" name="流程图: 可选过程 7"/>
          <p:cNvSpPr/>
          <p:nvPr/>
        </p:nvSpPr>
        <p:spPr>
          <a:xfrm>
            <a:off x="3379304" y="3048000"/>
            <a:ext cx="2014331" cy="795129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说</a:t>
            </a:r>
            <a:r>
              <a:rPr lang="en-US" altLang="zh-CN" dirty="0"/>
              <a:t>:</a:t>
            </a:r>
            <a:r>
              <a:rPr lang="zh-CN" altLang="en-US" dirty="0"/>
              <a:t>我想上厕所</a:t>
            </a:r>
            <a:endParaRPr lang="zh-CN" altLang="en-US" dirty="0"/>
          </a:p>
        </p:txBody>
      </p:sp>
      <p:sp>
        <p:nvSpPr>
          <p:cNvPr id="14" name="流程图: 决策 13"/>
          <p:cNvSpPr/>
          <p:nvPr/>
        </p:nvSpPr>
        <p:spPr>
          <a:xfrm>
            <a:off x="3187147" y="4340318"/>
            <a:ext cx="2398644" cy="116619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老师同意了吗</a:t>
            </a:r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>
            <a:off x="3379304" y="6078372"/>
            <a:ext cx="2014331" cy="6222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去上厕所</a:t>
            </a:r>
            <a:endParaRPr lang="zh-CN" altLang="en-US" dirty="0"/>
          </a:p>
        </p:txBody>
      </p:sp>
      <p:sp>
        <p:nvSpPr>
          <p:cNvPr id="16" name="矩形: 圆角 15"/>
          <p:cNvSpPr/>
          <p:nvPr/>
        </p:nvSpPr>
        <p:spPr>
          <a:xfrm>
            <a:off x="6831495" y="4612299"/>
            <a:ext cx="2014331" cy="6222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我再忍忍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2" idx="2"/>
            <a:endCxn id="7" idx="0"/>
          </p:cNvCxnSpPr>
          <p:nvPr/>
        </p:nvCxnSpPr>
        <p:spPr>
          <a:xfrm flipH="1">
            <a:off x="4386469" y="810523"/>
            <a:ext cx="1" cy="57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2"/>
            <a:endCxn id="8" idx="0"/>
          </p:cNvCxnSpPr>
          <p:nvPr/>
        </p:nvCxnSpPr>
        <p:spPr>
          <a:xfrm>
            <a:off x="4386469" y="2550811"/>
            <a:ext cx="1" cy="49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2"/>
            <a:endCxn id="14" idx="0"/>
          </p:cNvCxnSpPr>
          <p:nvPr/>
        </p:nvCxnSpPr>
        <p:spPr>
          <a:xfrm flipH="1">
            <a:off x="4386469" y="3843129"/>
            <a:ext cx="1" cy="49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4" idx="2"/>
            <a:endCxn id="15" idx="0"/>
          </p:cNvCxnSpPr>
          <p:nvPr/>
        </p:nvCxnSpPr>
        <p:spPr>
          <a:xfrm>
            <a:off x="4386469" y="5506510"/>
            <a:ext cx="1" cy="57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4" idx="3"/>
            <a:endCxn id="16" idx="1"/>
          </p:cNvCxnSpPr>
          <p:nvPr/>
        </p:nvCxnSpPr>
        <p:spPr>
          <a:xfrm>
            <a:off x="5585791" y="4923414"/>
            <a:ext cx="12457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/>
          <p:cNvCxnSpPr>
            <a:stCxn id="7" idx="3"/>
            <a:endCxn id="2" idx="3"/>
          </p:cNvCxnSpPr>
          <p:nvPr/>
        </p:nvCxnSpPr>
        <p:spPr>
          <a:xfrm flipH="1" flipV="1">
            <a:off x="5393635" y="499409"/>
            <a:ext cx="192156" cy="1468306"/>
          </a:xfrm>
          <a:prstGeom prst="bentConnector3">
            <a:avLst>
              <a:gd name="adj1" fmla="val -456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62312" y="15652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没有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386469" y="255081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5772834" y="4599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不同意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4478801" y="55536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同意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8620217" y="677187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《</a:t>
            </a:r>
            <a:r>
              <a:rPr lang="zh-CN" altLang="en-US" sz="4400" dirty="0"/>
              <a:t>班规</a:t>
            </a:r>
            <a:r>
              <a:rPr lang="en-US" altLang="zh-CN" sz="4400" dirty="0"/>
              <a:t>》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4" grpId="0" bldLvl="0" animBg="1"/>
      <p:bldP spid="15" grpId="0" bldLvl="0" animBg="1"/>
      <p:bldP spid="16" grpId="0" bldLvl="0" animBg="1"/>
      <p:bldP spid="31" grpId="0"/>
      <p:bldP spid="37" grpId="0"/>
      <p:bldP spid="32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什么是程序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3379301" y="918648"/>
            <a:ext cx="2014331" cy="6222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找到房间</a:t>
            </a:r>
            <a:endParaRPr lang="zh-CN" altLang="en-US" dirty="0"/>
          </a:p>
        </p:txBody>
      </p:sp>
      <p:sp>
        <p:nvSpPr>
          <p:cNvPr id="8" name="流程图: 可选过程 7"/>
          <p:cNvSpPr/>
          <p:nvPr/>
        </p:nvSpPr>
        <p:spPr>
          <a:xfrm>
            <a:off x="3379302" y="2367758"/>
            <a:ext cx="2014331" cy="795129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找到打扫工具</a:t>
            </a:r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>
            <a:off x="3379300" y="4256007"/>
            <a:ext cx="2014331" cy="6222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打扫房间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2" idx="2"/>
            <a:endCxn id="8" idx="0"/>
          </p:cNvCxnSpPr>
          <p:nvPr/>
        </p:nvCxnSpPr>
        <p:spPr>
          <a:xfrm>
            <a:off x="4386467" y="1540877"/>
            <a:ext cx="1" cy="826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2"/>
            <a:endCxn id="15" idx="0"/>
          </p:cNvCxnSpPr>
          <p:nvPr/>
        </p:nvCxnSpPr>
        <p:spPr>
          <a:xfrm flipH="1">
            <a:off x="4386466" y="3162887"/>
            <a:ext cx="2" cy="1093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046476" y="425802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《</a:t>
            </a:r>
            <a:r>
              <a:rPr lang="zh-CN" altLang="en-US" sz="4400" dirty="0"/>
              <a:t>打扫房间</a:t>
            </a:r>
            <a:r>
              <a:rPr lang="en-US" altLang="zh-CN" sz="4400" dirty="0"/>
              <a:t>》</a:t>
            </a:r>
            <a:endParaRPr lang="zh-CN" altLang="en-US" sz="4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3" name="墨迹 22"/>
              <p14:cNvContentPartPr/>
              <p14:nvPr/>
            </p14:nvContentPartPr>
            <p14:xfrm>
              <a:off x="2850699" y="5934304"/>
              <a:ext cx="360" cy="3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"/>
            </p:blipFill>
            <p:spPr>
              <a:xfrm>
                <a:off x="2850699" y="5934304"/>
                <a:ext cx="360" cy="360"/>
              </a:xfrm>
              <a:prstGeom prst="rect"/>
            </p:spPr>
          </p:pic>
        </mc:Fallback>
      </mc:AlternateContent>
      <p:sp>
        <p:nvSpPr>
          <p:cNvPr id="26" name="文本框 25"/>
          <p:cNvSpPr txBox="1"/>
          <p:nvPr/>
        </p:nvSpPr>
        <p:spPr>
          <a:xfrm>
            <a:off x="2048099" y="545623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把解决过程用</a:t>
            </a:r>
            <a:r>
              <a:rPr lang="en-US" altLang="zh-CN" sz="2000" b="1" dirty="0"/>
              <a:t>C++</a:t>
            </a:r>
            <a:r>
              <a:rPr lang="zh-CN" altLang="en-US" sz="2000" b="1" dirty="0"/>
              <a:t>语言表达出来，就是程序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6" y="262495"/>
            <a:ext cx="7611473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学习目标：让计算机帮我们解决问题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27" y="2629760"/>
            <a:ext cx="1209524" cy="11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94" y="2711755"/>
            <a:ext cx="1180952" cy="1171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4223748"/>
            <a:ext cx="1257143" cy="1209524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3215798" y="1537252"/>
            <a:ext cx="5159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3165746" y="1974574"/>
            <a:ext cx="5209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375374" y="1201856"/>
            <a:ext cx="312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i="0" dirty="0">
                <a:solidFill>
                  <a:srgbClr val="33333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C++</a:t>
            </a:r>
            <a:r>
              <a:rPr lang="zh-CN" altLang="en-US" sz="60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语言</a:t>
            </a:r>
            <a:endParaRPr lang="zh-CN" altLang="en-US" sz="4000" b="1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637" y="2947988"/>
            <a:ext cx="1949984" cy="187039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372" y="2989108"/>
            <a:ext cx="5209628" cy="23316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89" y="5558778"/>
            <a:ext cx="1200000" cy="125714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3711" y="5561516"/>
            <a:ext cx="1257143" cy="1266667"/>
          </a:xfrm>
          <a:prstGeom prst="rect">
            <a:avLst/>
          </a:prstGeom>
        </p:spPr>
      </p:pic>
      <p:cxnSp>
        <p:nvCxnSpPr>
          <p:cNvPr id="27" name="直接箭头连接符 26"/>
          <p:cNvCxnSpPr>
            <a:stCxn id="16" idx="1"/>
          </p:cNvCxnSpPr>
          <p:nvPr/>
        </p:nvCxnSpPr>
        <p:spPr>
          <a:xfrm flipH="1">
            <a:off x="5897216" y="4154928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3340854" y="4087524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82649" y="1182479"/>
            <a:ext cx="2733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程序</a:t>
            </a:r>
            <a:endParaRPr lang="zh-CN" altLang="en-US" sz="6000" b="1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7543" y="4219762"/>
            <a:ext cx="1209517" cy="1209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en-US" altLang="zh-CN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C++</a:t>
            </a: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程序的基本框架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81125"/>
            <a:ext cx="6805930" cy="4253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4"/>
            <a:ext cx="6521876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en-US" altLang="zh-CN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Dev-C++</a:t>
            </a: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编写</a:t>
            </a:r>
            <a:r>
              <a:rPr lang="en-US" altLang="zh-CN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Hello World</a:t>
            </a: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程序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20802" t="20851" r="23611" b="23122"/>
          <a:stretch>
            <a:fillRect/>
          </a:stretch>
        </p:blipFill>
        <p:spPr>
          <a:xfrm>
            <a:off x="749805" y="810523"/>
            <a:ext cx="1298294" cy="1258349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492419" y="810523"/>
            <a:ext cx="63237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1.</a:t>
            </a:r>
            <a:r>
              <a:rPr lang="zh-CN" altLang="en-US" sz="36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打开桌面上的</a:t>
            </a:r>
            <a:r>
              <a:rPr lang="en-US" altLang="zh-CN" sz="36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Dev-C++</a:t>
            </a:r>
            <a:endParaRPr lang="en-US" altLang="zh-CN" sz="3600" b="1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2.</a:t>
            </a:r>
            <a:r>
              <a:rPr lang="zh-CN" altLang="en-US" sz="3600" b="1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新建文件的三种方式</a:t>
            </a:r>
            <a:endParaRPr lang="zh-CN" altLang="zh-CN" sz="3600" b="1" dirty="0">
              <a:solidFill>
                <a:srgbClr val="3333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42" y="2513998"/>
            <a:ext cx="5276190" cy="145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32597" y="262495"/>
            <a:ext cx="3538768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程序：让计算机打招呼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" y="188294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36" y="677186"/>
            <a:ext cx="9225549" cy="6180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269" b="-3289"/>
          <a:stretch>
            <a:fillRect/>
          </a:stretch>
        </p:blipFill>
        <p:spPr>
          <a:xfrm>
            <a:off x="9525" y="1108075"/>
            <a:ext cx="11510645" cy="5741035"/>
          </a:xfrm>
          <a:prstGeom prst="rect">
            <a:avLst/>
          </a:prstGeom>
        </p:spPr>
      </p:pic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478317" y="240904"/>
            <a:ext cx="3231004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en-US" altLang="zh-CN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C++</a:t>
            </a:r>
            <a:r>
              <a:rPr lang="zh-CN" altLang="en-US" sz="24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程序的基本框架</a:t>
            </a:r>
            <a:endParaRPr lang="en-US" altLang="zh-CN" sz="24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3337" y="157179"/>
            <a:ext cx="438521" cy="622229"/>
            <a:chOff x="199304" y="53446"/>
            <a:chExt cx="328891" cy="466672"/>
          </a:xfrm>
        </p:grpSpPr>
        <p:sp>
          <p:nvSpPr>
            <p:cNvPr id="46" name="Freeform 5"/>
            <p:cNvSpPr/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/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/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3000">
        <p15:prstTrans prst="crush"/>
      </p:transition>
    </mc:Choice>
    <mc:Fallback>
      <p:transition spd="slow" advClick="0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4937,&quot;width&quot;:10234}"/>
</p:tagLst>
</file>

<file path=ppt/tags/tag2.xml><?xml version="1.0" encoding="utf-8"?>
<p:tagLst xmlns:p="http://schemas.openxmlformats.org/presentationml/2006/main">
  <p:tag name="commondata" val="eyJoZGlkIjoiZmQyOTYwMmQ1ZDE2NTA1OTI2Y2U4YzUyM2MyNTMyY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WPS 演示</Application>
  <PresentationFormat>宽屏</PresentationFormat>
  <Paragraphs>74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Calibri</vt:lpstr>
      <vt:lpstr>Source Han Sans Normal</vt:lpstr>
      <vt:lpstr>思源黑体 CN Normal</vt:lpstr>
      <vt:lpstr>幼圆</vt:lpstr>
      <vt:lpstr>等线</vt:lpstr>
      <vt:lpstr>Arial Unicode MS</vt:lpstr>
      <vt:lpstr>等线 Light</vt:lpstr>
      <vt:lpstr>黑体</vt:lpstr>
      <vt:lpstr>Segoe UI</vt:lpstr>
      <vt:lpstr>WPS-Bullets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wei</dc:creator>
  <cp:lastModifiedBy>momo</cp:lastModifiedBy>
  <cp:revision>56</cp:revision>
  <dcterms:created xsi:type="dcterms:W3CDTF">2021-06-11T01:19:00Z</dcterms:created>
  <dcterms:modified xsi:type="dcterms:W3CDTF">2024-06-27T12:06:57Z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5702956881714C92939F8F142C7C9A11</vt:lpwstr>
  </property>
  <property fmtid="{D5CDD505-2E9C-101B-9397-08002B2CF9AE}" pid="3" name="KSOProductBuildVer">
    <vt:lpwstr>2052-12.1.0.17140</vt:lpwstr>
  </property>
</Properties>
</file>