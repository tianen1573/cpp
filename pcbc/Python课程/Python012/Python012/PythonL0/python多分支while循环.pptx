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85" r:id="rId2"/>
    <p:sldId id="528" r:id="rId3"/>
    <p:sldId id="525" r:id="rId4"/>
    <p:sldId id="529" r:id="rId5"/>
    <p:sldId id="526" r:id="rId6"/>
    <p:sldId id="530" r:id="rId7"/>
    <p:sldId id="531" r:id="rId8"/>
  </p:sldIdLst>
  <p:sldSz cx="9144000" cy="5143500" type="screen16x9"/>
  <p:notesSz cx="6797675" cy="9925050"/>
  <p:custDataLst>
    <p:tags r:id="rId10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93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2023/11/5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Python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语言程序设计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235467" y="2192546"/>
            <a:ext cx="46730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b="1" dirty="0"/>
              <a:t>【</a:t>
            </a:r>
            <a:r>
              <a:rPr lang="zh-CN" altLang="en-US" sz="2800" b="1" dirty="0"/>
              <a:t>多分支、</a:t>
            </a:r>
            <a:r>
              <a:rPr lang="en-US" altLang="zh-CN" sz="2800" b="1" dirty="0"/>
              <a:t>while</a:t>
            </a:r>
            <a:r>
              <a:rPr lang="zh-CN" altLang="en-US" sz="2800" b="1" dirty="0"/>
              <a:t>循环结构</a:t>
            </a:r>
            <a:r>
              <a:rPr lang="en-US" altLang="zh-CN" sz="2800" b="1" dirty="0"/>
              <a:t>】</a:t>
            </a:r>
            <a:endParaRPr lang="zh-CN" altLang="en-US" sz="2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上节课回顾：关系运算符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251460" y="1203960"/>
          <a:ext cx="8211185" cy="337439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2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23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/>
                        <a:t>数学符号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python</a:t>
                      </a:r>
                      <a:r>
                        <a:rPr lang="zh-CN" altLang="en-US" sz="1800"/>
                        <a:t>操作符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示例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运算结果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优先级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小于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1&lt;2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/>
                        <a:t>大于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1&gt;2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</a:rPr>
                        <a:t>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1==2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小于或等于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1&lt;=2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6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 dirty="0">
                          <a:solidFill>
                            <a:srgbClr val="FF0000"/>
                          </a:solidFill>
                        </a:rPr>
                        <a:t>大于或等于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1&gt;=2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9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800">
                          <a:solidFill>
                            <a:srgbClr val="FF0000"/>
                          </a:solidFill>
                        </a:rPr>
                        <a:t>不等于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sz="1800">
                          <a:solidFill>
                            <a:srgbClr val="FF0000"/>
                          </a:solidFill>
                        </a:rPr>
                        <a:t>！</a:t>
                      </a:r>
                      <a:r>
                        <a:rPr lang="en-US" altLang="zh-CN" sz="1800">
                          <a:solidFill>
                            <a:srgbClr val="FF0000"/>
                          </a:solidFill>
                        </a:rPr>
                        <a:t>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2839720" y="5310505"/>
            <a:ext cx="393636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en-US" altLang="zh-CN" sz="32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python</a:t>
            </a:r>
            <a:r>
              <a:rPr lang="zh-CN" altLang="en-US" sz="3200" b="1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华文楷体" panose="02010600040101010101" pitchFamily="2" charset="-122"/>
                <a:sym typeface="+mn-ea"/>
              </a:rPr>
              <a:t>关系运算符及优先级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5976664" cy="46166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上节课回顾：分支结构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if-else】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7" descr="C:/Users/ADMINI~1/AppData/Local/Temp/kaimatting/20200825085724/output_aiMatting_20200825085749.pngoutput_aiMatting_2020082508574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flipV="1">
            <a:off x="1547660" y="1347470"/>
            <a:ext cx="1098150" cy="855345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107315" y="2461895"/>
            <a:ext cx="4021455" cy="2348865"/>
            <a:chOff x="1098" y="2991"/>
            <a:chExt cx="6604" cy="3968"/>
          </a:xfrm>
        </p:grpSpPr>
        <p:sp>
          <p:nvSpPr>
            <p:cNvPr id="37" name="圆角矩形 36"/>
            <p:cNvSpPr/>
            <p:nvPr/>
          </p:nvSpPr>
          <p:spPr>
            <a:xfrm>
              <a:off x="1098" y="2991"/>
              <a:ext cx="6604" cy="3969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CN" sz="32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if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&gt;:</a:t>
              </a:r>
            </a:p>
            <a:p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	&lt;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语句块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1&gt;</a:t>
              </a:r>
            </a:p>
            <a:p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[</a:t>
              </a:r>
              <a:r>
                <a:rPr lang="en-US" altLang="zh-CN" sz="3200" dirty="0">
                  <a:solidFill>
                    <a:srgbClr val="FFC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else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:</a:t>
              </a:r>
            </a:p>
            <a:p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     &lt;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语句块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2&gt;]</a:t>
              </a:r>
              <a:endPara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47" name="图片 46" descr="缩进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" y="4343"/>
              <a:ext cx="1414" cy="386"/>
            </a:xfrm>
            <a:prstGeom prst="rect">
              <a:avLst/>
            </a:prstGeom>
          </p:spPr>
        </p:pic>
        <p:pic>
          <p:nvPicPr>
            <p:cNvPr id="48" name="图片 47" descr="缩进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6" y="6120"/>
              <a:ext cx="1414" cy="386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5796136" y="3920157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1401</a:t>
            </a:r>
            <a:endParaRPr lang="zh-CN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775142"/>
            <a:ext cx="3163118" cy="18614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多分支结构：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if-</a:t>
            </a:r>
            <a:r>
              <a:rPr lang="en-US" altLang="zh-CN" sz="2400" b="1" kern="0" dirty="0" err="1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elif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8183" y="838310"/>
            <a:ext cx="1469349" cy="1403861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295926" y="2327970"/>
            <a:ext cx="2838414" cy="2636837"/>
            <a:chOff x="1098" y="2991"/>
            <a:chExt cx="6604" cy="6135"/>
          </a:xfrm>
        </p:grpSpPr>
        <p:sp>
          <p:nvSpPr>
            <p:cNvPr id="15" name="圆角矩形 14"/>
            <p:cNvSpPr/>
            <p:nvPr/>
          </p:nvSpPr>
          <p:spPr>
            <a:xfrm>
              <a:off x="1098" y="2991"/>
              <a:ext cx="6604" cy="6135"/>
            </a:xfrm>
            <a:prstGeom prst="round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</a:rPr>
                <a:t>if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1&gt;: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	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语句块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1&gt;</a:t>
              </a:r>
            </a:p>
            <a:p>
              <a:r>
                <a:rPr lang="en-US" altLang="zh-CN" dirty="0" err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</a:rPr>
                <a:t>elif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2&gt;: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	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语句块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2&gt;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...</a:t>
              </a:r>
            </a:p>
            <a:p>
              <a:r>
                <a:rPr lang="en-US" altLang="zh-CN" dirty="0" err="1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</a:rPr>
                <a:t>elif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n&gt;: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	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语句块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n&gt;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[</a:t>
              </a:r>
              <a:r>
                <a:rPr lang="en-US" altLang="zh-CN" dirty="0">
                  <a:solidFill>
                    <a:srgbClr val="FFC000"/>
                  </a:solidFill>
                  <a:latin typeface="微软雅黑" panose="020B0503020204020204" charset="-122"/>
                  <a:ea typeface="微软雅黑" panose="020B0503020204020204" charset="-122"/>
                </a:rPr>
                <a:t>else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:</a:t>
              </a:r>
            </a:p>
            <a:p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	&lt;</a:t>
              </a:r>
              <a:r>
                <a:rPr lang="zh-CN" altLang="en-US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语句块</a:t>
              </a:r>
              <a:r>
                <a:rPr lang="en-US" altLang="zh-CN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n+1&gt;] </a:t>
              </a:r>
            </a:p>
          </p:txBody>
        </p:sp>
        <p:pic>
          <p:nvPicPr>
            <p:cNvPr id="16" name="图片 15" descr="缩进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9" y="3996"/>
              <a:ext cx="1414" cy="386"/>
            </a:xfrm>
            <a:prstGeom prst="rect">
              <a:avLst/>
            </a:prstGeom>
          </p:spPr>
        </p:pic>
        <p:pic>
          <p:nvPicPr>
            <p:cNvPr id="17" name="图片 16" descr="缩进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9" y="5241"/>
              <a:ext cx="1414" cy="386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2899883" y="677926"/>
            <a:ext cx="6484238" cy="2108933"/>
            <a:chOff x="296882" y="1187532"/>
            <a:chExt cx="9363698" cy="4880759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1508166" y="1187532"/>
              <a:ext cx="0" cy="570016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菱形 19"/>
            <p:cNvSpPr/>
            <p:nvPr/>
          </p:nvSpPr>
          <p:spPr>
            <a:xfrm>
              <a:off x="296882" y="1793174"/>
              <a:ext cx="2422567" cy="688769"/>
            </a:xfrm>
            <a:prstGeom prst="diamond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21" name="直接箭头连接符 20"/>
            <p:cNvCxnSpPr>
              <a:stCxn id="20" idx="2"/>
            </p:cNvCxnSpPr>
            <p:nvPr/>
          </p:nvCxnSpPr>
          <p:spPr>
            <a:xfrm>
              <a:off x="1508166" y="2481943"/>
              <a:ext cx="0" cy="184067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矩形 21"/>
            <p:cNvSpPr/>
            <p:nvPr/>
          </p:nvSpPr>
          <p:spPr>
            <a:xfrm>
              <a:off x="617517" y="4358243"/>
              <a:ext cx="1840675" cy="653143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</a:rPr>
                <a:t>语句块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1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23" name="直接连接符 22"/>
            <p:cNvCxnSpPr>
              <a:stCxn id="20" idx="3"/>
            </p:cNvCxnSpPr>
            <p:nvPr/>
          </p:nvCxnSpPr>
          <p:spPr>
            <a:xfrm flipV="1">
              <a:off x="2719449" y="2125683"/>
              <a:ext cx="1056904" cy="1187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3776353" y="2137558"/>
              <a:ext cx="0" cy="28500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菱形 24"/>
            <p:cNvSpPr/>
            <p:nvPr/>
          </p:nvSpPr>
          <p:spPr>
            <a:xfrm>
              <a:off x="2563089" y="2444337"/>
              <a:ext cx="2422567" cy="688769"/>
            </a:xfrm>
            <a:prstGeom prst="diamond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2848105" y="4344389"/>
              <a:ext cx="1840675" cy="653143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</a:rPr>
                <a:t>语句块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2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V="1">
              <a:off x="4973724" y="2755075"/>
              <a:ext cx="548302" cy="3363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6470003" y="2788708"/>
              <a:ext cx="0" cy="28500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菱形 28"/>
            <p:cNvSpPr/>
            <p:nvPr/>
          </p:nvSpPr>
          <p:spPr>
            <a:xfrm>
              <a:off x="5233046" y="3071750"/>
              <a:ext cx="2422567" cy="688769"/>
            </a:xfrm>
            <a:prstGeom prst="diamond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条件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529943" y="4342410"/>
              <a:ext cx="1840675" cy="653143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</a:rPr>
                <a:t>语句块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n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31" name="直接连接符 30"/>
            <p:cNvCxnSpPr/>
            <p:nvPr/>
          </p:nvCxnSpPr>
          <p:spPr>
            <a:xfrm flipV="1">
              <a:off x="5933646" y="2776847"/>
              <a:ext cx="548302" cy="3363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flipV="1">
              <a:off x="7669480" y="3406239"/>
              <a:ext cx="1056904" cy="1187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endCxn id="34" idx="0"/>
            </p:cNvCxnSpPr>
            <p:nvPr/>
          </p:nvCxnSpPr>
          <p:spPr>
            <a:xfrm>
              <a:off x="8726384" y="3418114"/>
              <a:ext cx="13859" cy="934192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矩形 33"/>
            <p:cNvSpPr/>
            <p:nvPr/>
          </p:nvSpPr>
          <p:spPr>
            <a:xfrm>
              <a:off x="7819905" y="4352306"/>
              <a:ext cx="1840675" cy="653143"/>
            </a:xfrm>
            <a:prstGeom prst="rect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400" dirty="0">
                  <a:solidFill>
                    <a:schemeClr val="tx2">
                      <a:lumMod val="75000"/>
                    </a:schemeClr>
                  </a:solidFill>
                </a:rPr>
                <a:t>语句块</a:t>
              </a:r>
              <a:r>
                <a:rPr lang="en-US" altLang="zh-CN" sz="1400" dirty="0">
                  <a:solidFill>
                    <a:schemeClr val="tx2">
                      <a:lumMod val="75000"/>
                    </a:schemeClr>
                  </a:solidFill>
                </a:rPr>
                <a:t>n+1</a:t>
              </a:r>
              <a:endParaRPr lang="zh-CN" altLang="en-US" sz="1400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  <p:cxnSp>
          <p:nvCxnSpPr>
            <p:cNvPr id="35" name="直接箭头连接符 34"/>
            <p:cNvCxnSpPr>
              <a:stCxn id="25" idx="2"/>
              <a:endCxn id="26" idx="0"/>
            </p:cNvCxnSpPr>
            <p:nvPr/>
          </p:nvCxnSpPr>
          <p:spPr>
            <a:xfrm flipH="1">
              <a:off x="3768443" y="3133106"/>
              <a:ext cx="5930" cy="1211283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29" idx="2"/>
              <a:endCxn id="30" idx="0"/>
            </p:cNvCxnSpPr>
            <p:nvPr/>
          </p:nvCxnSpPr>
          <p:spPr>
            <a:xfrm>
              <a:off x="6444330" y="3760519"/>
              <a:ext cx="5951" cy="581891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4"/>
            <p:cNvSpPr txBox="1"/>
            <p:nvPr/>
          </p:nvSpPr>
          <p:spPr>
            <a:xfrm>
              <a:off x="5462651" y="2565078"/>
              <a:ext cx="691584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sz="1400" dirty="0"/>
                <a:t>……</a:t>
              </a:r>
              <a:endParaRPr lang="zh-CN" altLang="en-US" sz="1400" dirty="0"/>
            </a:p>
          </p:txBody>
        </p:sp>
        <p:sp>
          <p:nvSpPr>
            <p:cNvPr id="39" name="TextBox 35"/>
            <p:cNvSpPr txBox="1"/>
            <p:nvPr/>
          </p:nvSpPr>
          <p:spPr>
            <a:xfrm>
              <a:off x="2945081" y="1983178"/>
              <a:ext cx="583685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假</a:t>
              </a:r>
            </a:p>
          </p:txBody>
        </p:sp>
        <p:sp>
          <p:nvSpPr>
            <p:cNvPr id="40" name="TextBox 36"/>
            <p:cNvSpPr txBox="1"/>
            <p:nvPr/>
          </p:nvSpPr>
          <p:spPr>
            <a:xfrm>
              <a:off x="5056909" y="2610593"/>
              <a:ext cx="583685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假</a:t>
              </a:r>
            </a:p>
          </p:txBody>
        </p:sp>
        <p:sp>
          <p:nvSpPr>
            <p:cNvPr id="41" name="TextBox 37"/>
            <p:cNvSpPr txBox="1"/>
            <p:nvPr/>
          </p:nvSpPr>
          <p:spPr>
            <a:xfrm>
              <a:off x="7916882" y="3226130"/>
              <a:ext cx="583685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假</a:t>
              </a:r>
            </a:p>
          </p:txBody>
        </p:sp>
        <p:sp>
          <p:nvSpPr>
            <p:cNvPr id="42" name="TextBox 38"/>
            <p:cNvSpPr txBox="1"/>
            <p:nvPr/>
          </p:nvSpPr>
          <p:spPr>
            <a:xfrm>
              <a:off x="1316182" y="3192482"/>
              <a:ext cx="583685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真</a:t>
              </a:r>
            </a:p>
          </p:txBody>
        </p:sp>
        <p:sp>
          <p:nvSpPr>
            <p:cNvPr id="43" name="TextBox 39"/>
            <p:cNvSpPr txBox="1"/>
            <p:nvPr/>
          </p:nvSpPr>
          <p:spPr>
            <a:xfrm>
              <a:off x="3534889" y="3511137"/>
              <a:ext cx="583685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真</a:t>
              </a:r>
            </a:p>
          </p:txBody>
        </p:sp>
        <p:sp>
          <p:nvSpPr>
            <p:cNvPr id="44" name="TextBox 40"/>
            <p:cNvSpPr txBox="1"/>
            <p:nvPr/>
          </p:nvSpPr>
          <p:spPr>
            <a:xfrm>
              <a:off x="6204858" y="3847606"/>
              <a:ext cx="433448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真</a:t>
              </a:r>
            </a:p>
          </p:txBody>
        </p:sp>
        <p:sp>
          <p:nvSpPr>
            <p:cNvPr id="45" name="TextBox 41"/>
            <p:cNvSpPr txBox="1"/>
            <p:nvPr/>
          </p:nvSpPr>
          <p:spPr>
            <a:xfrm>
              <a:off x="8459190" y="3798126"/>
              <a:ext cx="433448" cy="4932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dirty="0"/>
                <a:t>真</a:t>
              </a:r>
            </a:p>
          </p:txBody>
        </p:sp>
        <p:cxnSp>
          <p:nvCxnSpPr>
            <p:cNvPr id="46" name="直接连接符 45"/>
            <p:cNvCxnSpPr>
              <a:stCxn id="22" idx="2"/>
            </p:cNvCxnSpPr>
            <p:nvPr/>
          </p:nvCxnSpPr>
          <p:spPr>
            <a:xfrm>
              <a:off x="1537855" y="5011386"/>
              <a:ext cx="5937" cy="4750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3768437" y="4997531"/>
              <a:ext cx="5937" cy="4750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6450281" y="5019302"/>
              <a:ext cx="5937" cy="4750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>
              <a:off x="8752115" y="5005449"/>
              <a:ext cx="5937" cy="47501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555668" y="5498275"/>
              <a:ext cx="7208322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>
            <a:xfrm flipH="1">
              <a:off x="5106390" y="5522026"/>
              <a:ext cx="11875" cy="546265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276" y="2759921"/>
            <a:ext cx="2371725" cy="223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835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多分支结构练习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31640" y="4284179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824985" y="4575749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</a:p>
        </p:txBody>
      </p:sp>
      <p:sp>
        <p:nvSpPr>
          <p:cNvPr id="12" name="文本框 19"/>
          <p:cNvSpPr txBox="1"/>
          <p:nvPr/>
        </p:nvSpPr>
        <p:spPr>
          <a:xfrm>
            <a:off x="4861546" y="924701"/>
            <a:ext cx="25907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输入成绩：</a:t>
            </a:r>
            <a:endParaRPr lang="en-US" altLang="zh-CN" dirty="0"/>
          </a:p>
          <a:p>
            <a:r>
              <a:rPr lang="zh-CN" altLang="en-US" dirty="0"/>
              <a:t>判断</a:t>
            </a:r>
            <a:r>
              <a:rPr lang="en-US" altLang="zh-CN" dirty="0"/>
              <a:t>90</a:t>
            </a:r>
            <a:r>
              <a:rPr lang="zh-CN" altLang="en-US" dirty="0"/>
              <a:t>以上优秀，</a:t>
            </a:r>
            <a:r>
              <a:rPr lang="en-US" altLang="zh-CN" dirty="0"/>
              <a:t>80</a:t>
            </a:r>
            <a:r>
              <a:rPr lang="zh-CN" altLang="en-US" dirty="0"/>
              <a:t>以上良好，</a:t>
            </a:r>
            <a:r>
              <a:rPr lang="en-US" altLang="zh-CN" dirty="0"/>
              <a:t>60</a:t>
            </a:r>
            <a:r>
              <a:rPr lang="zh-CN" altLang="en-US" dirty="0"/>
              <a:t>以上合格，否则不合格</a:t>
            </a:r>
            <a:endParaRPr lang="en-US" altLang="zh-C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19622"/>
            <a:ext cx="2408355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0" y="1647972"/>
            <a:ext cx="284797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985" y="2499742"/>
            <a:ext cx="2638425" cy="107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602" y="3576067"/>
            <a:ext cx="29146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【while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结构：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while】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810833E7-9504-49BE-AACB-679C103FC6E3}"/>
              </a:ext>
            </a:extLst>
          </p:cNvPr>
          <p:cNvGrpSpPr/>
          <p:nvPr/>
        </p:nvGrpSpPr>
        <p:grpSpPr>
          <a:xfrm>
            <a:off x="485391" y="1343932"/>
            <a:ext cx="3034314" cy="3843415"/>
            <a:chOff x="4164136" y="1696668"/>
            <a:chExt cx="3491545" cy="4422567"/>
          </a:xfrm>
        </p:grpSpPr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D48B91D8-D92A-454A-9081-62813E97ED6F}"/>
                </a:ext>
              </a:extLst>
            </p:cNvPr>
            <p:cNvGrpSpPr/>
            <p:nvPr/>
          </p:nvGrpSpPr>
          <p:grpSpPr>
            <a:xfrm>
              <a:off x="4164136" y="1696668"/>
              <a:ext cx="3491545" cy="4422567"/>
              <a:chOff x="8070437" y="1182025"/>
              <a:chExt cx="3492000" cy="4423143"/>
            </a:xfrm>
          </p:grpSpPr>
          <p:sp>
            <p:nvSpPr>
              <p:cNvPr id="55" name="圆角矩形 54">
                <a:extLst>
                  <a:ext uri="{FF2B5EF4-FFF2-40B4-BE49-F238E27FC236}">
                    <a16:creationId xmlns:a16="http://schemas.microsoft.com/office/drawing/2014/main" id="{FA926D07-6DBD-4DF0-A667-D169AB46530C}"/>
                  </a:ext>
                </a:extLst>
              </p:cNvPr>
              <p:cNvSpPr/>
              <p:nvPr/>
            </p:nvSpPr>
            <p:spPr>
              <a:xfrm>
                <a:off x="8070437" y="1182025"/>
                <a:ext cx="3492000" cy="4423143"/>
              </a:xfrm>
              <a:prstGeom prst="roundRect">
                <a:avLst/>
              </a:prstGeom>
              <a:solidFill>
                <a:srgbClr val="323232">
                  <a:lumMod val="20000"/>
                  <a:lumOff val="80000"/>
                </a:srgbClr>
              </a:solidFill>
              <a:ln w="42500" cap="flat" cmpd="sng" algn="ctr">
                <a:noFill/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Verdana"/>
                  <a:ea typeface="微软雅黑"/>
                  <a:cs typeface="+mn-cs"/>
                </a:endParaRPr>
              </a:p>
            </p:txBody>
          </p:sp>
          <p:sp>
            <p:nvSpPr>
              <p:cNvPr id="56" name="îṧļîḓê">
                <a:extLst>
                  <a:ext uri="{FF2B5EF4-FFF2-40B4-BE49-F238E27FC236}">
                    <a16:creationId xmlns:a16="http://schemas.microsoft.com/office/drawing/2014/main" id="{677EF521-3F20-4C35-B96A-7D1DD357A0BE}"/>
                  </a:ext>
                </a:extLst>
              </p:cNvPr>
              <p:cNvSpPr/>
              <p:nvPr/>
            </p:nvSpPr>
            <p:spPr>
              <a:xfrm>
                <a:off x="8174050" y="1328290"/>
                <a:ext cx="2884906" cy="401324"/>
              </a:xfrm>
              <a:prstGeom prst="rect">
                <a:avLst/>
              </a:prstGeom>
              <a:noFill/>
              <a:ln w="28575" cap="flat" cmpd="sng" algn="ctr">
                <a:noFill/>
                <a:prstDash val="solid"/>
              </a:ln>
              <a:effectLst/>
            </p:spPr>
            <p:txBody>
              <a:bodyPr wrap="square" lIns="91428" tIns="45714" rIns="91428" bIns="45714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dana"/>
                    <a:ea typeface="微软雅黑"/>
                    <a:cs typeface="+mn-cs"/>
                  </a:rPr>
                  <a:t>“吃馒头”循环执行流程图</a:t>
                </a:r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0CCE6112-7D3B-47EB-9C29-C206EDBE724A}"/>
                  </a:ext>
                </a:extLst>
              </p:cNvPr>
              <p:cNvGrpSpPr/>
              <p:nvPr/>
            </p:nvGrpSpPr>
            <p:grpSpPr>
              <a:xfrm>
                <a:off x="8487954" y="1828783"/>
                <a:ext cx="2196000" cy="1093916"/>
                <a:chOff x="5932172" y="2576908"/>
                <a:chExt cx="2196000" cy="1093916"/>
              </a:xfrm>
            </p:grpSpPr>
            <p:sp>
              <p:nvSpPr>
                <p:cNvPr id="76" name="流程图: 决策 75">
                  <a:extLst>
                    <a:ext uri="{FF2B5EF4-FFF2-40B4-BE49-F238E27FC236}">
                      <a16:creationId xmlns:a16="http://schemas.microsoft.com/office/drawing/2014/main" id="{1AE5A005-4976-4C2F-B8FB-FAEC3CA5813E}"/>
                    </a:ext>
                  </a:extLst>
                </p:cNvPr>
                <p:cNvSpPr/>
                <p:nvPr/>
              </p:nvSpPr>
              <p:spPr>
                <a:xfrm>
                  <a:off x="5932172" y="3022824"/>
                  <a:ext cx="2196000" cy="648000"/>
                </a:xfrm>
                <a:prstGeom prst="flowChartDecision">
                  <a:avLst/>
                </a:prstGeom>
                <a:solidFill>
                  <a:sysClr val="window" lastClr="FFFFFF"/>
                </a:solidFill>
                <a:ln w="2540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Verdana"/>
                      <a:ea typeface="微软雅黑"/>
                      <a:cs typeface="+mn-cs"/>
                    </a:rPr>
                    <a:t>没有吃饱</a:t>
                  </a:r>
                </a:p>
              </p:txBody>
            </p:sp>
            <p:cxnSp>
              <p:nvCxnSpPr>
                <p:cNvPr id="77" name="直接箭头连接符 76">
                  <a:extLst>
                    <a:ext uri="{FF2B5EF4-FFF2-40B4-BE49-F238E27FC236}">
                      <a16:creationId xmlns:a16="http://schemas.microsoft.com/office/drawing/2014/main" id="{D5D2986A-996A-46D0-81DE-1FE9EBD184D7}"/>
                    </a:ext>
                  </a:extLst>
                </p:cNvPr>
                <p:cNvCxnSpPr/>
                <p:nvPr/>
              </p:nvCxnSpPr>
              <p:spPr>
                <a:xfrm>
                  <a:off x="6988551" y="2576908"/>
                  <a:ext cx="5080" cy="445916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ysClr val="windowText" lastClr="000000"/>
                  </a:solidFill>
                  <a:prstDash val="solid"/>
                  <a:tailEnd type="arrow"/>
                </a:ln>
                <a:effectLst/>
              </p:spPr>
            </p:cxn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FC064170-366C-42E3-8B90-1E374C15E91B}"/>
                  </a:ext>
                </a:extLst>
              </p:cNvPr>
              <p:cNvGrpSpPr/>
              <p:nvPr/>
            </p:nvGrpSpPr>
            <p:grpSpPr>
              <a:xfrm>
                <a:off x="8333295" y="2101412"/>
                <a:ext cx="1332000" cy="2029803"/>
                <a:chOff x="5777513" y="2849537"/>
                <a:chExt cx="1332000" cy="2029803"/>
              </a:xfrm>
            </p:grpSpPr>
            <p:cxnSp>
              <p:nvCxnSpPr>
                <p:cNvPr id="72" name="直接连接符 71">
                  <a:extLst>
                    <a:ext uri="{FF2B5EF4-FFF2-40B4-BE49-F238E27FC236}">
                      <a16:creationId xmlns:a16="http://schemas.microsoft.com/office/drawing/2014/main" id="{74237E26-4080-4FCF-A703-535DBDE215D2}"/>
                    </a:ext>
                  </a:extLst>
                </p:cNvPr>
                <p:cNvCxnSpPr/>
                <p:nvPr/>
              </p:nvCxnSpPr>
              <p:spPr>
                <a:xfrm>
                  <a:off x="7096969" y="4519340"/>
                  <a:ext cx="9031" cy="36000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cxnSp>
              <p:nvCxnSpPr>
                <p:cNvPr id="73" name="直接连接符 72">
                  <a:extLst>
                    <a:ext uri="{FF2B5EF4-FFF2-40B4-BE49-F238E27FC236}">
                      <a16:creationId xmlns:a16="http://schemas.microsoft.com/office/drawing/2014/main" id="{9445741E-6AF1-4908-8909-527304F7B61F}"/>
                    </a:ext>
                  </a:extLst>
                </p:cNvPr>
                <p:cNvCxnSpPr/>
                <p:nvPr/>
              </p:nvCxnSpPr>
              <p:spPr>
                <a:xfrm flipH="1">
                  <a:off x="5777513" y="4864625"/>
                  <a:ext cx="1332000" cy="0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cxnSp>
              <p:nvCxnSpPr>
                <p:cNvPr id="74" name="直接连接符 73">
                  <a:extLst>
                    <a:ext uri="{FF2B5EF4-FFF2-40B4-BE49-F238E27FC236}">
                      <a16:creationId xmlns:a16="http://schemas.microsoft.com/office/drawing/2014/main" id="{CD651AA0-6E66-4FCD-A9A3-D93F92D49E70}"/>
                    </a:ext>
                  </a:extLst>
                </p:cNvPr>
                <p:cNvCxnSpPr/>
                <p:nvPr/>
              </p:nvCxnSpPr>
              <p:spPr>
                <a:xfrm flipV="1">
                  <a:off x="5793882" y="2849537"/>
                  <a:ext cx="0" cy="2005492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</p:cxnSp>
            <p:cxnSp>
              <p:nvCxnSpPr>
                <p:cNvPr id="75" name="直接箭头连接符 74">
                  <a:extLst>
                    <a:ext uri="{FF2B5EF4-FFF2-40B4-BE49-F238E27FC236}">
                      <a16:creationId xmlns:a16="http://schemas.microsoft.com/office/drawing/2014/main" id="{BC12B2B9-6A3A-4551-B15E-FABF176BFB87}"/>
                    </a:ext>
                  </a:extLst>
                </p:cNvPr>
                <p:cNvCxnSpPr/>
                <p:nvPr/>
              </p:nvCxnSpPr>
              <p:spPr>
                <a:xfrm>
                  <a:off x="5793318" y="2850102"/>
                  <a:ext cx="1188000" cy="0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ysClr val="windowText" lastClr="000000"/>
                  </a:solidFill>
                  <a:prstDash val="solid"/>
                  <a:tailEnd type="arrow"/>
                </a:ln>
                <a:effectLst/>
              </p:spPr>
            </p:cxnSp>
          </p:grpSp>
          <p:grpSp>
            <p:nvGrpSpPr>
              <p:cNvPr id="59" name="组合 58">
                <a:extLst>
                  <a:ext uri="{FF2B5EF4-FFF2-40B4-BE49-F238E27FC236}">
                    <a16:creationId xmlns:a16="http://schemas.microsoft.com/office/drawing/2014/main" id="{CEDC42FD-A83C-4B64-9A8A-B05C40038781}"/>
                  </a:ext>
                </a:extLst>
              </p:cNvPr>
              <p:cNvGrpSpPr/>
              <p:nvPr/>
            </p:nvGrpSpPr>
            <p:grpSpPr>
              <a:xfrm>
                <a:off x="8949270" y="2949217"/>
                <a:ext cx="1324839" cy="805916"/>
                <a:chOff x="6393488" y="3697342"/>
                <a:chExt cx="1324839" cy="805916"/>
              </a:xfrm>
            </p:grpSpPr>
            <p:grpSp>
              <p:nvGrpSpPr>
                <p:cNvPr id="68" name="组合 67">
                  <a:extLst>
                    <a:ext uri="{FF2B5EF4-FFF2-40B4-BE49-F238E27FC236}">
                      <a16:creationId xmlns:a16="http://schemas.microsoft.com/office/drawing/2014/main" id="{58025C55-8461-4124-B68D-6AAC570D3D51}"/>
                    </a:ext>
                  </a:extLst>
                </p:cNvPr>
                <p:cNvGrpSpPr/>
                <p:nvPr/>
              </p:nvGrpSpPr>
              <p:grpSpPr>
                <a:xfrm>
                  <a:off x="6485003" y="3697342"/>
                  <a:ext cx="1233324" cy="805916"/>
                  <a:chOff x="6485003" y="3697342"/>
                  <a:chExt cx="1233324" cy="805916"/>
                </a:xfrm>
              </p:grpSpPr>
              <p:cxnSp>
                <p:nvCxnSpPr>
                  <p:cNvPr id="70" name="直接箭头连接符 69">
                    <a:extLst>
                      <a:ext uri="{FF2B5EF4-FFF2-40B4-BE49-F238E27FC236}">
                        <a16:creationId xmlns:a16="http://schemas.microsoft.com/office/drawing/2014/main" id="{F74539A0-EF3E-4B3E-ADEE-224775DAD092}"/>
                      </a:ext>
                    </a:extLst>
                  </p:cNvPr>
                  <p:cNvCxnSpPr/>
                  <p:nvPr/>
                </p:nvCxnSpPr>
                <p:spPr>
                  <a:xfrm>
                    <a:off x="7084652" y="3697342"/>
                    <a:ext cx="5080" cy="445916"/>
                  </a:xfrm>
                  <a:prstGeom prst="straightConnector1">
                    <a:avLst/>
                  </a:prstGeom>
                  <a:noFill/>
                  <a:ln w="25400" cap="flat" cmpd="sng" algn="ctr">
                    <a:solidFill>
                      <a:sysClr val="windowText" lastClr="000000"/>
                    </a:solidFill>
                    <a:prstDash val="solid"/>
                    <a:tailEnd type="arrow"/>
                  </a:ln>
                  <a:effectLst/>
                </p:spPr>
              </p:cxnSp>
              <p:sp>
                <p:nvSpPr>
                  <p:cNvPr id="71" name="矩形 70">
                    <a:extLst>
                      <a:ext uri="{FF2B5EF4-FFF2-40B4-BE49-F238E27FC236}">
                        <a16:creationId xmlns:a16="http://schemas.microsoft.com/office/drawing/2014/main" id="{AA7F99FA-A2BD-4F2D-8081-5E592ADC5675}"/>
                      </a:ext>
                    </a:extLst>
                  </p:cNvPr>
                  <p:cNvSpPr/>
                  <p:nvPr/>
                </p:nvSpPr>
                <p:spPr>
                  <a:xfrm>
                    <a:off x="6485003" y="4143258"/>
                    <a:ext cx="1233324" cy="360000"/>
                  </a:xfrm>
                  <a:prstGeom prst="rect">
                    <a:avLst/>
                  </a:prstGeom>
                  <a:solidFill>
                    <a:sysClr val="window" lastClr="FFFFFF"/>
                  </a:solidFill>
                  <a:ln w="254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Verdana"/>
                        <a:ea typeface="微软雅黑"/>
                        <a:cs typeface="+mn-cs"/>
                      </a:rPr>
                      <a:t>继续吃</a:t>
                    </a:r>
                    <a:r>
                      <a:rPr kumimoji="0" lang="en-US" altLang="zh-CN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Verdana"/>
                        <a:ea typeface="微软雅黑"/>
                        <a:cs typeface="+mn-cs"/>
                      </a:rPr>
                      <a:t>1</a:t>
                    </a:r>
                    <a:r>
                      <a:rPr kumimoji="0" lang="zh-CN" altLang="en-US" sz="1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Verdana"/>
                        <a:ea typeface="微软雅黑"/>
                        <a:cs typeface="+mn-cs"/>
                      </a:rPr>
                      <a:t>个</a:t>
                    </a:r>
                  </a:p>
                </p:txBody>
              </p:sp>
            </p:grpSp>
            <p:sp>
              <p:nvSpPr>
                <p:cNvPr id="69" name="文本框 28">
                  <a:extLst>
                    <a:ext uri="{FF2B5EF4-FFF2-40B4-BE49-F238E27FC236}">
                      <a16:creationId xmlns:a16="http://schemas.microsoft.com/office/drawing/2014/main" id="{A9ACABE6-9F02-4632-8F47-583348A4F462}"/>
                    </a:ext>
                  </a:extLst>
                </p:cNvPr>
                <p:cNvSpPr txBox="1"/>
                <p:nvPr/>
              </p:nvSpPr>
              <p:spPr>
                <a:xfrm>
                  <a:off x="6393488" y="3756609"/>
                  <a:ext cx="831435" cy="307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rPr>
                    <a:t>是</a:t>
                  </a:r>
                  <a:r>
                    <a:rPr kumimoji="0" lang="en-US" altLang="zh-CN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rPr>
                    <a:t>True</a:t>
                  </a: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756EA940-2F95-4F5A-8D54-88868D6A8593}"/>
                  </a:ext>
                </a:extLst>
              </p:cNvPr>
              <p:cNvGrpSpPr/>
              <p:nvPr/>
            </p:nvGrpSpPr>
            <p:grpSpPr>
              <a:xfrm>
                <a:off x="9504534" y="2274699"/>
                <a:ext cx="1964086" cy="2530201"/>
                <a:chOff x="7481024" y="3022824"/>
                <a:chExt cx="1964086" cy="2530201"/>
              </a:xfrm>
            </p:grpSpPr>
            <p:grpSp>
              <p:nvGrpSpPr>
                <p:cNvPr id="62" name="组合 61">
                  <a:extLst>
                    <a:ext uri="{FF2B5EF4-FFF2-40B4-BE49-F238E27FC236}">
                      <a16:creationId xmlns:a16="http://schemas.microsoft.com/office/drawing/2014/main" id="{42570288-2EEB-472B-B224-A0F7FC2C73EC}"/>
                    </a:ext>
                  </a:extLst>
                </p:cNvPr>
                <p:cNvGrpSpPr/>
                <p:nvPr/>
              </p:nvGrpSpPr>
              <p:grpSpPr>
                <a:xfrm>
                  <a:off x="7481024" y="3347281"/>
                  <a:ext cx="1728000" cy="2205744"/>
                  <a:chOff x="7481024" y="3347281"/>
                  <a:chExt cx="1728000" cy="2205744"/>
                </a:xfrm>
              </p:grpSpPr>
              <p:cxnSp>
                <p:nvCxnSpPr>
                  <p:cNvPr id="64" name="直接连接符 63">
                    <a:extLst>
                      <a:ext uri="{FF2B5EF4-FFF2-40B4-BE49-F238E27FC236}">
                        <a16:creationId xmlns:a16="http://schemas.microsoft.com/office/drawing/2014/main" id="{4B08BCAF-5D80-45F3-9EC3-8120B0FE664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8684432" y="3347281"/>
                    <a:ext cx="50400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5" name="直接连接符 64">
                    <a:extLst>
                      <a:ext uri="{FF2B5EF4-FFF2-40B4-BE49-F238E27FC236}">
                        <a16:creationId xmlns:a16="http://schemas.microsoft.com/office/drawing/2014/main" id="{3446B31F-589D-4784-9A27-114C19EC11A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9192320" y="3347281"/>
                    <a:ext cx="0" cy="176400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6" name="直接连接符 65">
                    <a:extLst>
                      <a:ext uri="{FF2B5EF4-FFF2-40B4-BE49-F238E27FC236}">
                        <a16:creationId xmlns:a16="http://schemas.microsoft.com/office/drawing/2014/main" id="{F3403160-BB7C-4FC2-96FA-4981EA5E52E2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7481024" y="5120757"/>
                    <a:ext cx="1728000" cy="0"/>
                  </a:xfrm>
                  <a:prstGeom prst="line">
                    <a:avLst/>
                  </a:prstGeom>
                  <a:noFill/>
                  <a:ln w="25400" cap="flat" cmpd="sng" algn="ctr">
                    <a:solidFill>
                      <a:sysClr val="windowText" lastClr="000000"/>
                    </a:solidFill>
                    <a:prstDash val="solid"/>
                  </a:ln>
                  <a:effectLst/>
                </p:spPr>
              </p:cxnSp>
              <p:cxnSp>
                <p:nvCxnSpPr>
                  <p:cNvPr id="67" name="直接箭头连接符 66">
                    <a:extLst>
                      <a:ext uri="{FF2B5EF4-FFF2-40B4-BE49-F238E27FC236}">
                        <a16:creationId xmlns:a16="http://schemas.microsoft.com/office/drawing/2014/main" id="{377E6128-B93E-45E5-A85D-0D18085FB9EA}"/>
                      </a:ext>
                    </a:extLst>
                  </p:cNvPr>
                  <p:cNvCxnSpPr/>
                  <p:nvPr/>
                </p:nvCxnSpPr>
                <p:spPr>
                  <a:xfrm>
                    <a:off x="7494672" y="5107109"/>
                    <a:ext cx="5080" cy="445916"/>
                  </a:xfrm>
                  <a:prstGeom prst="straightConnector1">
                    <a:avLst/>
                  </a:prstGeom>
                  <a:noFill/>
                  <a:ln w="25400" cap="flat" cmpd="sng" algn="ctr">
                    <a:solidFill>
                      <a:sysClr val="windowText" lastClr="000000"/>
                    </a:solidFill>
                    <a:prstDash val="solid"/>
                    <a:tailEnd type="arrow"/>
                  </a:ln>
                  <a:effectLst/>
                </p:spPr>
              </p:cxnSp>
            </p:grpSp>
            <p:sp>
              <p:nvSpPr>
                <p:cNvPr id="63" name="文本框 29">
                  <a:extLst>
                    <a:ext uri="{FF2B5EF4-FFF2-40B4-BE49-F238E27FC236}">
                      <a16:creationId xmlns:a16="http://schemas.microsoft.com/office/drawing/2014/main" id="{109ED831-5F29-4033-8E61-2F3CAD24FF36}"/>
                    </a:ext>
                  </a:extLst>
                </p:cNvPr>
                <p:cNvSpPr txBox="1"/>
                <p:nvPr/>
              </p:nvSpPr>
              <p:spPr>
                <a:xfrm>
                  <a:off x="8593919" y="3022824"/>
                  <a:ext cx="851191" cy="3076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zh-CN" alt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rPr>
                    <a:t>否</a:t>
                  </a:r>
                  <a:r>
                    <a:rPr kumimoji="0" lang="en-US" altLang="zh-CN" sz="1400" b="0" i="0" u="none" strike="noStrike" kern="0" cap="none" spc="0" normalizeH="0" baseline="0" noProof="0" dirty="0" err="1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</a:rPr>
                    <a:t>Flase</a:t>
                  </a:r>
                  <a:endParaRPr kumimoji="0" lang="zh-CN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1522F465-90C2-45F1-9271-59F2901342E7}"/>
                  </a:ext>
                </a:extLst>
              </p:cNvPr>
              <p:cNvSpPr/>
              <p:nvPr/>
            </p:nvSpPr>
            <p:spPr>
              <a:xfrm>
                <a:off x="9099412" y="4804900"/>
                <a:ext cx="900000" cy="360000"/>
              </a:xfrm>
              <a:prstGeom prst="rect">
                <a:avLst/>
              </a:prstGeom>
              <a:solidFill>
                <a:sysClr val="window" lastClr="FFFFFF"/>
              </a:solidFill>
              <a:ln w="2540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dana"/>
                    <a:ea typeface="微软雅黑"/>
                    <a:cs typeface="+mn-cs"/>
                  </a:rPr>
                  <a:t>不吃了</a:t>
                </a:r>
              </a:p>
            </p:txBody>
          </p:sp>
        </p:grp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2706421B-10BA-4BB7-A669-5B063C7F8CED}"/>
                </a:ext>
              </a:extLst>
            </p:cNvPr>
            <p:cNvSpPr/>
            <p:nvPr/>
          </p:nvSpPr>
          <p:spPr>
            <a:xfrm>
              <a:off x="4397939" y="2555947"/>
              <a:ext cx="2509577" cy="2256133"/>
            </a:xfrm>
            <a:prstGeom prst="rect">
              <a:avLst/>
            </a:prstGeom>
            <a:solidFill>
              <a:srgbClr val="FDF0D2">
                <a:alpha val="20000"/>
              </a:srgbClr>
            </a:solidFill>
            <a:ln w="38100" cap="flat" cmpd="sng" algn="ctr">
              <a:solidFill>
                <a:srgbClr val="FF0000"/>
              </a:solidFill>
              <a:prstDash val="sysDot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Verdana"/>
                <a:ea typeface="微软雅黑"/>
                <a:cs typeface="+mn-cs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094" y="1024858"/>
            <a:ext cx="4667250" cy="176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988" y="2856461"/>
            <a:ext cx="2195499" cy="1791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988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【while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循环结构练习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】 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31640" y="2610954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15616" y="4587974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32" y="993221"/>
            <a:ext cx="3363472" cy="1600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79" y="2917659"/>
            <a:ext cx="3222978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1" y="1419622"/>
            <a:ext cx="3347449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文本框 19"/>
          <p:cNvSpPr txBox="1"/>
          <p:nvPr/>
        </p:nvSpPr>
        <p:spPr>
          <a:xfrm>
            <a:off x="5796136" y="3556394"/>
            <a:ext cx="12007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练习</a:t>
            </a:r>
            <a:r>
              <a:rPr lang="en-US" altLang="zh-C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177948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abe5f22-210c-4e34-9a2c-367cfb3d350b}"/>
  <p:tag name="TABLE_ENDDRAG_ORIGIN_RECT" val="646*265"/>
  <p:tag name="TABLE_ENDDRAG_RECT" val="19*94*646*265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231</Words>
  <Application>Microsoft Office PowerPoint</Application>
  <PresentationFormat>全屏显示(16:9)</PresentationFormat>
  <Paragraphs>94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HandelGotDLig</vt:lpstr>
      <vt:lpstr>华文楷体</vt:lpstr>
      <vt:lpstr>微软雅黑</vt:lpstr>
      <vt:lpstr>Arial</vt:lpstr>
      <vt:lpstr>Calibri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388</cp:revision>
  <cp:lastPrinted>2000-12-31T21:09:00Z</cp:lastPrinted>
  <dcterms:created xsi:type="dcterms:W3CDTF">2015-11-10T12:01:00Z</dcterms:created>
  <dcterms:modified xsi:type="dcterms:W3CDTF">2023-11-05T03:24:42Z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D1FFBC4E8C39442C8FA186A137B635C5</vt:lpwstr>
  </property>
  <property fmtid="{D5CDD505-2E9C-101B-9397-08002B2CF9AE}" pid="3" name="KSOProductBuildVer">
    <vt:lpwstr>2052-11.1.0.11115</vt:lpwstr>
  </property>
</Properties>
</file>