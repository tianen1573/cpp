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470" r:id="rId5"/>
    <p:sldId id="504" r:id="rId6"/>
    <p:sldId id="506" r:id="rId7"/>
    <p:sldId id="505" r:id="rId8"/>
    <p:sldId id="507" r:id="rId9"/>
    <p:sldId id="508" r:id="rId10"/>
    <p:sldId id="509" r:id="rId11"/>
    <p:sldId id="518" r:id="rId12"/>
    <p:sldId id="495" r:id="rId13"/>
    <p:sldId id="480" r:id="rId14"/>
    <p:sldId id="492" r:id="rId15"/>
    <p:sldId id="490" r:id="rId16"/>
  </p:sldIdLst>
  <p:sldSz cx="9144000" cy="5143500" type="screen16x9"/>
  <p:notesSz cx="6797675" cy="9925050"/>
  <p:custDataLst>
    <p:tags r:id="rId20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8E18A"/>
    <a:srgbClr val="215F27"/>
    <a:srgbClr val="FF6600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06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312" y="82"/>
      </p:cViewPr>
      <p:guideLst>
        <p:guide orient="horz" pos="162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249456" y="1853411"/>
            <a:ext cx="30733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的嵌套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7281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课前回顾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1081068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上节课学到的</a:t>
            </a:r>
            <a:r>
              <a:rPr lang="zh-CN" altLang="en-US" sz="2000" b="1" dirty="0">
                <a:solidFill>
                  <a:srgbClr val="FF0000"/>
                </a:solidFill>
              </a:rPr>
              <a:t>新的</a:t>
            </a:r>
            <a:r>
              <a:rPr lang="zh-CN" altLang="en-US" sz="1600" b="1" dirty="0">
                <a:latin typeface="+mn-ea"/>
              </a:rPr>
              <a:t>攻击方法是什么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1560" y="2067694"/>
            <a:ext cx="74168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如何判断</a:t>
            </a:r>
            <a:r>
              <a:rPr lang="en-US" altLang="zh-CN" sz="1600" b="1" dirty="0">
                <a:latin typeface="+mn-ea"/>
              </a:rPr>
              <a:t>cleave</a:t>
            </a:r>
            <a:r>
              <a:rPr lang="zh-CN" altLang="en-US" sz="1600" b="1" dirty="0">
                <a:latin typeface="+mn-ea"/>
              </a:rPr>
              <a:t>方法是否准备好？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1560" y="2928860"/>
            <a:ext cx="83529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请完成下列语句 判断是否有敌人存在，如果有，尽可能多的释放</a:t>
            </a:r>
            <a:r>
              <a:rPr lang="en-US" altLang="zh-CN" sz="1600" b="1" dirty="0">
                <a:latin typeface="+mn-ea"/>
              </a:rPr>
              <a:t>cleave</a:t>
            </a:r>
            <a:r>
              <a:rPr lang="zh-CN" altLang="en-US" sz="1600" b="1" dirty="0">
                <a:latin typeface="+mn-ea"/>
              </a:rPr>
              <a:t>技能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186186" y="3267414"/>
            <a:ext cx="47716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demon = </a:t>
            </a:r>
            <a:r>
              <a:rPr lang="en-US" altLang="zh-CN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mayuan.findNearestEnemy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()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if demon: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06560" y="1537821"/>
            <a:ext cx="27899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accent1"/>
                </a:solidFill>
              </a:rPr>
              <a:t>mayuan.cleave</a:t>
            </a:r>
            <a:r>
              <a:rPr lang="en-US" altLang="zh-CN" sz="1600" b="1" dirty="0">
                <a:solidFill>
                  <a:schemeClr val="accent1"/>
                </a:solidFill>
              </a:rPr>
              <a:t>(demon)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43608" y="2501483"/>
            <a:ext cx="5328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if</a:t>
            </a:r>
            <a:r>
              <a:rPr lang="en-US" altLang="zh-CN" sz="1600" b="1" dirty="0">
                <a:solidFill>
                  <a:schemeClr val="accent1"/>
                </a:solidFill>
              </a:rPr>
              <a:t> mayuan.isReady(</a:t>
            </a:r>
            <a:r>
              <a:rPr lang="zh-CN" altLang="en-US" sz="1600" b="1" dirty="0">
                <a:solidFill>
                  <a:schemeClr val="accent1"/>
                </a:solidFill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</a:rPr>
              <a:t>cleave</a:t>
            </a:r>
            <a:r>
              <a:rPr lang="zh-CN" altLang="en-US" sz="1600" b="1" dirty="0">
                <a:solidFill>
                  <a:schemeClr val="accent1"/>
                </a:solidFill>
              </a:rPr>
              <a:t>”</a:t>
            </a:r>
            <a:r>
              <a:rPr lang="en-US" altLang="zh-CN" sz="1600" b="1" dirty="0">
                <a:solidFill>
                  <a:schemeClr val="accent1"/>
                </a:solidFill>
              </a:rPr>
              <a:t>)</a:t>
            </a:r>
            <a:r>
              <a:rPr lang="zh-CN" altLang="en-US" sz="1800" b="1" dirty="0"/>
              <a:t>：</a:t>
            </a:r>
            <a:endParaRPr lang="en-US" altLang="zh-CN" sz="1800" b="1" dirty="0"/>
          </a:p>
        </p:txBody>
      </p:sp>
      <p:sp>
        <p:nvSpPr>
          <p:cNvPr id="12" name="矩形 11"/>
          <p:cNvSpPr/>
          <p:nvPr/>
        </p:nvSpPr>
        <p:spPr>
          <a:xfrm>
            <a:off x="2186186" y="3818268"/>
            <a:ext cx="477162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   if </a:t>
            </a:r>
            <a:r>
              <a:rPr lang="en-US" altLang="zh-CN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mayuan.isReady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(“cleave”):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       </a:t>
            </a:r>
            <a:r>
              <a:rPr lang="en-US" altLang="zh-CN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mayuan.cleave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(demon)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   else: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       </a:t>
            </a:r>
            <a:r>
              <a:rPr lang="en-US" altLang="zh-CN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mayuan.attack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(demon)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       </a:t>
            </a:r>
            <a:r>
              <a:rPr lang="en-US" altLang="zh-CN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mayuan.attack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(demon)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1" grpId="0"/>
      <p:bldP spid="24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805688" y="1853411"/>
            <a:ext cx="19608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sz="2800" b="1" dirty="0"/>
              <a:t>多分支语句</a:t>
            </a:r>
            <a:endParaRPr lang="zh-CN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多分支语句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982980"/>
            <a:ext cx="32296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elif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：否则如果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59430" y="1596390"/>
            <a:ext cx="557085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1800"/>
              <a:t>在一些情况下，我们的选择不止两种选择，对于这种超出两种选择的情况，就需要使用多分支语句。</a:t>
            </a:r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755650" y="1707515"/>
            <a:ext cx="2183130" cy="31896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多分支语句格式：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判断条件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1: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执行语句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elif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判断条件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2: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执行语句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elif ……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else: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执行语句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59430" y="3796030"/>
            <a:ext cx="51155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这个省略号代表有多少种分支，就多写几个</a:t>
            </a:r>
            <a:r>
              <a:rPr lang="en-US" altLang="zh-CN" sz="1600"/>
              <a:t>elif</a:t>
            </a:r>
            <a:r>
              <a:rPr lang="zh-CN" altLang="en-US" sz="1600"/>
              <a:t>语句。</a:t>
            </a:r>
            <a:endParaRPr lang="zh-CN" altLang="en-US" sz="1600"/>
          </a:p>
        </p:txBody>
      </p:sp>
      <p:sp>
        <p:nvSpPr>
          <p:cNvPr id="11" name="左箭头 10"/>
          <p:cNvSpPr/>
          <p:nvPr/>
        </p:nvSpPr>
        <p:spPr>
          <a:xfrm>
            <a:off x="1907540" y="3940175"/>
            <a:ext cx="1151890" cy="75565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多分支语句练习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1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943610"/>
            <a:ext cx="4211320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7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动物园卖票，根据身高来确定票价。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身高小于等于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，免票。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身高小于等于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，半票。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身高大于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之后，全票。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9520" y="1707515"/>
            <a:ext cx="4980305" cy="2637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多分支语句练习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2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943610"/>
            <a:ext cx="4601210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7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期末出成绩，输入语数英成绩决定评价。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将三门课的成绩相加，如果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总成绩大于等于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，优秀。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总成绩大于等于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，良好。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总成绩大于等于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，合格。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总成绩小于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之后，不合格。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090" y="987425"/>
            <a:ext cx="3470275" cy="4024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分支语句嵌套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59430" y="1094105"/>
            <a:ext cx="5570855" cy="1252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800"/>
              <a:t>分支语句嵌套的作用是为了应对，在某些情况下，</a:t>
            </a:r>
            <a:endParaRPr lang="zh-CN" altLang="en-US" sz="1800"/>
          </a:p>
          <a:p>
            <a:pPr>
              <a:lnSpc>
                <a:spcPct val="140000"/>
              </a:lnSpc>
            </a:pPr>
            <a:r>
              <a:rPr lang="zh-CN" altLang="en-US" sz="1800"/>
              <a:t>我们需要满足两个条件，才能执行内容的情况。</a:t>
            </a:r>
            <a:endParaRPr lang="zh-CN" altLang="en-US" sz="1800"/>
          </a:p>
          <a:p>
            <a:pPr>
              <a:lnSpc>
                <a:spcPct val="140000"/>
              </a:lnSpc>
            </a:pPr>
            <a:r>
              <a:rPr lang="zh-CN" altLang="en-US" sz="1800"/>
              <a:t>如账号密码都正确了，才能够登录成功。</a:t>
            </a:r>
            <a:endParaRPr lang="en-US" altLang="zh-CN" sz="1800"/>
          </a:p>
        </p:txBody>
      </p:sp>
      <p:sp>
        <p:nvSpPr>
          <p:cNvPr id="9" name="文本框 8"/>
          <p:cNvSpPr txBox="1"/>
          <p:nvPr/>
        </p:nvSpPr>
        <p:spPr>
          <a:xfrm>
            <a:off x="661670" y="987425"/>
            <a:ext cx="2183130" cy="31896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分支语句嵌套格式：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判断条件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1: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if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判断条件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2: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执行语句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else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执行语句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else: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执行语句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分支语句嵌套练习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1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937895"/>
            <a:ext cx="6991350" cy="28022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模拟登录账号的情况，只有输入正确的账号和密码才能登录。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账号：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123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密码：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456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账号密码都正确，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输出登录成功。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账号密码有错误，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输出登录失败。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21000" y="1552575"/>
            <a:ext cx="4157345" cy="342709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21000" y="2284095"/>
            <a:ext cx="4224655" cy="2651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10" grpId="1" animBg="1"/>
      <p:bldP spid="10" grpId="2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分支语句嵌套练习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2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937895"/>
            <a:ext cx="6991350" cy="8655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模拟检测视力测试，左眼、右眼的视力都要超过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视力。这样才能通过检测。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7205" y="1564005"/>
            <a:ext cx="4422140" cy="333502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59430" y="2284095"/>
            <a:ext cx="4452620" cy="2520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10" grpId="1" animBg="1"/>
      <p:bldP spid="10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616576" y="1853411"/>
            <a:ext cx="23391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/>
              <a:t>检测距离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检测距离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627784" y="3725173"/>
            <a:ext cx="3960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D=</a:t>
            </a:r>
            <a:r>
              <a:rPr lang="en-US" altLang="zh-CN" sz="2000" b="1" dirty="0" err="1">
                <a:solidFill>
                  <a:schemeClr val="accent1"/>
                </a:solidFill>
              </a:rPr>
              <a:t>mayuan.distanceTo</a:t>
            </a:r>
            <a:r>
              <a:rPr lang="en-US" altLang="zh-CN" sz="2000" b="1" dirty="0">
                <a:solidFill>
                  <a:schemeClr val="accent1"/>
                </a:solidFill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demon</a:t>
            </a:r>
            <a:r>
              <a:rPr lang="en-US" altLang="zh-CN" sz="2000" b="1" dirty="0">
                <a:solidFill>
                  <a:schemeClr val="accent1"/>
                </a:solidFill>
              </a:rPr>
              <a:t>)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8224" y="1091520"/>
            <a:ext cx="1308796" cy="14020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44" y="1305880"/>
            <a:ext cx="1150456" cy="1283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左大括号 8"/>
          <p:cNvSpPr/>
          <p:nvPr/>
        </p:nvSpPr>
        <p:spPr>
          <a:xfrm rot="16200000">
            <a:off x="4319972" y="852407"/>
            <a:ext cx="504056" cy="3960440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419872" y="3174082"/>
            <a:ext cx="273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距离（</a:t>
            </a:r>
            <a:r>
              <a:rPr lang="en-US" altLang="zh-CN" sz="2400" b="1" dirty="0"/>
              <a:t>distance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26" name="矩形 25"/>
          <p:cNvSpPr/>
          <p:nvPr/>
        </p:nvSpPr>
        <p:spPr>
          <a:xfrm>
            <a:off x="6660232" y="2787774"/>
            <a:ext cx="13087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demon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20" grpId="0"/>
      <p:bldP spid="9" grpId="0" animBg="1"/>
      <p:bldP spid="25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检测距离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483768" y="2139702"/>
            <a:ext cx="3960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D=</a:t>
            </a:r>
            <a:r>
              <a:rPr lang="en-US" altLang="zh-CN" sz="2000" b="1" dirty="0" err="1">
                <a:solidFill>
                  <a:schemeClr val="accent1"/>
                </a:solidFill>
              </a:rPr>
              <a:t>mayuan.distanceTo</a:t>
            </a:r>
            <a:r>
              <a:rPr lang="en-US" altLang="zh-CN" sz="2000" b="1" dirty="0">
                <a:solidFill>
                  <a:schemeClr val="accent1"/>
                </a:solidFill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demon</a:t>
            </a:r>
            <a:r>
              <a:rPr lang="en-US" altLang="zh-CN" sz="2000" b="1" dirty="0">
                <a:solidFill>
                  <a:schemeClr val="accent1"/>
                </a:solidFill>
              </a:rPr>
              <a:t>)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483768" y="2740013"/>
            <a:ext cx="39604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if D &lt; 5: 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r>
              <a:rPr lang="en-US" altLang="zh-CN" sz="2000" b="1" dirty="0">
                <a:solidFill>
                  <a:schemeClr val="accent1"/>
                </a:solidFill>
              </a:rPr>
              <a:t>    </a:t>
            </a:r>
            <a:r>
              <a:rPr lang="en-US" altLang="zh-CN" sz="2000" b="1" dirty="0" err="1">
                <a:solidFill>
                  <a:schemeClr val="accent1"/>
                </a:solidFill>
              </a:rPr>
              <a:t>mayuan.attack</a:t>
            </a:r>
            <a:r>
              <a:rPr lang="en-US" altLang="zh-CN" sz="2000" b="1" dirty="0">
                <a:solidFill>
                  <a:schemeClr val="accent1"/>
                </a:solidFill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demon</a:t>
            </a:r>
            <a:r>
              <a:rPr lang="en-US" altLang="zh-CN" sz="2000" b="1" dirty="0">
                <a:solidFill>
                  <a:schemeClr val="accent1"/>
                </a:solidFill>
              </a:rPr>
              <a:t>)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endParaRPr lang="en-US" altLang="zh-CN" sz="2000" b="1" dirty="0">
              <a:solidFill>
                <a:schemeClr val="accent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03648" y="1315455"/>
            <a:ext cx="6408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</a:rPr>
              <a:t>如果码猿和敌人之间的</a:t>
            </a:r>
            <a:r>
              <a:rPr lang="zh-CN" altLang="en-US" sz="2000" b="1" dirty="0">
                <a:solidFill>
                  <a:srgbClr val="FF0000"/>
                </a:solidFill>
              </a:rPr>
              <a:t>距离</a:t>
            </a:r>
            <a:r>
              <a:rPr lang="zh-CN" altLang="en-US" sz="2000" b="1" dirty="0">
                <a:solidFill>
                  <a:schemeClr val="accent1"/>
                </a:solidFill>
              </a:rPr>
              <a:t>小于</a:t>
            </a:r>
            <a:r>
              <a:rPr lang="en-US" altLang="zh-CN" sz="2000" b="1" dirty="0">
                <a:solidFill>
                  <a:srgbClr val="FF0000"/>
                </a:solidFill>
              </a:rPr>
              <a:t>5</a:t>
            </a:r>
            <a:r>
              <a:rPr lang="zh-CN" altLang="en-US" sz="2000" b="1" dirty="0">
                <a:solidFill>
                  <a:schemeClr val="accent1"/>
                </a:solidFill>
              </a:rPr>
              <a:t>，码猿攻击敌人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63843" y="2192546"/>
            <a:ext cx="34163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打怪升级啦！！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036" y="462818"/>
            <a:ext cx="1150456" cy="1283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7605,&quot;width&quot;:9225}"/>
</p:tagLst>
</file>

<file path=ppt/tags/tag2.xml><?xml version="1.0" encoding="utf-8"?>
<p:tagLst xmlns:p="http://schemas.openxmlformats.org/presentationml/2006/main">
  <p:tag name="ISPRING_RESOURCE_PATHS_HASH_PRESENTER" val="76ce7ccbcda6cf12636bdb4ab607c4c83d474"/>
  <p:tag name="COMMONDATA" val="eyJoZGlkIjoiNzE1MTRiZGNmZGQyODMxZWY5ZTk1Nzk2OTA5ZmQ2YzIifQ=="/>
  <p:tag name="KSO_WPP_MARK_KEY" val="324cc839-ced9-4872-9012-593207c6fada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WPS 演示</Application>
  <PresentationFormat>全屏显示(16:9)</PresentationFormat>
  <Paragraphs>131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HandelGotDLig</vt:lpstr>
      <vt:lpstr>汉真广标</vt:lpstr>
      <vt:lpstr>微软雅黑</vt:lpstr>
      <vt:lpstr>Impact</vt:lpstr>
      <vt:lpstr>Times New Roman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564</cp:revision>
  <cp:lastPrinted>2000-12-31T21:09:00Z</cp:lastPrinted>
  <dcterms:created xsi:type="dcterms:W3CDTF">2015-11-10T12:01:00Z</dcterms:created>
  <dcterms:modified xsi:type="dcterms:W3CDTF">2022-10-17T07:35:32Z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882A42CB5DD7485CA24037AE8048804D</vt:lpwstr>
  </property>
  <property fmtid="{D5CDD505-2E9C-101B-9397-08002B2CF9AE}" pid="3" name="KSOProductBuildVer">
    <vt:lpwstr>2052-11.1.0.12598</vt:lpwstr>
  </property>
</Properties>
</file>