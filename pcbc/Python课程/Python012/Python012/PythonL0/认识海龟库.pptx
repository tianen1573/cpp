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7" r:id="rId2"/>
    <p:sldId id="27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>
          <p15:clr>
            <a:srgbClr val="A4A3A4"/>
          </p15:clr>
        </p15:guide>
        <p15:guide id="2" pos="382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62"/>
      </p:cViewPr>
      <p:guideLst>
        <p:guide orient="horz" pos="2174"/>
        <p:guide pos="38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12-25T10:47: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4663 5581,'25'0,"0"0,0 0,-1 0,1 0,0 0,0 0,0 0,0 0,-1 0,1 0,0 0,-25-25</inkml:trace>
  <inkml:trace contextRef="#ctx0" brushRef="#br0">6648 5556,'24'0,"1"0,0 0,0 0,0 0,-1 25,1-25,0 0,0 0</inkml:trace>
  <inkml:trace contextRef="#ctx0" brushRef="#br0">7541 5531,'0'25,"24"-25,1 0,0 0,0 0,0 0,-1 0,1 0,0 0,0 0,0 0,-1 0,1 0,0 0</inkml:trace>
  <inkml:trace contextRef="#ctx0" brushRef="#br0">11956 4093,'0'25,"0"-1,0 1,0 0,0 0,0 0,0-1,0 1,0 0,0 0,0 0,0-1,0 1,0 0,0 25,0-26,0 1,0 0,0 0,0 0,0-1,0 1,0 0,0 0,25 0,-25-1,0 1,0 0,0 0,24-25,-24 25,25-25,-25 25,25-1,-25 1,25-25,-25 25,25-25,-1 0,-48 0,24-25,0 0,0 1,0-1,0 0,-25 0,25 0,-25 25</inkml:trace>
  <inkml:trace contextRef="#ctx0" brushRef="#br0">12328 4663,'0'-25,"25"25,0 0,-1 0,-24-24,0-1,25 0,-25 0,0 0,-25 1,1-1,24 50,0 24,0-24,0 0,0 0,0-1,0 1,0 0,0 0,0 0,24-25,-24 24,25-24,0 0,-25 25,25-25,-25 25</inkml:trace>
  <inkml:trace contextRef="#ctx0" brushRef="#br0">12427 4663,'25'0,"0"0,0 0,-1 0,1-25,0 25,0-24,0 24,-1 0,-24-25,25 25,-25-25,25 25,-25-25,0 0,0 1,0-1,-25 25,25-25,-25 0,1 25,24-25,-25 25,0 0,0 0,25 25,0 0,-25-25,1 25,-1 24,25-24,0 0,0 0,0 0,0-1,0 26,0-25,0 0,0-1,0 1,0 0,25 0,-1 0,-24 0,25-25,-25 24,25 1,0-25,0 0,-1 0,-24 25,25-25</inkml:trace>
  <inkml:trace contextRef="#ctx0" brushRef="#br0">13767 3696,'-25'0,"0"0,-25 0,26 25,-1-25,0 0,25 49,-50-49,50 25,-24 0,24 0,-25 0,0-1,-25 175,26-174,24 24,-25-24,0 149,25-150,0 1,0 0,0 25,0-1,0-24,0 25,0 49,0-74,0 24,0-24,0 25,0-25,0-1,0 51,-50 123,50-173,-24 74,24-74,-25 49,25-49,0 0,-25 25,25 24,-50 25,50-49,0-25,-25-1,1 1,24 0,-25-25,25 25,-25-25,0 0,0 0,25-25,-24 0</inkml:trace>
  <inkml:trace contextRef="#ctx0" brushRef="#br0">13072 4564,'0'-25,"25"25,0 0,-1 0,1 0,0 0,0 0,0 0,0 0,-1 0,1 0,0 0,0 0,0 0,-1 0,1 0,0 0,0 0,0 0</inkml:trace>
  <inkml:trace contextRef="#ctx0" brushRef="#br0">14188 3919,'0'25,"0"25,0-1,0 1,0-1,0 1,-25 0,1-1,24-24,-25 49,25-49,-25 25,25-25,-25-1,25 26,0-25,0 0,-25-1,25 1,0 0,0 0,0 24,0-24,0 0,0 0,0 0,0 0,0-1,0 1,25 25,0-25,0-1,0 1,-25 0,24-25,-24-25,-24 25,24-25,0 1</inkml:trace>
  <inkml:trace contextRef="#ctx0" brushRef="#br0">13841 4539,'25'0,"0"25,-1-25,1 0,0 0,0 0,0 0,-1 0,1 0,0 0,0 0,0 0,-1 0,1 0,0 0,0 0,0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12-25T11:03: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6424 12229,'25'0,"0"0,25 0,-1 0,-24 0,0 0,0 0,-1 0,1 0,25 0,-25 0,24 0,-24 0,25-25,-25 25,-1 0,1 0,0 0,0 0,0 0,-1 0,1 0,0 0,0 0,0 0,-1 0,1 0,0 0,-25 25</inkml:trace>
  <inkml:trace contextRef="#ctx0" brushRef="#br0">9004 13122,'25'0,"25"24,-1-24,1 0,-1 25,1-25,0 0,-1 0,-24 0,25 0,-26 0,1 0</inkml:trace>
  <inkml:trace contextRef="#ctx0" brushRef="#br0">8855 14089,'25'0,"0"25,0-25,24 25,1-1,-25-24,0 0,49 0,-49 0,0 0,-1 0,1 0,0 0,0 0</inkml:trace>
  <inkml:trace contextRef="#ctx0" brushRef="#br0">8731 13618,'-223'124,"124"-75,24-49,51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1-12-25T11:06: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1141 10542,'25'0,"0"0,49 25,0 24,75 1,-50-25,50 0,-25-25,0 24,-49 1,-1-25,-24 0,-25 0,-1 0,1 0,0 0,0 0,49 0,-24 0,24 0,1 0,-26 0,-24 0,25 0,-25 0,-1 0,1 0,25 0,-1 0,-24 0,0 0,0 0,24 0,1 0,-25 0,24 0,51-25,321-24,-297 24,-74 25,-25-25,0 25,24 0,26-25,-51 25,100-24,75-1,-174 25,24 0,26 0,-26-25,-24 25,25-25,-1 25,26 0,-26 0,1 0,49-25,-74 25,0 0,-25-24,49 24,1-25,74 25,-74 0,-1 0,1-25,198 0,-223 0,24 25,-24 0,25 0,-1 0,1 0,-25 0,0 0,-1 0,1 0,0 0,0 0,0 0,-1 0,1 0,0 0,0 0,0 0</inkml:trace>
  <inkml:trace contextRef="#ctx0" brushRef="#br0">4713 10666,'-25'0,"0"0,0 0,25 25,-49 0,-1-1,25 1,25 0,-24-25,-1 25,0 0,-25-1,26 1,-1 0,0-25,25 25,50-25,-26-25,1 25,50-50,-26 50,-24-24,49-1,-49 0,0 0,0 25,0 0,-1 0,1 0,25 0,-25-25,0 25,-1 0,1 0,0 0,0 0,-25-24,0-1,-25 25,0 0,25-25,-25 25,1-25,-1 25,0-25,0 25,25-24,-25-1</inkml:trace>
  <inkml:trace contextRef="#ctx0" brushRef="#br0">9699 16669,'-25'0,"0"0,-25 25,26-25,-26 0,50 24,-50-24,1 25,-1-25,25 25,1 0,-1-25,0 0,0 0,0 0,1 25,-1-1,-50-24,51 25,-1 0,-25 0,25-25,0 0,1 25,-1-25,-25 0,25 24,1 1,-1-25,-25 25,1 0,24-25,25 25,-25-25,0 0,0 0,25 24,-24 1,-1-25,0 0,25 25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871423" y="5015719"/>
            <a:ext cx="576064" cy="476611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1" name="矩形 10"/>
          <p:cNvSpPr/>
          <p:nvPr/>
        </p:nvSpPr>
        <p:spPr>
          <a:xfrm>
            <a:off x="7406804" y="5015719"/>
            <a:ext cx="576064" cy="50372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2" name="矩形 11"/>
          <p:cNvSpPr/>
          <p:nvPr/>
        </p:nvSpPr>
        <p:spPr>
          <a:xfrm>
            <a:off x="4221423" y="5015719"/>
            <a:ext cx="576064" cy="50372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3" name="矩形 14"/>
          <p:cNvSpPr/>
          <p:nvPr/>
        </p:nvSpPr>
        <p:spPr>
          <a:xfrm>
            <a:off x="7176" y="5091440"/>
            <a:ext cx="12192000" cy="176656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4" name="组合 13"/>
          <p:cNvGrpSpPr/>
          <p:nvPr/>
        </p:nvGrpSpPr>
        <p:grpSpPr>
          <a:xfrm>
            <a:off x="2927648" y="4666227"/>
            <a:ext cx="1594784" cy="1613460"/>
            <a:chOff x="2195736" y="3408895"/>
            <a:chExt cx="1196088" cy="1210095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2288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335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4662024" y="4666227"/>
            <a:ext cx="1388776" cy="1613460"/>
            <a:chOff x="3496518" y="3408895"/>
            <a:chExt cx="1041582" cy="1210095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2288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335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6291113" y="4666227"/>
            <a:ext cx="1284071" cy="1613460"/>
            <a:chOff x="4718335" y="3408895"/>
            <a:chExt cx="963053" cy="1210095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2288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335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7920203" y="4666227"/>
            <a:ext cx="1284071" cy="1613460"/>
            <a:chOff x="5940152" y="3408895"/>
            <a:chExt cx="963053" cy="1210095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121920" tIns="60960" rIns="121920" bIns="60960" numCol="1" anchor="t" anchorCtr="0" compatLnSpc="1">
                  <a:flatTx/>
                </a:bodyPr>
                <a:lstStyle/>
                <a:p>
                  <a:endParaRPr lang="zh-CN" altLang="en-US" sz="2400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121920" tIns="60960" rIns="121920" bIns="60960" numCol="1" anchor="t" anchorCtr="0" compatLnSpc="1">
                  <a:flatTx/>
                </a:bodyPr>
                <a:lstStyle/>
                <a:p>
                  <a:endParaRPr lang="zh-CN" altLang="en-US" sz="2400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121920" tIns="60960" rIns="121920" bIns="60960" numCol="1" anchor="t" anchorCtr="0" compatLnSpc="1">
                  <a:flatTx/>
                </a:bodyPr>
                <a:lstStyle/>
                <a:p>
                  <a:endParaRPr lang="zh-CN" altLang="en-US" sz="2400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2288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335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1300612" y="1412776"/>
            <a:ext cx="5166609" cy="960967"/>
          </a:xfrm>
          <a:prstGeom prst="rect">
            <a:avLst/>
          </a:prstGeom>
        </p:spPr>
        <p:txBody>
          <a:bodyPr vert="horz" lIns="91428" tIns="45713" rIns="91428" bIns="45713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Python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语言程序设计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1300612" y="2372883"/>
            <a:ext cx="100839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4199583" y="2923395"/>
            <a:ext cx="3792855" cy="6661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735" b="1" dirty="0">
                <a:latin typeface="微软雅黑" panose="020B0503020204020204" charset="-122"/>
                <a:ea typeface="微软雅黑" panose="020B0503020204020204" charset="-122"/>
              </a:rPr>
              <a:t>Python</a:t>
            </a:r>
            <a:r>
              <a:rPr lang="zh-CN" altLang="en-US" sz="3735" b="1" dirty="0">
                <a:latin typeface="微软雅黑" panose="020B0503020204020204" charset="-122"/>
                <a:ea typeface="微软雅黑" panose="020B0503020204020204" charset="-122"/>
              </a:rPr>
              <a:t>：海龟库</a:t>
            </a:r>
            <a:endParaRPr lang="zh-CN" altLang="en-US" sz="3735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911424" y="452669"/>
            <a:ext cx="5568619" cy="614045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r>
              <a:rPr lang="zh-CN" sz="3200" b="1" kern="0" dirty="0">
                <a:solidFill>
                  <a:prstClr val="black"/>
                </a:solidFill>
                <a:latin typeface="微软雅黑" panose="020B0503020204020204" charset="-122"/>
                <a:cs typeface="+mn-ea"/>
                <a:sym typeface="+mn-lt"/>
              </a:rPr>
              <a:t>什么是海龟库？</a:t>
            </a:r>
          </a:p>
        </p:txBody>
      </p:sp>
      <p:sp>
        <p:nvSpPr>
          <p:cNvPr id="5" name="矩形 4"/>
          <p:cNvSpPr/>
          <p:nvPr/>
        </p:nvSpPr>
        <p:spPr>
          <a:xfrm>
            <a:off x="239349" y="637693"/>
            <a:ext cx="480053" cy="480053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1424" y="1188424"/>
            <a:ext cx="100839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473724" y="824531"/>
            <a:ext cx="408404" cy="4084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82227" y="1412240"/>
            <a:ext cx="4048760" cy="4246880"/>
            <a:chOff x="1042" y="1668"/>
            <a:chExt cx="4782" cy="5016"/>
          </a:xfrm>
        </p:grpSpPr>
        <p:pic>
          <p:nvPicPr>
            <p:cNvPr id="100" name="图片 99"/>
            <p:cNvPicPr/>
            <p:nvPr>
              <p:custDataLst>
                <p:tags r:id="rId1"/>
              </p:custDataLst>
            </p:nvPr>
          </p:nvPicPr>
          <p:blipFill>
            <a:blip r:embed="rId3"/>
            <a:srcRect r="18606"/>
            <a:stretch>
              <a:fillRect/>
            </a:stretch>
          </p:blipFill>
          <p:spPr>
            <a:xfrm>
              <a:off x="1042" y="1668"/>
              <a:ext cx="4782" cy="401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文本框 2"/>
            <p:cNvSpPr txBox="1"/>
            <p:nvPr/>
          </p:nvSpPr>
          <p:spPr>
            <a:xfrm>
              <a:off x="2210" y="6091"/>
              <a:ext cx="3117" cy="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65"/>
                <a:t>是这只海龟吗？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388187" y="1412240"/>
            <a:ext cx="2683933" cy="4246880"/>
            <a:chOff x="6364" y="1668"/>
            <a:chExt cx="3170" cy="5016"/>
          </a:xfrm>
        </p:grpSpPr>
        <p:pic>
          <p:nvPicPr>
            <p:cNvPr id="101" name="图片 100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6633" y="1668"/>
              <a:ext cx="2901" cy="412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" name="文本框 10"/>
            <p:cNvSpPr txBox="1"/>
            <p:nvPr/>
          </p:nvSpPr>
          <p:spPr>
            <a:xfrm>
              <a:off x="6364" y="6091"/>
              <a:ext cx="3020" cy="593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sz="2665">
                  <a:sym typeface="+mn-ea"/>
                </a:rPr>
                <a:t>还是这只海龟？</a:t>
              </a:r>
              <a:endParaRPr lang="zh-CN" altLang="en-US" sz="2665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8880687" y="1604433"/>
            <a:ext cx="2217420" cy="4054687"/>
            <a:chOff x="10489" y="1895"/>
            <a:chExt cx="2619" cy="4789"/>
          </a:xfrm>
        </p:grpSpPr>
        <p:grpSp>
          <p:nvGrpSpPr>
            <p:cNvPr id="14" name="组合 13"/>
            <p:cNvGrpSpPr/>
            <p:nvPr/>
          </p:nvGrpSpPr>
          <p:grpSpPr>
            <a:xfrm>
              <a:off x="10602" y="1895"/>
              <a:ext cx="2311" cy="2101"/>
              <a:chOff x="10602" y="2008"/>
              <a:chExt cx="2311" cy="2101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10602" y="2008"/>
                <a:ext cx="2311" cy="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265">
                    <a:latin typeface="微软雅黑" panose="020B0503020204020204" charset="-122"/>
                    <a:ea typeface="微软雅黑" panose="020B0503020204020204" charset="-122"/>
                  </a:rPr>
                  <a:t>turtle</a:t>
                </a:r>
              </a:p>
            </p:txBody>
          </p:sp>
          <p:pic>
            <p:nvPicPr>
              <p:cNvPr id="13" name="图片 1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56" y="2927"/>
                <a:ext cx="1094" cy="1182"/>
              </a:xfrm>
              <a:prstGeom prst="rect">
                <a:avLst/>
              </a:prstGeom>
            </p:spPr>
          </p:pic>
        </p:grpSp>
        <p:sp>
          <p:nvSpPr>
            <p:cNvPr id="15" name="文本框 14"/>
            <p:cNvSpPr txBox="1"/>
            <p:nvPr/>
          </p:nvSpPr>
          <p:spPr>
            <a:xfrm>
              <a:off x="10489" y="6091"/>
              <a:ext cx="2619" cy="5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zh-CN" sz="2665">
                  <a:solidFill>
                    <a:srgbClr val="FF0000"/>
                  </a:solidFill>
                </a:rPr>
                <a:t>是这一只海龟</a:t>
              </a:r>
            </a:p>
          </p:txBody>
        </p:sp>
        <p:cxnSp>
          <p:nvCxnSpPr>
            <p:cNvPr id="16" name="直接箭头连接符 15"/>
            <p:cNvCxnSpPr/>
            <p:nvPr/>
          </p:nvCxnSpPr>
          <p:spPr>
            <a:xfrm flipH="1" flipV="1">
              <a:off x="11623" y="4163"/>
              <a:ext cx="64" cy="175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911424" y="452669"/>
            <a:ext cx="1469456" cy="614045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2159563" y="452669"/>
            <a:ext cx="5568619" cy="614045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r>
              <a:rPr lang="en-US" altLang="zh-CN" sz="3200" b="1" kern="0" dirty="0">
                <a:solidFill>
                  <a:prstClr val="black"/>
                </a:solidFill>
                <a:latin typeface="微软雅黑" panose="020B0503020204020204" charset="-122"/>
                <a:cs typeface="+mn-ea"/>
                <a:sym typeface="+mn-lt"/>
              </a:rPr>
              <a:t>【</a:t>
            </a:r>
            <a:r>
              <a:rPr lang="zh-CN" altLang="en-US" sz="3200" b="1" kern="0" dirty="0">
                <a:solidFill>
                  <a:prstClr val="black"/>
                </a:solidFill>
                <a:latin typeface="微软雅黑" panose="020B0503020204020204" charset="-122"/>
                <a:cs typeface="+mn-ea"/>
                <a:sym typeface="+mn-lt"/>
              </a:rPr>
              <a:t>模块及导入</a:t>
            </a:r>
            <a:r>
              <a:rPr lang="en-US" altLang="zh-CN" sz="3200" b="1" kern="0" dirty="0">
                <a:solidFill>
                  <a:prstClr val="black"/>
                </a:solidFill>
                <a:latin typeface="微软雅黑" panose="020B050302020402020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239349" y="637693"/>
            <a:ext cx="480053" cy="480053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1424" y="1188424"/>
            <a:ext cx="100839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473724" y="824531"/>
            <a:ext cx="408404" cy="4084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pic>
        <p:nvPicPr>
          <p:cNvPr id="10" name="图片 9" descr="C:/Users/ADMINI~1/AppData/Local/Temp/kaimatting/20201021160032/output_aiMatting_20201021160222.pngoutput_aiMatting_20201021160222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7F7F7">
                  <a:alpha val="100000"/>
                </a:srgbClr>
              </a:clrFrom>
              <a:clrTo>
                <a:srgbClr val="F7F7F7">
                  <a:alpha val="100000"/>
                  <a:alpha val="0"/>
                </a:srgbClr>
              </a:clrTo>
            </a:clrChange>
          </a:blip>
          <a:srcRect l="-1100" t="-837" r="-885" b="-1033"/>
          <a:stretch>
            <a:fillRect/>
          </a:stretch>
        </p:blipFill>
        <p:spPr>
          <a:xfrm>
            <a:off x="719402" y="1399689"/>
            <a:ext cx="5064760" cy="2977515"/>
          </a:xfrm>
          <a:prstGeom prst="rect">
            <a:avLst/>
          </a:prstGeom>
        </p:spPr>
      </p:pic>
      <p:sp>
        <p:nvSpPr>
          <p:cNvPr id="11" name="文本框 4"/>
          <p:cNvSpPr txBox="1"/>
          <p:nvPr/>
        </p:nvSpPr>
        <p:spPr>
          <a:xfrm>
            <a:off x="2166567" y="3458994"/>
            <a:ext cx="1816100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40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模块</a:t>
            </a:r>
          </a:p>
        </p:txBody>
      </p:sp>
      <p:sp>
        <p:nvSpPr>
          <p:cNvPr id="12" name="文本框 10"/>
          <p:cNvSpPr txBox="1"/>
          <p:nvPr/>
        </p:nvSpPr>
        <p:spPr>
          <a:xfrm>
            <a:off x="6161892" y="2304115"/>
            <a:ext cx="5635662" cy="14773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5"/>
                </a:solidFill>
                <a:latin typeface="+mj-ea"/>
                <a:ea typeface="+mj-ea"/>
                <a:cs typeface="+mj-ea"/>
              </a:rPr>
              <a:t>模块</a:t>
            </a:r>
            <a:r>
              <a:rPr lang="zh-CN" altLang="en-US" sz="2000" dirty="0">
                <a:latin typeface="+mj-ea"/>
                <a:ea typeface="+mj-ea"/>
                <a:cs typeface="+mj-ea"/>
              </a:rPr>
              <a:t>是一个保存了Python代码的文件（</a:t>
            </a:r>
            <a:r>
              <a:rPr lang="en-US" altLang="zh-CN" sz="2000" dirty="0">
                <a:latin typeface="+mj-ea"/>
                <a:ea typeface="+mj-ea"/>
                <a:cs typeface="+mj-ea"/>
              </a:rPr>
              <a:t>.</a:t>
            </a:r>
            <a:r>
              <a:rPr lang="en-US" altLang="zh-CN" sz="2000" dirty="0" err="1">
                <a:latin typeface="+mj-ea"/>
                <a:ea typeface="+mj-ea"/>
                <a:cs typeface="+mj-ea"/>
              </a:rPr>
              <a:t>py</a:t>
            </a:r>
            <a:r>
              <a:rPr lang="zh-CN" altLang="en-US" sz="2000" dirty="0">
                <a:latin typeface="+mj-ea"/>
                <a:ea typeface="+mj-ea"/>
                <a:cs typeface="+mj-ea"/>
              </a:rPr>
              <a:t>）。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5"/>
                </a:solidFill>
                <a:latin typeface="+mj-ea"/>
                <a:ea typeface="+mj-ea"/>
                <a:cs typeface="+mj-ea"/>
              </a:rPr>
              <a:t>模块</a:t>
            </a:r>
            <a:r>
              <a:rPr lang="zh-CN" altLang="en-US" sz="2000" dirty="0">
                <a:latin typeface="+mj-ea"/>
                <a:ea typeface="+mj-ea"/>
                <a:cs typeface="+mj-ea"/>
              </a:rPr>
              <a:t>能定义函数，类和变量，也能包含可执行的代码。</a:t>
            </a:r>
          </a:p>
        </p:txBody>
      </p:sp>
      <p:sp>
        <p:nvSpPr>
          <p:cNvPr id="14" name="文本框 2"/>
          <p:cNvSpPr txBox="1"/>
          <p:nvPr/>
        </p:nvSpPr>
        <p:spPr>
          <a:xfrm>
            <a:off x="3564292" y="4623995"/>
            <a:ext cx="3483610" cy="39878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+mj-ea"/>
                <a:ea typeface="+mj-ea"/>
                <a:cs typeface="+mj-ea"/>
              </a:rPr>
              <a:t>import &lt;</a:t>
            </a:r>
            <a:r>
              <a:rPr lang="zh-CN" altLang="en-US" sz="2000" dirty="0">
                <a:latin typeface="+mj-ea"/>
                <a:ea typeface="+mj-ea"/>
                <a:cs typeface="+mj-ea"/>
              </a:rPr>
              <a:t>模块</a:t>
            </a:r>
            <a:r>
              <a:rPr lang="en-US" altLang="zh-CN" sz="2000" dirty="0">
                <a:latin typeface="+mj-ea"/>
                <a:ea typeface="+mj-ea"/>
                <a:cs typeface="+mj-ea"/>
              </a:rPr>
              <a:t>&gt; [as &lt;</a:t>
            </a:r>
            <a:r>
              <a:rPr lang="zh-CN" altLang="en-US" sz="2000" dirty="0">
                <a:latin typeface="+mj-ea"/>
                <a:ea typeface="+mj-ea"/>
                <a:cs typeface="+mj-ea"/>
              </a:rPr>
              <a:t>别名</a:t>
            </a:r>
            <a:r>
              <a:rPr lang="en-US" altLang="zh-CN" sz="2000" dirty="0">
                <a:latin typeface="+mj-ea"/>
                <a:ea typeface="+mj-ea"/>
                <a:cs typeface="+mj-ea"/>
              </a:rPr>
              <a:t>&gt;] </a:t>
            </a:r>
          </a:p>
        </p:txBody>
      </p:sp>
      <p:sp>
        <p:nvSpPr>
          <p:cNvPr id="16" name="文本框 9"/>
          <p:cNvSpPr txBox="1"/>
          <p:nvPr/>
        </p:nvSpPr>
        <p:spPr>
          <a:xfrm>
            <a:off x="3622077" y="5206925"/>
            <a:ext cx="279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&gt;&gt;&gt;</a:t>
            </a:r>
            <a:r>
              <a:rPr lang="en-US" altLang="zh-CN" dirty="0">
                <a:solidFill>
                  <a:srgbClr val="7030A0"/>
                </a:solidFill>
              </a:rPr>
              <a:t> </a:t>
            </a:r>
            <a:r>
              <a:rPr lang="zh-CN" altLang="en-US" dirty="0">
                <a:solidFill>
                  <a:srgbClr val="FF760B"/>
                </a:solidFill>
              </a:rPr>
              <a:t>import</a:t>
            </a:r>
            <a:r>
              <a:rPr lang="en-US" altLang="zh-CN" dirty="0"/>
              <a:t> math</a:t>
            </a:r>
          </a:p>
          <a:p>
            <a:r>
              <a:rPr lang="en-US" altLang="zh-CN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&gt;&gt;&gt;</a:t>
            </a:r>
            <a:r>
              <a:rPr lang="en-US" altLang="zh-CN" dirty="0">
                <a:solidFill>
                  <a:srgbClr val="7030A0"/>
                </a:solidFill>
              </a:rPr>
              <a:t> </a:t>
            </a:r>
            <a:r>
              <a:rPr lang="en-US" altLang="zh-CN" dirty="0" err="1"/>
              <a:t>math.sqrt</a:t>
            </a:r>
            <a:r>
              <a:rPr lang="en-US" altLang="zh-CN" dirty="0"/>
              <a:t>(2)</a:t>
            </a:r>
          </a:p>
          <a:p>
            <a:r>
              <a:rPr lang="en-US" altLang="zh-CN" dirty="0">
                <a:solidFill>
                  <a:srgbClr val="0204FF"/>
                </a:solidFill>
              </a:rPr>
              <a:t>1.4142135623730951</a:t>
            </a:r>
          </a:p>
        </p:txBody>
      </p:sp>
      <p:sp>
        <p:nvSpPr>
          <p:cNvPr id="17" name="文本框 10"/>
          <p:cNvSpPr txBox="1"/>
          <p:nvPr/>
        </p:nvSpPr>
        <p:spPr>
          <a:xfrm>
            <a:off x="6650392" y="5206925"/>
            <a:ext cx="27946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&gt;&gt;&gt;</a:t>
            </a:r>
            <a:r>
              <a:rPr lang="en-US" altLang="zh-CN" dirty="0">
                <a:solidFill>
                  <a:srgbClr val="7030A0"/>
                </a:solidFill>
              </a:rPr>
              <a:t> </a:t>
            </a:r>
            <a:r>
              <a:rPr lang="zh-CN" altLang="en-US" dirty="0">
                <a:solidFill>
                  <a:srgbClr val="FF760B"/>
                </a:solidFill>
              </a:rPr>
              <a:t>import</a:t>
            </a:r>
            <a:r>
              <a:rPr lang="en-US" altLang="zh-CN" dirty="0"/>
              <a:t> math </a:t>
            </a:r>
            <a:r>
              <a:rPr lang="zh-CN" altLang="en-US" dirty="0">
                <a:solidFill>
                  <a:srgbClr val="FF760B"/>
                </a:solidFill>
              </a:rPr>
              <a:t>as</a:t>
            </a:r>
            <a:r>
              <a:rPr lang="en-US" altLang="zh-CN" dirty="0"/>
              <a:t> m</a:t>
            </a:r>
          </a:p>
          <a:p>
            <a:r>
              <a:rPr lang="en-US" altLang="zh-CN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&gt;&gt;&gt;</a:t>
            </a:r>
            <a:r>
              <a:rPr lang="en-US" altLang="zh-CN" dirty="0">
                <a:solidFill>
                  <a:srgbClr val="7030A0"/>
                </a:solidFill>
              </a:rPr>
              <a:t> </a:t>
            </a:r>
            <a:r>
              <a:rPr lang="en-US" altLang="zh-CN" dirty="0" err="1"/>
              <a:t>m.sqrt</a:t>
            </a:r>
            <a:r>
              <a:rPr lang="en-US" altLang="zh-CN" dirty="0"/>
              <a:t>(2)</a:t>
            </a:r>
          </a:p>
          <a:p>
            <a:r>
              <a:rPr lang="en-US" altLang="zh-CN" dirty="0">
                <a:solidFill>
                  <a:srgbClr val="0204FF"/>
                </a:solidFill>
              </a:rPr>
              <a:t>1.4142135623730951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1" animBg="1"/>
      <p:bldP spid="14" grpId="2" animBg="1"/>
      <p:bldP spid="16" grpId="1"/>
      <p:bldP spid="16" grpId="2"/>
      <p:bldP spid="17" grpId="1"/>
      <p:bldP spid="17" grpId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911424" y="452669"/>
            <a:ext cx="1469456" cy="614045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2159563" y="452669"/>
            <a:ext cx="5568619" cy="614045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r>
              <a:rPr lang="en-US" altLang="zh-CN" sz="3200" b="1" kern="0" dirty="0">
                <a:solidFill>
                  <a:prstClr val="black"/>
                </a:solidFill>
                <a:latin typeface="微软雅黑" panose="020B0503020204020204" charset="-122"/>
                <a:cs typeface="+mn-ea"/>
                <a:sym typeface="+mn-lt"/>
              </a:rPr>
              <a:t>【</a:t>
            </a:r>
            <a:r>
              <a:rPr lang="zh-CN" altLang="en-US" sz="3200" b="1" kern="0" dirty="0">
                <a:solidFill>
                  <a:prstClr val="black"/>
                </a:solidFill>
                <a:latin typeface="微软雅黑" panose="020B0503020204020204" charset="-122"/>
                <a:cs typeface="+mn-ea"/>
                <a:sym typeface="+mn-lt"/>
              </a:rPr>
              <a:t>绘制一个圆形</a:t>
            </a:r>
            <a:r>
              <a:rPr lang="en-US" altLang="zh-CN" sz="3200" b="1" kern="0" dirty="0">
                <a:solidFill>
                  <a:prstClr val="black"/>
                </a:solidFill>
                <a:latin typeface="微软雅黑" panose="020B050302020402020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239349" y="637693"/>
            <a:ext cx="480053" cy="480053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1424" y="1188424"/>
            <a:ext cx="100839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473724" y="824531"/>
            <a:ext cx="408404" cy="4084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22071" t="10472" r="23701" b="32658"/>
          <a:stretch>
            <a:fillRect/>
          </a:stretch>
        </p:blipFill>
        <p:spPr>
          <a:xfrm>
            <a:off x="7148830" y="1415415"/>
            <a:ext cx="3846830" cy="33420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82015" y="1474470"/>
            <a:ext cx="6675120" cy="131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/>
              <a:t>import turtle as t</a:t>
            </a:r>
            <a:r>
              <a:rPr lang="en-US" altLang="zh-CN" sz="2800" dirty="0"/>
              <a:t>	</a:t>
            </a:r>
            <a:r>
              <a:rPr lang="zh-CN" altLang="en-US" dirty="0">
                <a:solidFill>
                  <a:srgbClr val="00B0F0"/>
                </a:solidFill>
              </a:rPr>
              <a:t>召唤海龟先生，给它取一个外号叫做</a:t>
            </a:r>
            <a:r>
              <a:rPr lang="en-US" altLang="zh-CN" dirty="0">
                <a:solidFill>
                  <a:srgbClr val="00B0F0"/>
                </a:solidFill>
              </a:rPr>
              <a:t>t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sz="2800" dirty="0" err="1"/>
              <a:t>t.circle</a:t>
            </a:r>
            <a:r>
              <a:rPr lang="en-US" altLang="zh-CN" sz="2800" dirty="0"/>
              <a:t>(30)		</a:t>
            </a:r>
            <a:r>
              <a:rPr lang="zh-CN" altLang="en-US" dirty="0">
                <a:solidFill>
                  <a:srgbClr val="00B0F0"/>
                </a:solidFill>
              </a:rPr>
              <a:t>让海龟先生画一个半径为</a:t>
            </a:r>
            <a:r>
              <a:rPr lang="en-US" altLang="zh-CN" dirty="0">
                <a:solidFill>
                  <a:srgbClr val="00B0F0"/>
                </a:solidFill>
              </a:rPr>
              <a:t>30px</a:t>
            </a:r>
            <a:r>
              <a:rPr lang="zh-CN" altLang="en-US" dirty="0">
                <a:solidFill>
                  <a:srgbClr val="00B0F0"/>
                </a:solidFill>
              </a:rPr>
              <a:t>的圆</a:t>
            </a:r>
          </a:p>
        </p:txBody>
      </p:sp>
      <p:sp>
        <p:nvSpPr>
          <p:cNvPr id="10" name="矩形标注 9"/>
          <p:cNvSpPr/>
          <p:nvPr/>
        </p:nvSpPr>
        <p:spPr>
          <a:xfrm>
            <a:off x="919480" y="3677285"/>
            <a:ext cx="4044315" cy="1791970"/>
          </a:xfrm>
          <a:prstGeom prst="wedgeRect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911424" y="452669"/>
            <a:ext cx="1469456" cy="614045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2159563" y="452669"/>
            <a:ext cx="5568619" cy="614045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r>
              <a:rPr lang="en-US" altLang="zh-CN" sz="3200" b="1" kern="0" dirty="0">
                <a:solidFill>
                  <a:prstClr val="black"/>
                </a:solidFill>
                <a:latin typeface="微软雅黑" panose="020B0503020204020204" charset="-122"/>
                <a:cs typeface="+mn-ea"/>
                <a:sym typeface="+mn-lt"/>
              </a:rPr>
              <a:t>【</a:t>
            </a:r>
            <a:r>
              <a:rPr lang="zh-CN" altLang="en-US" sz="3200" b="1" kern="0" dirty="0">
                <a:solidFill>
                  <a:prstClr val="black"/>
                </a:solidFill>
                <a:latin typeface="微软雅黑" panose="020B0503020204020204" charset="-122"/>
                <a:cs typeface="+mn-ea"/>
                <a:sym typeface="+mn-lt"/>
              </a:rPr>
              <a:t>绘制多个圆形</a:t>
            </a:r>
            <a:r>
              <a:rPr lang="en-US" altLang="zh-CN" sz="3200" b="1" kern="0" dirty="0">
                <a:solidFill>
                  <a:prstClr val="black"/>
                </a:solidFill>
                <a:latin typeface="微软雅黑" panose="020B050302020402020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239349" y="637693"/>
            <a:ext cx="480053" cy="480053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1424" y="1188424"/>
            <a:ext cx="100839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473724" y="824531"/>
            <a:ext cx="408404" cy="4084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010" y="1723390"/>
            <a:ext cx="5424805" cy="449389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39395" y="1972310"/>
            <a:ext cx="391795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import turtle as t</a:t>
            </a:r>
          </a:p>
          <a:p>
            <a:endParaRPr lang="en-US" altLang="zh-CN" sz="4000" dirty="0"/>
          </a:p>
          <a:p>
            <a:r>
              <a:rPr lang="en-US" altLang="zh-CN" sz="4000" dirty="0" err="1"/>
              <a:t>t.circle</a:t>
            </a:r>
            <a:r>
              <a:rPr lang="en-US" altLang="zh-CN" sz="4000" dirty="0"/>
              <a:t>(30)</a:t>
            </a:r>
          </a:p>
          <a:p>
            <a:r>
              <a:rPr lang="en-US" altLang="zh-CN" sz="4000" dirty="0" err="1"/>
              <a:t>t.circle</a:t>
            </a:r>
            <a:r>
              <a:rPr lang="en-US" altLang="zh-CN" sz="4000" dirty="0"/>
              <a:t>(30)</a:t>
            </a:r>
          </a:p>
          <a:p>
            <a:r>
              <a:rPr lang="en-US" altLang="zh-CN" sz="4000" dirty="0" err="1"/>
              <a:t>t.circle</a:t>
            </a:r>
            <a:r>
              <a:rPr lang="en-US" altLang="zh-CN" sz="4000" dirty="0"/>
              <a:t>(30)</a:t>
            </a:r>
          </a:p>
          <a:p>
            <a:r>
              <a:rPr lang="en-US" altLang="zh-CN" sz="4000" dirty="0" err="1"/>
              <a:t>t.circle</a:t>
            </a:r>
            <a:r>
              <a:rPr lang="en-US" altLang="zh-CN" sz="4000" dirty="0"/>
              <a:t>(30)</a:t>
            </a:r>
          </a:p>
        </p:txBody>
      </p:sp>
      <p:sp>
        <p:nvSpPr>
          <p:cNvPr id="2" name="矩形标注 1"/>
          <p:cNvSpPr/>
          <p:nvPr/>
        </p:nvSpPr>
        <p:spPr>
          <a:xfrm>
            <a:off x="3535045" y="3475990"/>
            <a:ext cx="2817495" cy="1485265"/>
          </a:xfrm>
          <a:prstGeom prst="wedgeRectCallou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894455" y="3757295"/>
            <a:ext cx="20986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我们会发现所有的圆都重叠了，那怎么办呢？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911424" y="452669"/>
            <a:ext cx="1469456" cy="614045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2159563" y="452669"/>
            <a:ext cx="5568619" cy="614045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r>
              <a:rPr lang="en-US" altLang="zh-CN" sz="3200" b="1" kern="0" dirty="0">
                <a:solidFill>
                  <a:prstClr val="black"/>
                </a:solidFill>
                <a:latin typeface="微软雅黑" panose="020B0503020204020204" charset="-122"/>
                <a:cs typeface="+mn-ea"/>
                <a:sym typeface="+mn-lt"/>
              </a:rPr>
              <a:t>【</a:t>
            </a:r>
            <a:r>
              <a:rPr lang="zh-CN" altLang="en-US" sz="3200" b="1" kern="0" dirty="0">
                <a:solidFill>
                  <a:prstClr val="black"/>
                </a:solidFill>
                <a:latin typeface="微软雅黑" panose="020B0503020204020204" charset="-122"/>
                <a:cs typeface="+mn-ea"/>
                <a:sym typeface="+mn-lt"/>
              </a:rPr>
              <a:t>改变画笔的方向</a:t>
            </a:r>
            <a:r>
              <a:rPr lang="en-US" altLang="zh-CN" sz="3200" b="1" kern="0" dirty="0">
                <a:solidFill>
                  <a:prstClr val="black"/>
                </a:solidFill>
                <a:latin typeface="微软雅黑" panose="020B050302020402020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239349" y="637693"/>
            <a:ext cx="480053" cy="480053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1424" y="1188424"/>
            <a:ext cx="100839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473724" y="824531"/>
            <a:ext cx="408404" cy="4084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86355" y="1607820"/>
            <a:ext cx="5981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/>
              <a:t>是否能改变海龟先生的方向？</a:t>
            </a:r>
          </a:p>
        </p:txBody>
      </p:sp>
      <p:sp>
        <p:nvSpPr>
          <p:cNvPr id="13" name="文本框 12"/>
          <p:cNvSpPr txBox="1"/>
          <p:nvPr/>
        </p:nvSpPr>
        <p:spPr>
          <a:xfrm rot="5400000">
            <a:off x="2468245" y="3238500"/>
            <a:ext cx="355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➤</a:t>
            </a:r>
          </a:p>
        </p:txBody>
      </p:sp>
      <p:sp>
        <p:nvSpPr>
          <p:cNvPr id="14" name="文本框 13"/>
          <p:cNvSpPr txBox="1"/>
          <p:nvPr/>
        </p:nvSpPr>
        <p:spPr>
          <a:xfrm rot="10800000">
            <a:off x="4109720" y="3244850"/>
            <a:ext cx="355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➤</a:t>
            </a:r>
          </a:p>
        </p:txBody>
      </p:sp>
      <p:sp>
        <p:nvSpPr>
          <p:cNvPr id="15" name="文本框 14"/>
          <p:cNvSpPr txBox="1"/>
          <p:nvPr/>
        </p:nvSpPr>
        <p:spPr>
          <a:xfrm rot="16200000">
            <a:off x="5918200" y="3251200"/>
            <a:ext cx="355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➤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366000" y="3238500"/>
            <a:ext cx="355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➤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254760" y="4243070"/>
            <a:ext cx="465772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import turtle as t</a:t>
            </a:r>
          </a:p>
          <a:p>
            <a:endParaRPr lang="en-US" altLang="zh-CN" sz="2000" dirty="0"/>
          </a:p>
          <a:p>
            <a:r>
              <a:rPr lang="en-US" altLang="zh-CN" sz="2000" dirty="0" err="1"/>
              <a:t>t.left</a:t>
            </a:r>
            <a:r>
              <a:rPr lang="en-US" altLang="zh-CN" sz="2000" dirty="0"/>
              <a:t>(90)		</a:t>
            </a:r>
            <a:r>
              <a:rPr lang="en-US" altLang="zh-CN" sz="2000" dirty="0">
                <a:solidFill>
                  <a:srgbClr val="00B0F0"/>
                </a:solidFill>
              </a:rPr>
              <a:t>←</a:t>
            </a:r>
            <a:r>
              <a:rPr lang="zh-CN" altLang="en-US" sz="2000" dirty="0">
                <a:solidFill>
                  <a:srgbClr val="00B0F0"/>
                </a:solidFill>
              </a:rPr>
              <a:t>海龟先生，向左转！</a:t>
            </a:r>
            <a:endParaRPr lang="en-US" altLang="zh-CN" sz="2000" dirty="0">
              <a:solidFill>
                <a:srgbClr val="00B0F0"/>
              </a:solidFill>
            </a:endParaRPr>
          </a:p>
          <a:p>
            <a:r>
              <a:rPr lang="en-US" altLang="zh-CN" sz="2000" dirty="0" err="1"/>
              <a:t>t.right</a:t>
            </a:r>
            <a:r>
              <a:rPr lang="en-US" altLang="zh-CN" sz="2000" dirty="0"/>
              <a:t>(90)	</a:t>
            </a:r>
            <a:r>
              <a:rPr lang="en-US" altLang="zh-CN" sz="2000" dirty="0">
                <a:solidFill>
                  <a:srgbClr val="00B0F0"/>
                </a:solidFill>
              </a:rPr>
              <a:t>←</a:t>
            </a:r>
            <a:r>
              <a:rPr lang="zh-CN" altLang="en-US" sz="2000" dirty="0">
                <a:solidFill>
                  <a:srgbClr val="00B0F0"/>
                </a:solidFill>
              </a:rPr>
              <a:t>海龟先生，向右转！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0" y="3743325"/>
            <a:ext cx="4991100" cy="3114675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700" y="4243069"/>
            <a:ext cx="1562100" cy="1928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911424" y="452669"/>
            <a:ext cx="1469456" cy="614045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2159563" y="452669"/>
            <a:ext cx="6699211" cy="615553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r>
              <a:rPr lang="en-US" altLang="zh-CN" sz="3200" b="1" kern="0" dirty="0">
                <a:solidFill>
                  <a:prstClr val="black"/>
                </a:solidFill>
                <a:latin typeface="微软雅黑" panose="020B0503020204020204" charset="-122"/>
                <a:cs typeface="+mn-ea"/>
                <a:sym typeface="+mn-lt"/>
              </a:rPr>
              <a:t>【</a:t>
            </a:r>
            <a:r>
              <a:rPr lang="zh-CN" altLang="en-US" sz="3200" b="1" kern="0" dirty="0">
                <a:solidFill>
                  <a:prstClr val="black"/>
                </a:solidFill>
                <a:latin typeface="微软雅黑" panose="020B0503020204020204" charset="-122"/>
                <a:cs typeface="+mn-ea"/>
                <a:sym typeface="+mn-lt"/>
              </a:rPr>
              <a:t>爱的魔力转圈圈：绘制多个圆形</a:t>
            </a:r>
            <a:r>
              <a:rPr lang="en-US" altLang="zh-CN" sz="3200" b="1" kern="0" dirty="0">
                <a:solidFill>
                  <a:prstClr val="black"/>
                </a:solidFill>
                <a:latin typeface="微软雅黑" panose="020B050302020402020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239349" y="637693"/>
            <a:ext cx="480053" cy="480053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1424" y="1188424"/>
            <a:ext cx="100839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473724" y="824531"/>
            <a:ext cx="408404" cy="4084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9455" y="1646555"/>
            <a:ext cx="3229610" cy="4892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/>
              <a:t>import turtle as t</a:t>
            </a:r>
          </a:p>
          <a:p>
            <a:endParaRPr lang="zh-CN" altLang="en-US" sz="2400" dirty="0"/>
          </a:p>
          <a:p>
            <a:r>
              <a:rPr lang="zh-CN" altLang="en-US" sz="2400" dirty="0"/>
              <a:t>t.circle(</a:t>
            </a:r>
            <a:r>
              <a:rPr lang="en-US" altLang="zh-CN" sz="2400" dirty="0"/>
              <a:t>30</a:t>
            </a:r>
            <a:r>
              <a:rPr lang="zh-CN" altLang="en-US" sz="2400" dirty="0"/>
              <a:t>)</a:t>
            </a:r>
          </a:p>
          <a:p>
            <a:r>
              <a:rPr lang="zh-CN" altLang="en-US" sz="2400" dirty="0"/>
              <a:t>t.right(90)</a:t>
            </a:r>
          </a:p>
          <a:p>
            <a:endParaRPr lang="zh-CN" altLang="en-US" sz="2400" dirty="0"/>
          </a:p>
          <a:p>
            <a:r>
              <a:rPr lang="zh-CN" altLang="en-US" sz="2400" dirty="0"/>
              <a:t>t.circle(</a:t>
            </a:r>
            <a:r>
              <a:rPr lang="en-US" altLang="zh-CN" sz="2400" dirty="0"/>
              <a:t>30</a:t>
            </a:r>
            <a:r>
              <a:rPr lang="zh-CN" altLang="en-US" sz="2400" dirty="0"/>
              <a:t>)</a:t>
            </a:r>
          </a:p>
          <a:p>
            <a:r>
              <a:rPr lang="zh-CN" altLang="en-US" sz="2400" dirty="0"/>
              <a:t>t.right(90)</a:t>
            </a:r>
          </a:p>
          <a:p>
            <a:endParaRPr lang="zh-CN" altLang="en-US" sz="2400" dirty="0"/>
          </a:p>
          <a:p>
            <a:r>
              <a:rPr lang="zh-CN" altLang="en-US" sz="2400" dirty="0"/>
              <a:t>t.circle(</a:t>
            </a:r>
            <a:r>
              <a:rPr lang="en-US" altLang="zh-CN" sz="2400" dirty="0"/>
              <a:t>30</a:t>
            </a:r>
            <a:r>
              <a:rPr lang="zh-CN" altLang="en-US" sz="2400" dirty="0"/>
              <a:t>)</a:t>
            </a:r>
          </a:p>
          <a:p>
            <a:r>
              <a:rPr lang="zh-CN" altLang="en-US" sz="2400" dirty="0"/>
              <a:t>t.right(90)</a:t>
            </a:r>
          </a:p>
          <a:p>
            <a:endParaRPr lang="zh-CN" altLang="en-US" sz="2400" dirty="0"/>
          </a:p>
          <a:p>
            <a:r>
              <a:rPr lang="zh-CN" altLang="en-US" sz="2400" dirty="0"/>
              <a:t>t.circle(</a:t>
            </a:r>
            <a:r>
              <a:rPr lang="en-US" altLang="zh-CN" sz="2400" dirty="0"/>
              <a:t>30</a:t>
            </a:r>
            <a:r>
              <a:rPr lang="zh-CN" altLang="en-US" sz="2400" dirty="0"/>
              <a:t>)</a:t>
            </a:r>
          </a:p>
          <a:p>
            <a:r>
              <a:rPr lang="zh-CN" altLang="en-US" sz="2400" dirty="0"/>
              <a:t>t.right(90)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27810"/>
            <a:ext cx="5694680" cy="4880610"/>
          </a:xfrm>
          <a:prstGeom prst="rect">
            <a:avLst/>
          </a:prstGeom>
        </p:spPr>
      </p:pic>
      <p:sp>
        <p:nvSpPr>
          <p:cNvPr id="13" name="矩形标注 12"/>
          <p:cNvSpPr/>
          <p:nvPr/>
        </p:nvSpPr>
        <p:spPr>
          <a:xfrm>
            <a:off x="2759710" y="3351530"/>
            <a:ext cx="2942590" cy="1485265"/>
          </a:xfrm>
          <a:prstGeom prst="wedgeRectCallou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272790" y="3771900"/>
            <a:ext cx="1917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这样好像很罗嗦，有没有别的办法？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1293" y="589340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1502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/>
              <p14:cNvContentPartPr/>
              <p14:nvPr/>
            </p14:nvContentPartPr>
            <p14:xfrm>
              <a:off x="1678680" y="1330560"/>
              <a:ext cx="3456360" cy="77724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4"/>
            </p:blipFill>
            <p:spPr>
              <a:xfrm>
                <a:off x="1678680" y="1330560"/>
                <a:ext cx="3456360" cy="777240"/>
              </a:xfrm>
              <a:prstGeom prst="rect"/>
            </p:spPr>
          </p:pic>
        </mc:Fallback>
      </mc:AlternateContent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2994" y="434602"/>
            <a:ext cx="2927686" cy="2389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animBg="1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911224" y="503555"/>
            <a:ext cx="4843623" cy="615553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爱的魔力转圈圈</a:t>
            </a:r>
            <a:r>
              <a:rPr lang="en-US" altLang="zh-CN" sz="32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2.0</a:t>
            </a:r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版本</a:t>
            </a:r>
          </a:p>
        </p:txBody>
      </p:sp>
      <p:sp>
        <p:nvSpPr>
          <p:cNvPr id="5" name="矩形 4"/>
          <p:cNvSpPr/>
          <p:nvPr/>
        </p:nvSpPr>
        <p:spPr>
          <a:xfrm>
            <a:off x="239349" y="637693"/>
            <a:ext cx="480053" cy="480053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1424" y="1188424"/>
            <a:ext cx="100839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473724" y="824531"/>
            <a:ext cx="408404" cy="4084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56030" y="3275965"/>
            <a:ext cx="4700270" cy="3416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/>
              <a:t>import turtle as t</a:t>
            </a:r>
          </a:p>
          <a:p>
            <a:endParaRPr lang="en-US" altLang="zh-CN" sz="2400" dirty="0"/>
          </a:p>
          <a:p>
            <a:r>
              <a:rPr lang="en-US" altLang="zh-CN" sz="2400" dirty="0"/>
              <a:t>i=0</a:t>
            </a:r>
            <a:endParaRPr lang="zh-CN" altLang="en-US" sz="2400" dirty="0"/>
          </a:p>
          <a:p>
            <a:r>
              <a:rPr lang="en-US" altLang="zh-CN" sz="2400" dirty="0"/>
              <a:t>while i&lt;4:	</a:t>
            </a:r>
            <a:r>
              <a:rPr lang="en-US" altLang="zh-CN" sz="2400" dirty="0">
                <a:solidFill>
                  <a:srgbClr val="FF0000"/>
                </a:solidFill>
              </a:rPr>
              <a:t>#</a:t>
            </a:r>
            <a:r>
              <a:rPr lang="zh-CN" altLang="en-US" sz="2400" dirty="0">
                <a:solidFill>
                  <a:srgbClr val="FF0000"/>
                </a:solidFill>
              </a:rPr>
              <a:t>循环语句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t.circle</a:t>
            </a:r>
            <a:r>
              <a:rPr lang="en-US" altLang="zh-CN" sz="2400" dirty="0"/>
              <a:t>(30)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t.right</a:t>
            </a:r>
            <a:r>
              <a:rPr lang="en-US" altLang="zh-CN" sz="2400" dirty="0"/>
              <a:t>(90)</a:t>
            </a:r>
          </a:p>
          <a:p>
            <a:r>
              <a:rPr lang="en-US" altLang="zh-CN" sz="2400" dirty="0"/>
              <a:t>	i=i+1</a:t>
            </a:r>
            <a:endParaRPr lang="zh-CN" altLang="en-US" sz="2400" dirty="0"/>
          </a:p>
          <a:p>
            <a:endParaRPr lang="zh-CN" altLang="en-US" sz="2400" dirty="0"/>
          </a:p>
          <a:p>
            <a:endParaRPr lang="zh-CN" altLang="en-US" sz="24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935" y="3099435"/>
            <a:ext cx="4276090" cy="34239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954530" y="1703070"/>
            <a:ext cx="80035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/>
              <a:t>使用循环语句让电脑帮我们完成重复的工作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3422" y="5952490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1503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911225" y="503555"/>
            <a:ext cx="4935220" cy="615553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爱的魔力转圈圈</a:t>
            </a:r>
            <a:r>
              <a:rPr lang="en-US" altLang="zh-CN" sz="32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3.0</a:t>
            </a:r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版本</a:t>
            </a:r>
          </a:p>
        </p:txBody>
      </p:sp>
      <p:sp>
        <p:nvSpPr>
          <p:cNvPr id="5" name="矩形 4"/>
          <p:cNvSpPr/>
          <p:nvPr/>
        </p:nvSpPr>
        <p:spPr>
          <a:xfrm>
            <a:off x="239349" y="637693"/>
            <a:ext cx="480053" cy="480053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1424" y="1188424"/>
            <a:ext cx="100839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473724" y="824531"/>
            <a:ext cx="408404" cy="4084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56030" y="3275965"/>
            <a:ext cx="4590415" cy="30469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/>
              <a:t>import turtle as t</a:t>
            </a:r>
          </a:p>
          <a:p>
            <a:r>
              <a:rPr lang="en-US" altLang="zh-CN" sz="2400" dirty="0"/>
              <a:t>i=0</a:t>
            </a:r>
            <a:endParaRPr lang="zh-CN" altLang="en-US" sz="2400" dirty="0"/>
          </a:p>
          <a:p>
            <a:r>
              <a:rPr lang="en-US" altLang="zh-CN" sz="2400" dirty="0"/>
              <a:t>while i&lt;50:	</a:t>
            </a:r>
            <a:r>
              <a:rPr lang="en-US" altLang="zh-CN" sz="2400" dirty="0">
                <a:solidFill>
                  <a:srgbClr val="FF0000"/>
                </a:solidFill>
              </a:rPr>
              <a:t>#</a:t>
            </a:r>
            <a:r>
              <a:rPr lang="zh-CN" altLang="en-US" sz="2400" dirty="0">
                <a:solidFill>
                  <a:srgbClr val="FF0000"/>
                </a:solidFill>
              </a:rPr>
              <a:t>循环语句</a:t>
            </a:r>
            <a:endParaRPr lang="en-US" altLang="zh-CN" sz="2400" dirty="0"/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t.circle</a:t>
            </a:r>
            <a:r>
              <a:rPr lang="en-US" altLang="zh-CN" sz="2400" dirty="0"/>
              <a:t>(30)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t.right</a:t>
            </a:r>
            <a:r>
              <a:rPr lang="en-US" altLang="zh-CN" sz="2400" dirty="0"/>
              <a:t>(91)</a:t>
            </a:r>
          </a:p>
          <a:p>
            <a:r>
              <a:rPr lang="en-US" altLang="zh-CN" sz="2400" dirty="0"/>
              <a:t>	i=i+1</a:t>
            </a:r>
            <a:endParaRPr lang="zh-CN" altLang="en-US" sz="2400" dirty="0"/>
          </a:p>
          <a:p>
            <a:endParaRPr lang="zh-CN" altLang="en-US" sz="2400" dirty="0"/>
          </a:p>
          <a:p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1951355" y="1664335"/>
            <a:ext cx="80035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/>
              <a:t>如果让海龟先生每次多旋转一度会怎么样？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110" y="2698115"/>
            <a:ext cx="4187190" cy="38322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26092" y="558315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1504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/>
              <p14:cNvContentPartPr/>
              <p14:nvPr/>
            </p14:nvContentPartPr>
            <p14:xfrm>
              <a:off x="2312640" y="4393440"/>
              <a:ext cx="1107720" cy="70560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4"/>
            </p:blipFill>
            <p:spPr>
              <a:xfrm>
                <a:off x="2312640" y="4393440"/>
                <a:ext cx="1107720" cy="705600"/>
              </a:xfrm>
              <a:prstGeom prst="rect"/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911224" y="503555"/>
            <a:ext cx="5184775" cy="615553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爱的魔力转圈圈</a:t>
            </a:r>
            <a:r>
              <a:rPr lang="en-US" altLang="zh-CN" sz="32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4.0</a:t>
            </a:r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版本</a:t>
            </a:r>
          </a:p>
        </p:txBody>
      </p:sp>
      <p:sp>
        <p:nvSpPr>
          <p:cNvPr id="5" name="矩形 4"/>
          <p:cNvSpPr/>
          <p:nvPr/>
        </p:nvSpPr>
        <p:spPr>
          <a:xfrm>
            <a:off x="239349" y="637693"/>
            <a:ext cx="480053" cy="480053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1424" y="1188424"/>
            <a:ext cx="100839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473724" y="824531"/>
            <a:ext cx="408404" cy="4084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9090" y="2661584"/>
            <a:ext cx="4590415" cy="37856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/>
              <a:t>import turtle as t</a:t>
            </a:r>
          </a:p>
          <a:p>
            <a:endParaRPr lang="zh-CN" altLang="en-US" sz="2400" dirty="0"/>
          </a:p>
          <a:p>
            <a:r>
              <a:rPr lang="en-US" altLang="zh-CN" sz="2400" dirty="0" err="1"/>
              <a:t>t.color</a:t>
            </a:r>
            <a:r>
              <a:rPr lang="en-US" altLang="zh-CN" sz="2400" dirty="0"/>
              <a:t>('blue')</a:t>
            </a:r>
          </a:p>
          <a:p>
            <a:r>
              <a:rPr lang="en-US" altLang="zh-CN" sz="2400" dirty="0"/>
              <a:t>i=0</a:t>
            </a:r>
            <a:endParaRPr lang="zh-CN" altLang="en-US" sz="2400" dirty="0"/>
          </a:p>
          <a:p>
            <a:r>
              <a:rPr lang="en-US" altLang="zh-CN" sz="2400" dirty="0"/>
              <a:t>while i&lt;100:	</a:t>
            </a:r>
            <a:r>
              <a:rPr lang="en-US" altLang="zh-CN" sz="2400" dirty="0">
                <a:solidFill>
                  <a:srgbClr val="FF0000"/>
                </a:solidFill>
              </a:rPr>
              <a:t>#</a:t>
            </a:r>
            <a:r>
              <a:rPr lang="zh-CN" altLang="en-US" sz="2400" dirty="0">
                <a:solidFill>
                  <a:srgbClr val="FF0000"/>
                </a:solidFill>
              </a:rPr>
              <a:t>循环语句</a:t>
            </a:r>
            <a:endParaRPr lang="en-US" altLang="zh-CN" sz="2400" dirty="0"/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t.circle</a:t>
            </a:r>
            <a:r>
              <a:rPr lang="en-US" altLang="zh-CN" sz="2400" dirty="0"/>
              <a:t>(30)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t.right</a:t>
            </a:r>
            <a:r>
              <a:rPr lang="en-US" altLang="zh-CN" sz="2400" dirty="0"/>
              <a:t>(i)</a:t>
            </a:r>
          </a:p>
          <a:p>
            <a:r>
              <a:rPr lang="en-US" altLang="zh-CN" sz="2400" dirty="0"/>
              <a:t>	i=i+1</a:t>
            </a:r>
            <a:endParaRPr lang="zh-CN" altLang="en-US" sz="2400" dirty="0"/>
          </a:p>
          <a:p>
            <a:endParaRPr lang="zh-CN" altLang="en-US" sz="2400" dirty="0"/>
          </a:p>
          <a:p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3992245" y="1730375"/>
            <a:ext cx="42075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/>
              <a:t>我想要一幅彩色的画！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927350"/>
            <a:ext cx="4360545" cy="37433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200015" y="2652395"/>
            <a:ext cx="179197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红色：</a:t>
            </a:r>
            <a:r>
              <a:rPr lang="en-US" altLang="zh-CN" dirty="0"/>
              <a:t>red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橙色：</a:t>
            </a:r>
            <a:r>
              <a:rPr lang="en-US" altLang="zh-CN" dirty="0"/>
              <a:t>orange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黄色：</a:t>
            </a:r>
            <a:r>
              <a:rPr lang="en-US" altLang="zh-CN" dirty="0"/>
              <a:t>yellow</a:t>
            </a:r>
          </a:p>
          <a:p>
            <a:r>
              <a:rPr lang="en-US" altLang="zh-CN" dirty="0"/>
              <a:t>4.</a:t>
            </a:r>
            <a:r>
              <a:rPr lang="zh-CN" altLang="en-US" dirty="0"/>
              <a:t>绿色：</a:t>
            </a:r>
            <a:r>
              <a:rPr lang="en-US" altLang="zh-CN" dirty="0"/>
              <a:t>green</a:t>
            </a:r>
          </a:p>
          <a:p>
            <a:r>
              <a:rPr lang="en-US" altLang="zh-CN" dirty="0"/>
              <a:t>5.</a:t>
            </a:r>
            <a:r>
              <a:rPr lang="zh-CN" altLang="en-US" dirty="0"/>
              <a:t>蓝色：</a:t>
            </a:r>
            <a:r>
              <a:rPr lang="en-US" altLang="zh-CN" dirty="0"/>
              <a:t>blue</a:t>
            </a:r>
          </a:p>
          <a:p>
            <a:r>
              <a:rPr lang="en-US" altLang="zh-CN" dirty="0"/>
              <a:t>6.</a:t>
            </a:r>
            <a:r>
              <a:rPr lang="zh-CN" altLang="en-US" dirty="0"/>
              <a:t>紫色：</a:t>
            </a:r>
            <a:r>
              <a:rPr lang="en-US" altLang="zh-CN" dirty="0"/>
              <a:t>purple</a:t>
            </a:r>
          </a:p>
          <a:p>
            <a:r>
              <a:rPr lang="en-US" altLang="zh-CN" dirty="0"/>
              <a:t>7.</a:t>
            </a:r>
            <a:r>
              <a:rPr lang="zh-CN" altLang="en-US" dirty="0"/>
              <a:t>白色：</a:t>
            </a:r>
            <a:r>
              <a:rPr lang="en-US" altLang="zh-CN" dirty="0"/>
              <a:t>white</a:t>
            </a:r>
          </a:p>
          <a:p>
            <a:r>
              <a:rPr lang="en-US" altLang="zh-CN" dirty="0"/>
              <a:t>8.</a:t>
            </a:r>
            <a:r>
              <a:rPr lang="zh-CN" altLang="en-US" dirty="0"/>
              <a:t>黑色：</a:t>
            </a:r>
            <a:r>
              <a:rPr lang="en-US" altLang="zh-CN" dirty="0"/>
              <a:t>black</a:t>
            </a:r>
          </a:p>
          <a:p>
            <a:r>
              <a:rPr lang="en-US" altLang="zh-CN" dirty="0"/>
              <a:t>9.</a:t>
            </a:r>
            <a:r>
              <a:rPr lang="zh-CN" altLang="en-US" dirty="0"/>
              <a:t>灰色：</a:t>
            </a:r>
            <a:r>
              <a:rPr lang="en-US" altLang="zh-CN" dirty="0"/>
              <a:t>grey</a:t>
            </a:r>
          </a:p>
          <a:p>
            <a:r>
              <a:rPr lang="en-US" altLang="zh-CN" dirty="0"/>
              <a:t>10.</a:t>
            </a:r>
            <a:r>
              <a:rPr lang="zh-CN" altLang="en-US" dirty="0"/>
              <a:t>粉色：</a:t>
            </a:r>
            <a:r>
              <a:rPr lang="en-US" altLang="zh-CN" dirty="0"/>
              <a:t>pink</a:t>
            </a:r>
          </a:p>
          <a:p>
            <a:r>
              <a:rPr lang="en-US" altLang="zh-CN" dirty="0"/>
              <a:t>11.</a:t>
            </a:r>
            <a:r>
              <a:rPr lang="zh-CN" altLang="en-US" dirty="0"/>
              <a:t>金色：</a:t>
            </a:r>
            <a:r>
              <a:rPr lang="en-US" altLang="zh-CN" dirty="0"/>
              <a:t>gold</a:t>
            </a:r>
          </a:p>
          <a:p>
            <a:r>
              <a:rPr lang="en-US" altLang="zh-CN" dirty="0"/>
              <a:t>12.</a:t>
            </a:r>
            <a:r>
              <a:rPr lang="zh-CN" altLang="en-US" dirty="0"/>
              <a:t>银色：</a:t>
            </a:r>
            <a:r>
              <a:rPr lang="en-US" altLang="zh-CN" dirty="0"/>
              <a:t>silver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6092" y="558315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1505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墨迹 7"/>
              <p14:cNvContentPartPr/>
              <p14:nvPr/>
            </p14:nvContentPartPr>
            <p14:xfrm>
              <a:off x="410760" y="3732480"/>
              <a:ext cx="3081240" cy="243828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4"/>
            </p:blipFill>
            <p:spPr>
              <a:xfrm>
                <a:off x="410760" y="3732480"/>
                <a:ext cx="3081240" cy="2438280"/>
              </a:xfrm>
              <a:prstGeom prst="rect"/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911224" y="503555"/>
            <a:ext cx="5184775" cy="615553"/>
          </a:xfrm>
          <a:prstGeom prst="rect">
            <a:avLst/>
          </a:prstGeom>
          <a:noFill/>
          <a:ln>
            <a:noFill/>
          </a:ln>
        </p:spPr>
        <p:txBody>
          <a:bodyPr vert="horz" wrap="square" lIns="121920" tIns="60960" rIns="121920" bIns="60960" numCol="1" anchor="t" anchorCtr="0" compatLnSpc="1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向前</a:t>
            </a:r>
          </a:p>
        </p:txBody>
      </p:sp>
      <p:sp>
        <p:nvSpPr>
          <p:cNvPr id="5" name="矩形 4"/>
          <p:cNvSpPr/>
          <p:nvPr/>
        </p:nvSpPr>
        <p:spPr>
          <a:xfrm>
            <a:off x="239349" y="637693"/>
            <a:ext cx="480053" cy="480053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1424" y="1188424"/>
            <a:ext cx="100839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473724" y="824531"/>
            <a:ext cx="408404" cy="4084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2" name="文本框 16"/>
          <p:cNvSpPr txBox="1"/>
          <p:nvPr/>
        </p:nvSpPr>
        <p:spPr>
          <a:xfrm>
            <a:off x="731523" y="1339514"/>
            <a:ext cx="54810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import turtle as t</a:t>
            </a:r>
          </a:p>
          <a:p>
            <a:endParaRPr lang="en-US" altLang="zh-CN" sz="2000" dirty="0"/>
          </a:p>
          <a:p>
            <a:r>
              <a:rPr lang="en-US" altLang="zh-CN" sz="2000" dirty="0" err="1"/>
              <a:t>t.forward</a:t>
            </a:r>
            <a:r>
              <a:rPr lang="en-US" altLang="zh-CN" sz="2000" dirty="0"/>
              <a:t>(70)		</a:t>
            </a:r>
            <a:r>
              <a:rPr lang="zh-CN" altLang="en-US" sz="2000" dirty="0">
                <a:solidFill>
                  <a:srgbClr val="00B0F0"/>
                </a:solidFill>
              </a:rPr>
              <a:t>海龟先生，向前走</a:t>
            </a:r>
            <a:r>
              <a:rPr lang="en-US" altLang="zh-CN" sz="2000" dirty="0">
                <a:solidFill>
                  <a:srgbClr val="00B0F0"/>
                </a:solidFill>
              </a:rPr>
              <a:t>70</a:t>
            </a:r>
            <a:r>
              <a:rPr lang="zh-CN" altLang="en-US" sz="2000" dirty="0">
                <a:solidFill>
                  <a:srgbClr val="00B0F0"/>
                </a:solidFill>
              </a:rPr>
              <a:t>！</a:t>
            </a:r>
            <a:endParaRPr lang="en-US" altLang="zh-CN" sz="2000" dirty="0">
              <a:solidFill>
                <a:srgbClr val="00B0F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03118" y="264999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如何走正方形？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699" y="2998694"/>
            <a:ext cx="2497184" cy="3446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2107874" y="626066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1506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73529" y="265362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更简单的写法？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529" y="3429000"/>
            <a:ext cx="2569042" cy="2528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0" y="1542190"/>
            <a:ext cx="1949538" cy="932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8955565" y="266166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如何走正六边形？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475" y="3428999"/>
            <a:ext cx="2894114" cy="2675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5559798" y="628637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1507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1198" y="6289373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1508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15" grpId="0"/>
      <p:bldP spid="18" grpId="0"/>
      <p:bldP spid="20" grpId="0"/>
      <p:bldP spid="2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8c05ec32-2a05-4a2d-b9b3-d3740788d911"/>
  <p:tag name="COMMONDATA" val="eyJoZGlkIjoiNzE1MTRiZGNmZGQyODMxZWY5ZTk1Nzk2OTA5ZmQ2Yz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100,&quot;width&quot;:11323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565</Words>
  <Application>Microsoft Office PowerPoint</Application>
  <PresentationFormat>宽屏</PresentationFormat>
  <Paragraphs>113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HandelGotDLig</vt:lpstr>
      <vt:lpstr>宋体</vt:lpstr>
      <vt:lpstr>微软雅黑</vt:lpstr>
      <vt:lpstr>Arial</vt:lpstr>
      <vt:lpstr>Calibri</vt:lpstr>
      <vt:lpstr>Impact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周康渝</dc:creator>
  <cp:lastModifiedBy>hp</cp:lastModifiedBy>
  <cp:revision>29</cp:revision>
  <dcterms:created xsi:type="dcterms:W3CDTF">2021-01-06T04:59:00Z</dcterms:created>
  <dcterms:modified xsi:type="dcterms:W3CDTF">2023-05-08T04:08:53Z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376938F14F3C4862AE8FE664C359132A</vt:lpwstr>
  </property>
</Properties>
</file>