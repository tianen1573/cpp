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17" r:id="rId3"/>
    <p:sldId id="470" r:id="rId5"/>
    <p:sldId id="481" r:id="rId6"/>
    <p:sldId id="480" r:id="rId7"/>
    <p:sldId id="498" r:id="rId8"/>
    <p:sldId id="483" r:id="rId9"/>
    <p:sldId id="482" r:id="rId10"/>
    <p:sldId id="490" r:id="rId11"/>
    <p:sldId id="492" r:id="rId12"/>
    <p:sldId id="493" r:id="rId13"/>
    <p:sldId id="494" r:id="rId14"/>
    <p:sldId id="495" r:id="rId15"/>
    <p:sldId id="496" r:id="rId16"/>
    <p:sldId id="497" r:id="rId17"/>
    <p:sldId id="446" r:id="rId18"/>
    <p:sldId id="476" r:id="rId19"/>
  </p:sldIdLst>
  <p:sldSz cx="9144000" cy="5143500" type="screen16x9"/>
  <p:notesSz cx="6797675" cy="9925050"/>
  <p:custDataLst>
    <p:tags r:id="rId23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8E18A"/>
    <a:srgbClr val="215F27"/>
    <a:srgbClr val="FF6600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9" autoAdjust="0"/>
    <p:restoredTop sz="95212" autoAdjust="0"/>
  </p:normalViewPr>
  <p:slideViewPr>
    <p:cSldViewPr>
      <p:cViewPr varScale="1">
        <p:scale>
          <a:sx n="114" d="100"/>
          <a:sy n="114" d="100"/>
        </p:scale>
        <p:origin x="518" y="82"/>
      </p:cViewPr>
      <p:guideLst>
        <p:guide orient="horz" pos="1706"/>
        <p:guide pos="284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PythonL0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965382" y="1851506"/>
            <a:ext cx="121221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7281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课前回顾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60" y="1081068"/>
            <a:ext cx="74168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+mn-ea"/>
              </a:rPr>
              <a:t>什么是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循环</a:t>
            </a:r>
            <a:r>
              <a:rPr lang="zh-CN" altLang="en-US" sz="1600" b="1" dirty="0">
                <a:latin typeface="+mn-ea"/>
              </a:rPr>
              <a:t>？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11560" y="1635646"/>
            <a:ext cx="74168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循环，是指事物周而复始的运动或变化</a:t>
            </a:r>
            <a:endParaRPr lang="zh-CN" altLang="zh-CN" sz="1600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11560" y="2187089"/>
            <a:ext cx="74168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+mn-ea"/>
              </a:rPr>
              <a:t>while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循环</a:t>
            </a:r>
            <a:r>
              <a:rPr lang="zh-CN" altLang="en-US" sz="1600" b="1" dirty="0">
                <a:latin typeface="+mn-ea"/>
              </a:rPr>
              <a:t>由哪几部分组成？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11560" y="2859782"/>
            <a:ext cx="7416824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While </a:t>
            </a:r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关键字      循环条件       执行语句</a:t>
            </a:r>
            <a:endParaRPr lang="zh-CN" altLang="zh-CN" sz="1600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11560" y="3529113"/>
            <a:ext cx="7416824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+mn-ea"/>
              </a:rPr>
              <a:t>Python</a:t>
            </a:r>
            <a:r>
              <a:rPr lang="zh-CN" altLang="en-US" sz="1600" b="1" dirty="0">
                <a:latin typeface="+mn-ea"/>
              </a:rPr>
              <a:t>中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缩进</a:t>
            </a:r>
            <a:r>
              <a:rPr lang="zh-CN" altLang="en-US" sz="1600" b="1" dirty="0">
                <a:latin typeface="+mn-ea"/>
              </a:rPr>
              <a:t>有什么作用？缩进为几个空格？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11560" y="4124992"/>
            <a:ext cx="7416824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缩进</a:t>
            </a:r>
            <a:r>
              <a:rPr lang="zh-CN" altLang="en-US" sz="1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用来决定代码语句之间的关系</a:t>
            </a:r>
            <a:r>
              <a:rPr lang="en-US" altLang="zh-CN" sz="1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缩进一般为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4</a:t>
            </a:r>
            <a:r>
              <a:rPr lang="zh-CN" altLang="en-US" sz="1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个空格</a:t>
            </a:r>
            <a:endParaRPr lang="zh-CN" altLang="zh-CN" sz="1600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7281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课前回顾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3568" y="1533542"/>
            <a:ext cx="74168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布尔值</a:t>
            </a:r>
            <a:r>
              <a:rPr lang="zh-CN" altLang="en-US" sz="1600" b="1" dirty="0">
                <a:latin typeface="+mn-ea"/>
              </a:rPr>
              <a:t>由哪两个值组成？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71600" y="2371695"/>
            <a:ext cx="864096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True</a:t>
            </a:r>
            <a:endParaRPr lang="en-US" altLang="zh-CN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472940" y="2371725"/>
            <a:ext cx="10160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False</a:t>
            </a:r>
            <a:endParaRPr lang="en-US" altLang="zh-CN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3" name="TextBox 6"/>
          <p:cNvSpPr txBox="1">
            <a:spLocks noChangeArrowheads="1"/>
          </p:cNvSpPr>
          <p:nvPr/>
        </p:nvSpPr>
        <p:spPr bwMode="auto">
          <a:xfrm>
            <a:off x="971600" y="2931789"/>
            <a:ext cx="1080120" cy="76944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4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真</a:t>
            </a:r>
            <a:endParaRPr lang="en-US" altLang="zh-CN" sz="4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TextBox 6"/>
          <p:cNvSpPr txBox="1">
            <a:spLocks noChangeArrowheads="1"/>
          </p:cNvSpPr>
          <p:nvPr/>
        </p:nvSpPr>
        <p:spPr bwMode="auto">
          <a:xfrm>
            <a:off x="4464050" y="2931795"/>
            <a:ext cx="979170" cy="7683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4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假</a:t>
            </a:r>
            <a:endParaRPr lang="en-US" altLang="zh-CN" sz="4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11426" y="3792161"/>
            <a:ext cx="725219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/>
              <a:t>变量</a:t>
            </a:r>
            <a:r>
              <a:rPr lang="zh-CN" altLang="zh-CN" sz="2000" dirty="0"/>
              <a:t>是</a:t>
            </a:r>
            <a:r>
              <a:rPr lang="en-US" altLang="zh-CN" sz="2000" dirty="0"/>
              <a:t>Python</a:t>
            </a:r>
            <a:r>
              <a:rPr lang="zh-CN" altLang="zh-CN" sz="2000" dirty="0"/>
              <a:t>中能</a:t>
            </a:r>
            <a:r>
              <a:rPr lang="zh-CN" altLang="zh-CN" sz="2000" b="1" dirty="0">
                <a:solidFill>
                  <a:srgbClr val="C00000"/>
                </a:solidFill>
              </a:rPr>
              <a:t>储存计算结果</a:t>
            </a:r>
            <a:r>
              <a:rPr lang="zh-CN" altLang="zh-CN" sz="2000" dirty="0"/>
              <a:t>或能</a:t>
            </a:r>
            <a:r>
              <a:rPr lang="zh-CN" altLang="zh-CN" sz="2000" b="1" dirty="0">
                <a:solidFill>
                  <a:srgbClr val="C00000"/>
                </a:solidFill>
              </a:rPr>
              <a:t>表示值</a:t>
            </a:r>
            <a:r>
              <a:rPr lang="zh-CN" altLang="en-US" sz="2000" dirty="0"/>
              <a:t>的</a:t>
            </a:r>
            <a:r>
              <a:rPr lang="zh-CN" altLang="zh-CN" sz="2000" dirty="0"/>
              <a:t>抽象概念。</a:t>
            </a:r>
            <a:endParaRPr lang="zh-CN" altLang="en-US" sz="2000" dirty="0"/>
          </a:p>
        </p:txBody>
      </p:sp>
      <p:sp>
        <p:nvSpPr>
          <p:cNvPr id="12" name="矩形 11"/>
          <p:cNvSpPr/>
          <p:nvPr/>
        </p:nvSpPr>
        <p:spPr>
          <a:xfrm>
            <a:off x="378912" y="1133911"/>
            <a:ext cx="81350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什么是“变量”？</a:t>
            </a:r>
            <a:endParaRPr lang="zh-CN" altLang="en-US" sz="20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09"/>
          <a:stretch>
            <a:fillRect/>
          </a:stretch>
        </p:blipFill>
        <p:spPr>
          <a:xfrm>
            <a:off x="1657684" y="1790713"/>
            <a:ext cx="1546164" cy="11512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文本框 12"/>
          <p:cNvSpPr txBox="1"/>
          <p:nvPr/>
        </p:nvSpPr>
        <p:spPr>
          <a:xfrm>
            <a:off x="1423850" y="2446179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玻璃杯</a:t>
            </a:r>
            <a:endParaRPr lang="zh-CN" altLang="en-US" b="1" dirty="0"/>
          </a:p>
        </p:txBody>
      </p:sp>
      <p:cxnSp>
        <p:nvCxnSpPr>
          <p:cNvPr id="16" name="直接箭头连接符 15"/>
          <p:cNvCxnSpPr>
            <a:stCxn id="10" idx="3"/>
          </p:cNvCxnSpPr>
          <p:nvPr/>
        </p:nvCxnSpPr>
        <p:spPr>
          <a:xfrm flipH="1">
            <a:off x="2502774" y="2366318"/>
            <a:ext cx="701074" cy="1948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3257662" y="2176504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水</a:t>
            </a:r>
            <a:endParaRPr lang="zh-CN" altLang="en-US" sz="2000" b="1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38" t="11528" r="17893"/>
          <a:stretch>
            <a:fillRect/>
          </a:stretch>
        </p:blipFill>
        <p:spPr>
          <a:xfrm>
            <a:off x="5131765" y="1779662"/>
            <a:ext cx="1008112" cy="12370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1" name="文本框 20"/>
          <p:cNvSpPr txBox="1"/>
          <p:nvPr/>
        </p:nvSpPr>
        <p:spPr>
          <a:xfrm>
            <a:off x="4629402" y="2446179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塑料杯</a:t>
            </a:r>
            <a:endParaRPr lang="zh-CN" altLang="en-US" b="1" dirty="0"/>
          </a:p>
        </p:txBody>
      </p:sp>
      <p:cxnSp>
        <p:nvCxnSpPr>
          <p:cNvPr id="22" name="直接箭头连接符 21"/>
          <p:cNvCxnSpPr/>
          <p:nvPr/>
        </p:nvCxnSpPr>
        <p:spPr>
          <a:xfrm flipH="1">
            <a:off x="5708326" y="2366318"/>
            <a:ext cx="701074" cy="1948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6463214" y="2176504"/>
            <a:ext cx="701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啤酒</a:t>
            </a:r>
            <a:endParaRPr lang="zh-CN" altLang="en-US" sz="2000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1342233" y="2675408"/>
            <a:ext cx="792088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（变量名）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532486" y="2695738"/>
            <a:ext cx="7920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（变量名）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203714" y="2500108"/>
            <a:ext cx="792088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（值）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383940" y="2469262"/>
            <a:ext cx="7920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（变量值）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426" y="4300161"/>
            <a:ext cx="7252191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zh-CN" sz="2400" b="1" dirty="0"/>
              <a:t>变量</a:t>
            </a:r>
            <a:r>
              <a:rPr lang="zh-CN" altLang="zh-CN" sz="2000" dirty="0"/>
              <a:t>是</a:t>
            </a:r>
            <a:r>
              <a:rPr lang="en-US" altLang="zh-CN" sz="2000" dirty="0"/>
              <a:t>Python</a:t>
            </a:r>
            <a:r>
              <a:rPr lang="zh-CN" altLang="en-US" sz="2000" dirty="0"/>
              <a:t>用来存放数据值的容器。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2" grpId="0"/>
      <p:bldP spid="12" grpId="0"/>
      <p:bldP spid="13" grpId="0"/>
      <p:bldP spid="17" grpId="0"/>
      <p:bldP spid="21" grpId="0"/>
      <p:bldP spid="23" grpId="0"/>
      <p:bldP spid="18" grpId="0"/>
      <p:bldP spid="19" grpId="0"/>
      <p:bldP spid="24" grpId="0"/>
      <p:bldP spid="25" grpId="0"/>
      <p:bldP spid="8" grpId="0"/>
      <p:bldP spid="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变量名与标识符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683260" y="1059815"/>
            <a:ext cx="6888480" cy="932815"/>
            <a:chOff x="1076" y="1669"/>
            <a:chExt cx="10848" cy="1469"/>
          </a:xfrm>
        </p:grpSpPr>
        <p:sp>
          <p:nvSpPr>
            <p:cNvPr id="8" name="矩形 7"/>
            <p:cNvSpPr/>
            <p:nvPr/>
          </p:nvSpPr>
          <p:spPr>
            <a:xfrm>
              <a:off x="1076" y="1669"/>
              <a:ext cx="7524" cy="7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/>
                <a:t>Python</a:t>
              </a:r>
              <a:r>
                <a:rPr lang="zh-CN" altLang="zh-CN" sz="1800" dirty="0"/>
                <a:t>程序中的</a:t>
              </a:r>
              <a:r>
                <a:rPr lang="zh-CN" altLang="zh-CN" sz="1800" b="1" dirty="0">
                  <a:solidFill>
                    <a:srgbClr val="C00000"/>
                  </a:solidFill>
                </a:rPr>
                <a:t>名字</a:t>
              </a:r>
              <a:r>
                <a:rPr lang="zh-CN" altLang="zh-CN" sz="1800" dirty="0"/>
                <a:t>都被称为“</a:t>
              </a:r>
              <a:r>
                <a:rPr lang="zh-CN" altLang="zh-CN" sz="2400" b="1" dirty="0">
                  <a:solidFill>
                    <a:srgbClr val="C00000"/>
                  </a:solidFill>
                </a:rPr>
                <a:t>标识符</a:t>
              </a:r>
              <a:r>
                <a:rPr lang="zh-CN" altLang="zh-CN" sz="1800" dirty="0"/>
                <a:t>”。</a:t>
              </a:r>
              <a:endParaRPr lang="zh-CN" altLang="en-US" sz="1800" dirty="0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076" y="2607"/>
              <a:ext cx="10848" cy="53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r>
                <a:rPr lang="zh-CN" altLang="zh-CN" sz="1600" dirty="0">
                  <a:solidFill>
                    <a:schemeClr val="tx1"/>
                  </a:solidFill>
                  <a:sym typeface="+mn-ea"/>
                </a:rPr>
                <a:t>变量名是标识符的一种，其他的如函数名、类名、模块名等也都属于标识符</a:t>
              </a:r>
              <a:endParaRPr lang="zh-CN" altLang="zh-CN" sz="1600" dirty="0">
                <a:solidFill>
                  <a:schemeClr val="tx1"/>
                </a:solidFill>
                <a:sym typeface="+mn-ea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3856990" y="2139950"/>
            <a:ext cx="7772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名</a:t>
            </a:r>
            <a:r>
              <a:rPr lang="en-US" altLang="zh-CN" sz="2000" b="1"/>
              <a:t> </a:t>
            </a:r>
            <a:r>
              <a:rPr lang="zh-CN" altLang="en-US" sz="2000" b="1"/>
              <a:t>字</a:t>
            </a:r>
            <a:endParaRPr lang="zh-CN" altLang="en-US" sz="2000" b="1"/>
          </a:p>
        </p:txBody>
      </p:sp>
      <p:grpSp>
        <p:nvGrpSpPr>
          <p:cNvPr id="41" name="组合 40"/>
          <p:cNvGrpSpPr/>
          <p:nvPr/>
        </p:nvGrpSpPr>
        <p:grpSpPr>
          <a:xfrm>
            <a:off x="3594100" y="2818130"/>
            <a:ext cx="1336040" cy="2190750"/>
            <a:chOff x="7920" y="4438"/>
            <a:chExt cx="2104" cy="3450"/>
          </a:xfrm>
        </p:grpSpPr>
        <p:grpSp>
          <p:nvGrpSpPr>
            <p:cNvPr id="29" name="组合 28"/>
            <p:cNvGrpSpPr/>
            <p:nvPr/>
          </p:nvGrpSpPr>
          <p:grpSpPr>
            <a:xfrm>
              <a:off x="7920" y="5026"/>
              <a:ext cx="2104" cy="2863"/>
              <a:chOff x="2324" y="4164"/>
              <a:chExt cx="2104" cy="2863"/>
            </a:xfrm>
          </p:grpSpPr>
          <p:pic>
            <p:nvPicPr>
              <p:cNvPr id="100" name="图片 99"/>
              <p:cNvPicPr/>
              <p:nvPr/>
            </p:nvPicPr>
            <p:blipFill>
              <a:blip r:embed="rId1"/>
              <a:srcRect l="19153" r="18079"/>
              <a:stretch>
                <a:fillRect/>
              </a:stretch>
            </p:blipFill>
            <p:spPr>
              <a:xfrm>
                <a:off x="2324" y="4164"/>
                <a:ext cx="2104" cy="2217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" name="文本框 8"/>
              <p:cNvSpPr txBox="1"/>
              <p:nvPr/>
            </p:nvSpPr>
            <p:spPr>
              <a:xfrm>
                <a:off x="2324" y="6545"/>
                <a:ext cx="2086" cy="48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zh-CN" altLang="en-US"/>
                  <a:t>吉多·范罗苏姆</a:t>
                </a:r>
                <a:endParaRPr lang="zh-CN" altLang="en-US"/>
              </a:p>
            </p:txBody>
          </p:sp>
        </p:grpSp>
        <p:sp>
          <p:nvSpPr>
            <p:cNvPr id="34" name="文本框 33"/>
            <p:cNvSpPr txBox="1"/>
            <p:nvPr/>
          </p:nvSpPr>
          <p:spPr>
            <a:xfrm>
              <a:off x="8470" y="4438"/>
              <a:ext cx="97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人名</a:t>
              </a:r>
              <a:endParaRPr lang="zh-CN" altLang="en-US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5297170" y="2818130"/>
            <a:ext cx="1264920" cy="2263140"/>
            <a:chOff x="10602" y="4438"/>
            <a:chExt cx="1992" cy="3564"/>
          </a:xfrm>
        </p:grpSpPr>
        <p:grpSp>
          <p:nvGrpSpPr>
            <p:cNvPr id="30" name="组合 29"/>
            <p:cNvGrpSpPr/>
            <p:nvPr/>
          </p:nvGrpSpPr>
          <p:grpSpPr>
            <a:xfrm>
              <a:off x="10602" y="5026"/>
              <a:ext cx="1993" cy="2977"/>
              <a:chOff x="4705" y="4164"/>
              <a:chExt cx="1993" cy="2977"/>
            </a:xfrm>
          </p:grpSpPr>
          <p:pic>
            <p:nvPicPr>
              <p:cNvPr id="101" name="图片 100"/>
              <p:cNvPicPr/>
              <p:nvPr/>
            </p:nvPicPr>
            <p:blipFill>
              <a:blip r:embed="rId2"/>
              <a:srcRect t="7264" r="18587" b="37778"/>
              <a:stretch>
                <a:fillRect/>
              </a:stretch>
            </p:blipFill>
            <p:spPr>
              <a:xfrm>
                <a:off x="4705" y="4164"/>
                <a:ext cx="1993" cy="2384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0" name="文本框 9"/>
              <p:cNvSpPr txBox="1"/>
              <p:nvPr/>
            </p:nvSpPr>
            <p:spPr>
              <a:xfrm>
                <a:off x="5278" y="6658"/>
                <a:ext cx="848" cy="4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zh-CN" altLang="en-US"/>
                  <a:t>旺财</a:t>
                </a:r>
                <a:endParaRPr lang="zh-CN" altLang="en-US"/>
              </a:p>
            </p:txBody>
          </p:sp>
        </p:grpSp>
        <p:sp>
          <p:nvSpPr>
            <p:cNvPr id="35" name="文本框 34"/>
            <p:cNvSpPr txBox="1"/>
            <p:nvPr/>
          </p:nvSpPr>
          <p:spPr>
            <a:xfrm>
              <a:off x="10943" y="4438"/>
              <a:ext cx="90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狗名</a:t>
              </a:r>
              <a:endParaRPr lang="zh-CN" altLang="en-US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2004060" y="2818130"/>
            <a:ext cx="1316355" cy="2163445"/>
            <a:chOff x="5416" y="4438"/>
            <a:chExt cx="2073" cy="3407"/>
          </a:xfrm>
        </p:grpSpPr>
        <p:sp>
          <p:nvSpPr>
            <p:cNvPr id="38" name="文本框 37"/>
            <p:cNvSpPr txBox="1"/>
            <p:nvPr/>
          </p:nvSpPr>
          <p:spPr>
            <a:xfrm>
              <a:off x="5831" y="4438"/>
              <a:ext cx="1141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>
                  <a:sym typeface="+mn-ea"/>
                </a:rPr>
                <a:t>国家名</a:t>
              </a:r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5416" y="5524"/>
              <a:ext cx="2073" cy="2321"/>
              <a:chOff x="5416" y="5524"/>
              <a:chExt cx="2073" cy="2321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5838" y="7362"/>
                <a:ext cx="1128" cy="4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zh-CN" altLang="en-US"/>
                  <a:t>俄罗斯</a:t>
                </a:r>
                <a:endParaRPr lang="zh-CN" altLang="en-US"/>
              </a:p>
            </p:txBody>
          </p:sp>
          <p:pic>
            <p:nvPicPr>
              <p:cNvPr id="103" name="图片 102"/>
              <p:cNvPicPr/>
              <p:nvPr/>
            </p:nvPicPr>
            <p:blipFill>
              <a:blip r:embed="rId3"/>
              <a:srcRect r="24426"/>
              <a:stretch>
                <a:fillRect/>
              </a:stretch>
            </p:blipFill>
            <p:spPr>
              <a:xfrm>
                <a:off x="5416" y="5524"/>
                <a:ext cx="2073" cy="1727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标识符的命名规范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矩形 1"/>
          <p:cNvSpPr>
            <a:spLocks noChangeArrowheads="1"/>
          </p:cNvSpPr>
          <p:nvPr/>
        </p:nvSpPr>
        <p:spPr bwMode="auto">
          <a:xfrm>
            <a:off x="683260" y="1781175"/>
            <a:ext cx="4104005" cy="21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dirty="0"/>
              <a:t>标识符</a:t>
            </a:r>
            <a:r>
              <a:rPr lang="zh-CN" altLang="en-US" sz="1800" dirty="0"/>
              <a:t>命名</a:t>
            </a:r>
            <a:r>
              <a:rPr lang="zh-CN" altLang="zh-CN" sz="1800" dirty="0"/>
              <a:t>规范</a:t>
            </a:r>
            <a:r>
              <a:rPr lang="zh-CN" altLang="en-US" sz="1800" dirty="0"/>
              <a:t>：</a:t>
            </a:r>
            <a:endParaRPr lang="en-US" altLang="zh-CN" sz="1800" dirty="0"/>
          </a:p>
          <a:p>
            <a:pPr>
              <a:lnSpc>
                <a:spcPct val="150000"/>
              </a:lnSpc>
            </a:pP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）可以由字母、数字、</a:t>
            </a:r>
            <a:r>
              <a:rPr lang="zh-CN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下划线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组成；</a:t>
            </a:r>
            <a:endParaRPr lang="zh-CN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）开头不能是数字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zh-CN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大小写</a:t>
            </a:r>
            <a:r>
              <a:rPr lang="zh-CN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敏感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（不同）；</a:t>
            </a:r>
            <a:endParaRPr lang="zh-CN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不可以和关键字重名。</a:t>
            </a:r>
            <a:endParaRPr lang="zh-CN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61670" y="1059815"/>
            <a:ext cx="712152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800" dirty="0">
                <a:solidFill>
                  <a:srgbClr val="C00000"/>
                </a:solidFill>
              </a:rPr>
              <a:t>变量名属于标识符</a:t>
            </a:r>
            <a:r>
              <a:rPr lang="zh-CN" altLang="zh-CN" sz="1800" dirty="0"/>
              <a:t>。所以标识符的命名规范同样是变量名的命名规范。</a:t>
            </a:r>
            <a:endParaRPr lang="zh-CN" altLang="en-US" sz="1800" dirty="0"/>
          </a:p>
        </p:txBody>
      </p:sp>
      <p:sp>
        <p:nvSpPr>
          <p:cNvPr id="2" name="文本框 1"/>
          <p:cNvSpPr txBox="1"/>
          <p:nvPr/>
        </p:nvSpPr>
        <p:spPr>
          <a:xfrm>
            <a:off x="3923422" y="3079095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70C0"/>
                </a:solidFill>
              </a:rPr>
              <a:t>a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87518" y="3079095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70C0"/>
                </a:solidFill>
              </a:rPr>
              <a:t>A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55471" y="3079095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≠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020694" y="2658809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70C0"/>
                </a:solidFill>
              </a:rPr>
              <a:t>a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433638" y="2647047"/>
            <a:ext cx="523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70C0"/>
                </a:solidFill>
              </a:rPr>
              <a:t>2a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951330" y="2658809"/>
            <a:ext cx="622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70C0"/>
                </a:solidFill>
              </a:rPr>
              <a:t>_2a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417383" y="2504921"/>
            <a:ext cx="4788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  <a:sym typeface="Wingdings 2" panose="05020102010507070707" pitchFamily="18" charset="2"/>
              </a:rPr>
              <a:t>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836154" y="2269035"/>
            <a:ext cx="815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70C0"/>
                </a:solidFill>
              </a:rPr>
              <a:t>_$2a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574138" y="2279123"/>
            <a:ext cx="815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70C0"/>
                </a:solidFill>
              </a:rPr>
              <a:t>&amp;_a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951330" y="2122231"/>
            <a:ext cx="4788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  <a:sym typeface="Wingdings 2" panose="05020102010507070707" pitchFamily="18" charset="2"/>
              </a:rPr>
              <a:t>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655124" y="2159619"/>
            <a:ext cx="4788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  <a:sym typeface="Wingdings 2" panose="05020102010507070707" pitchFamily="18" charset="2"/>
              </a:rPr>
              <a:t>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199342" y="2292077"/>
            <a:ext cx="622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70C0"/>
                </a:solidFill>
              </a:rPr>
              <a:t>a2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703559" y="3519618"/>
            <a:ext cx="1020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70C0"/>
                </a:solidFill>
              </a:rPr>
              <a:t>while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870089" y="3381746"/>
            <a:ext cx="4788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  <a:sym typeface="Wingdings 2" panose="05020102010507070707" pitchFamily="18" charset="2"/>
              </a:rPr>
              <a:t>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800218" y="3531199"/>
            <a:ext cx="1291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70C0"/>
                </a:solidFill>
              </a:rPr>
              <a:t>while213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307798" y="3531199"/>
            <a:ext cx="1291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70C0"/>
                </a:solidFill>
              </a:rPr>
              <a:t>123True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682101" y="3365730"/>
            <a:ext cx="4788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  <a:sym typeface="Wingdings 2" panose="05020102010507070707" pitchFamily="18" charset="2"/>
              </a:rPr>
              <a:t>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变量的赋值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78912" y="1133911"/>
            <a:ext cx="81350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变量的赋值</a:t>
            </a:r>
            <a:endParaRPr lang="zh-CN" altLang="en-US" sz="20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09"/>
          <a:stretch>
            <a:fillRect/>
          </a:stretch>
        </p:blipFill>
        <p:spPr>
          <a:xfrm>
            <a:off x="1763609" y="2355827"/>
            <a:ext cx="1728192" cy="12867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19740" y="2211560"/>
            <a:ext cx="1636280" cy="13814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cxnSp>
        <p:nvCxnSpPr>
          <p:cNvPr id="9" name="直接箭头连接符 8"/>
          <p:cNvCxnSpPr/>
          <p:nvPr/>
        </p:nvCxnSpPr>
        <p:spPr>
          <a:xfrm flipH="1">
            <a:off x="2987961" y="3147448"/>
            <a:ext cx="2520315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3203848" y="1795631"/>
            <a:ext cx="283063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赋值方法：变量名 </a:t>
            </a:r>
            <a:r>
              <a:rPr lang="en-US" altLang="zh-CN" b="1" dirty="0">
                <a:solidFill>
                  <a:srgbClr val="FF0000"/>
                </a:solidFill>
              </a:rPr>
              <a:t>= </a:t>
            </a:r>
            <a:r>
              <a:rPr lang="zh-CN" altLang="en-US" b="1" dirty="0">
                <a:solidFill>
                  <a:srgbClr val="FF0000"/>
                </a:solidFill>
              </a:rPr>
              <a:t>变量值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740785" y="2690495"/>
            <a:ext cx="116014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玻璃杯 </a:t>
            </a:r>
            <a:r>
              <a:rPr lang="en-US" altLang="zh-CN" b="1" dirty="0">
                <a:solidFill>
                  <a:srgbClr val="0070C0"/>
                </a:solidFill>
              </a:rPr>
              <a:t>= </a:t>
            </a:r>
            <a:r>
              <a:rPr lang="zh-CN" altLang="en-US" b="1" dirty="0">
                <a:solidFill>
                  <a:srgbClr val="0070C0"/>
                </a:solidFill>
              </a:rPr>
              <a:t>水</a:t>
            </a:r>
            <a:endParaRPr lang="zh-CN" altLang="en-US" sz="1200" dirty="0">
              <a:solidFill>
                <a:srgbClr val="0070C0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995936" y="3469594"/>
            <a:ext cx="13242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2">
                    <a:lumMod val="25000"/>
                  </a:schemeClr>
                </a:solidFill>
              </a:rPr>
              <a:t>A = 1</a:t>
            </a:r>
            <a:endParaRPr lang="zh-CN" alt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995936" y="3777371"/>
            <a:ext cx="1324206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2">
                    <a:lumMod val="25000"/>
                  </a:schemeClr>
                </a:solidFill>
              </a:rPr>
              <a:t>B = ‘apple’</a:t>
            </a:r>
            <a:endParaRPr lang="zh-CN" alt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619672" y="3032345"/>
            <a:ext cx="7200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玻璃杯</a:t>
            </a:r>
            <a:endParaRPr lang="zh-CN" altLang="en-US" sz="1200" dirty="0"/>
          </a:p>
        </p:txBody>
      </p:sp>
      <p:sp>
        <p:nvSpPr>
          <p:cNvPr id="2" name="文本框 1"/>
          <p:cNvSpPr txBox="1"/>
          <p:nvPr/>
        </p:nvSpPr>
        <p:spPr>
          <a:xfrm>
            <a:off x="615315" y="4371975"/>
            <a:ext cx="7914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Python</a:t>
            </a:r>
            <a:r>
              <a:rPr lang="zh-CN" altLang="zh-CN" sz="1600" b="1"/>
              <a:t>中</a:t>
            </a:r>
            <a:r>
              <a:rPr lang="en-US" altLang="zh-CN" sz="1600" b="1"/>
              <a:t>=</a:t>
            </a:r>
            <a:r>
              <a:rPr lang="zh-CN" altLang="zh-CN" sz="1600" b="1"/>
              <a:t>是变量的赋值操作，不等同于数学中的等于，</a:t>
            </a:r>
            <a:r>
              <a:rPr lang="en-US" altLang="zh-CN" sz="1600" b="1"/>
              <a:t>==</a:t>
            </a:r>
            <a:r>
              <a:rPr lang="zh-CN" altLang="en-US" sz="1600" b="1"/>
              <a:t>才是</a:t>
            </a:r>
            <a:r>
              <a:rPr lang="en-US" altLang="zh-CN" sz="1600" b="1"/>
              <a:t>Python</a:t>
            </a:r>
            <a:r>
              <a:rPr lang="zh-CN" altLang="en-US" sz="1600" b="1"/>
              <a:t>中的等于。</a:t>
            </a:r>
            <a:endParaRPr lang="zh-CN" altLang="en-US" sz="16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12" grpId="0"/>
      <p:bldP spid="29" grpId="0"/>
      <p:bldP spid="30" grpId="0"/>
      <p:bldP spid="31" grpId="0"/>
      <p:bldP spid="32" grpId="0"/>
      <p:bldP spid="15" grpId="0"/>
      <p:bldP spid="2" grpId="0"/>
      <p:bldP spid="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变量的使用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7085" y="1452880"/>
            <a:ext cx="464820" cy="4629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1043964" y="1915766"/>
            <a:ext cx="6350" cy="9448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矩形 1"/>
          <p:cNvSpPr>
            <a:spLocks noChangeArrowheads="1"/>
          </p:cNvSpPr>
          <p:nvPr/>
        </p:nvSpPr>
        <p:spPr bwMode="auto">
          <a:xfrm>
            <a:off x="472464" y="2892491"/>
            <a:ext cx="11504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变量名</a:t>
            </a:r>
            <a:endParaRPr lang="zh-CN" altLang="zh-CN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5" name="矩形 1"/>
          <p:cNvSpPr>
            <a:spLocks noChangeArrowheads="1"/>
          </p:cNvSpPr>
          <p:nvPr/>
        </p:nvSpPr>
        <p:spPr bwMode="auto">
          <a:xfrm>
            <a:off x="1738362" y="2879027"/>
            <a:ext cx="11150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变量值</a:t>
            </a:r>
            <a:endParaRPr lang="zh-CN" altLang="zh-CN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737360" y="1420495"/>
            <a:ext cx="929005" cy="4959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/>
          <p:cNvCxnSpPr/>
          <p:nvPr/>
        </p:nvCxnSpPr>
        <p:spPr>
          <a:xfrm flipH="1">
            <a:off x="2268837" y="1916070"/>
            <a:ext cx="6350" cy="9448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835025" y="1421130"/>
            <a:ext cx="18853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  = ‘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小明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’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347720" y="1419860"/>
            <a:ext cx="4700905" cy="2282825"/>
            <a:chOff x="5272" y="2236"/>
            <a:chExt cx="7403" cy="3595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272" y="2236"/>
              <a:ext cx="3175" cy="1779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/>
            <a:srcRect b="9659"/>
            <a:stretch>
              <a:fillRect/>
            </a:stretch>
          </p:blipFill>
          <p:spPr>
            <a:xfrm>
              <a:off x="9241" y="2236"/>
              <a:ext cx="3435" cy="1721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6860" y="4555"/>
              <a:ext cx="4452" cy="1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>
                <a:lnSpc>
                  <a:spcPct val="130000"/>
                </a:lnSpc>
              </a:pPr>
              <a:r>
                <a:rPr lang="zh-CN" altLang="en-US" sz="1800"/>
                <a:t>这两种代码都不会报错，</a:t>
              </a:r>
              <a:endParaRPr lang="zh-CN" altLang="en-US" sz="1800"/>
            </a:p>
            <a:p>
              <a:pPr>
                <a:lnSpc>
                  <a:spcPct val="130000"/>
                </a:lnSpc>
              </a:pPr>
              <a:r>
                <a:rPr lang="zh-CN" altLang="en-US" sz="1800"/>
                <a:t>但是哪一种是正确的呢？</a:t>
              </a:r>
              <a:endParaRPr lang="zh-CN" altLang="en-US" sz="1800"/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1379220" y="4012565"/>
            <a:ext cx="6172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/>
              <a:t>变量名和字符串类型的值是很相似的，请注意不要搞混了。</a:t>
            </a:r>
            <a:endParaRPr lang="zh-CN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4" grpId="0"/>
      <p:bldP spid="15" grpId="0"/>
      <p:bldP spid="16" grpId="0" bldLvl="0" animBg="1"/>
      <p:bldP spid="20" grpId="0"/>
      <p:bldP spid="20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61670" y="1059815"/>
            <a:ext cx="3505200" cy="209550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4211955" y="1059815"/>
            <a:ext cx="4178300" cy="1024890"/>
            <a:chOff x="6633" y="1669"/>
            <a:chExt cx="6580" cy="1614"/>
          </a:xfrm>
        </p:grpSpPr>
        <p:sp>
          <p:nvSpPr>
            <p:cNvPr id="12" name="文本框 11"/>
            <p:cNvSpPr txBox="1"/>
            <p:nvPr/>
          </p:nvSpPr>
          <p:spPr>
            <a:xfrm>
              <a:off x="6633" y="1669"/>
              <a:ext cx="658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Python</a:t>
              </a:r>
              <a:r>
                <a:rPr lang="zh-CN" altLang="en-US" sz="1600"/>
                <a:t>中的变量可以储存任何的数据类型</a:t>
              </a:r>
              <a:r>
                <a:rPr lang="en-US" altLang="zh-CN" sz="1600"/>
                <a:t>(</a:t>
              </a:r>
              <a:r>
                <a:rPr lang="zh-CN" altLang="en-US" sz="1600"/>
                <a:t>值</a:t>
              </a:r>
              <a:r>
                <a:rPr lang="en-US" altLang="zh-CN" sz="1600"/>
                <a:t>)</a:t>
              </a:r>
              <a:endParaRPr lang="en-US" altLang="zh-CN" sz="160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633" y="2753"/>
              <a:ext cx="643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/>
                <a:t>其中当然也包括布尔值和数字</a:t>
              </a:r>
              <a:r>
                <a:rPr lang="en-US" altLang="zh-CN" sz="1600"/>
                <a:t>(</a:t>
              </a:r>
              <a:r>
                <a:rPr lang="zh-CN" altLang="zh-CN" sz="1600"/>
                <a:t>整型</a:t>
              </a:r>
              <a:r>
                <a:rPr lang="en-US" altLang="zh-CN" sz="1600"/>
                <a:t>)</a:t>
              </a:r>
              <a:endParaRPr lang="en-US" altLang="zh-CN"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变量的唯一性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015" y="1059815"/>
            <a:ext cx="3048000" cy="155257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83260" y="2719705"/>
            <a:ext cx="2230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/>
              <a:t>输出的结果是什么？</a:t>
            </a:r>
            <a:endParaRPr lang="zh-CN" altLang="en-US" sz="1800"/>
          </a:p>
        </p:txBody>
      </p:sp>
      <p:sp>
        <p:nvSpPr>
          <p:cNvPr id="13" name="文本框 12"/>
          <p:cNvSpPr txBox="1"/>
          <p:nvPr/>
        </p:nvSpPr>
        <p:spPr>
          <a:xfrm>
            <a:off x="683260" y="3220085"/>
            <a:ext cx="2239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/>
              <a:t>为什么是这个结果？</a:t>
            </a:r>
            <a:endParaRPr lang="zh-CN" altLang="en-US" sz="1800"/>
          </a:p>
        </p:txBody>
      </p:sp>
      <p:sp>
        <p:nvSpPr>
          <p:cNvPr id="17" name="文本框 16"/>
          <p:cNvSpPr txBox="1"/>
          <p:nvPr/>
        </p:nvSpPr>
        <p:spPr>
          <a:xfrm>
            <a:off x="683260" y="3745230"/>
            <a:ext cx="3281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/>
              <a:t>1.</a:t>
            </a:r>
            <a:r>
              <a:rPr lang="zh-CN" altLang="en-US" sz="1800"/>
              <a:t>变量的</a:t>
            </a:r>
            <a:r>
              <a:rPr lang="zh-CN" altLang="en-US" sz="1800" b="1"/>
              <a:t>唯一性</a:t>
            </a:r>
            <a:endParaRPr lang="zh-CN" altLang="en-US" sz="1800"/>
          </a:p>
          <a:p>
            <a:r>
              <a:rPr lang="en-US" altLang="zh-CN" sz="1800"/>
              <a:t>2.</a:t>
            </a:r>
            <a:r>
              <a:rPr lang="zh-CN" altLang="en-US" sz="1800"/>
              <a:t>代码顺序结构</a:t>
            </a:r>
            <a:r>
              <a:rPr lang="zh-CN" altLang="en-US" sz="1800" b="1"/>
              <a:t>从上往下运行</a:t>
            </a:r>
            <a:endParaRPr lang="zh-CN" altLang="en-US" sz="18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/>
      <p:bldP spid="13" grpId="1"/>
      <p:bldP spid="17" grpId="0"/>
      <p:bldP spid="17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变量先赋值再使用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425" y="1059815"/>
            <a:ext cx="3009900" cy="16383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61670" y="2801620"/>
            <a:ext cx="2230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/>
              <a:t>输出的结果是什么？</a:t>
            </a:r>
            <a:endParaRPr lang="zh-CN" altLang="en-US" sz="1800"/>
          </a:p>
        </p:txBody>
      </p:sp>
      <p:sp>
        <p:nvSpPr>
          <p:cNvPr id="13" name="文本框 12"/>
          <p:cNvSpPr txBox="1"/>
          <p:nvPr/>
        </p:nvSpPr>
        <p:spPr>
          <a:xfrm>
            <a:off x="661670" y="3273425"/>
            <a:ext cx="2239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/>
              <a:t>为什么是这个结果？</a:t>
            </a:r>
            <a:endParaRPr lang="zh-CN" altLang="en-US" sz="1800"/>
          </a:p>
        </p:txBody>
      </p:sp>
      <p:sp>
        <p:nvSpPr>
          <p:cNvPr id="17" name="文本框 16"/>
          <p:cNvSpPr txBox="1"/>
          <p:nvPr/>
        </p:nvSpPr>
        <p:spPr>
          <a:xfrm>
            <a:off x="661670" y="3745230"/>
            <a:ext cx="328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 b="1"/>
              <a:t>变量只有赋值了才算被创建</a:t>
            </a:r>
            <a:endParaRPr lang="zh-CN" altLang="en-US" sz="18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/>
      <p:bldP spid="13" grpId="1"/>
      <p:bldP spid="17" grpId="0"/>
      <p:bldP spid="17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变量之间的赋值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61670" y="3131820"/>
            <a:ext cx="2230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/>
              <a:t>输出的结果是什么？</a:t>
            </a:r>
            <a:endParaRPr lang="zh-CN" altLang="en-US" sz="1800"/>
          </a:p>
        </p:txBody>
      </p:sp>
      <p:sp>
        <p:nvSpPr>
          <p:cNvPr id="13" name="文本框 12"/>
          <p:cNvSpPr txBox="1"/>
          <p:nvPr/>
        </p:nvSpPr>
        <p:spPr>
          <a:xfrm>
            <a:off x="661670" y="3676015"/>
            <a:ext cx="2239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/>
              <a:t>为什么是这个结果？</a:t>
            </a:r>
            <a:endParaRPr lang="zh-CN" altLang="en-US" sz="1800"/>
          </a:p>
        </p:txBody>
      </p:sp>
      <p:sp>
        <p:nvSpPr>
          <p:cNvPr id="17" name="文本框 16"/>
          <p:cNvSpPr txBox="1"/>
          <p:nvPr/>
        </p:nvSpPr>
        <p:spPr>
          <a:xfrm>
            <a:off x="661670" y="4220210"/>
            <a:ext cx="38855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 b="1"/>
              <a:t>变量可以将自己的值赋值给别的变量，</a:t>
            </a:r>
            <a:endParaRPr lang="zh-CN" altLang="en-US" sz="1800" b="1"/>
          </a:p>
          <a:p>
            <a:r>
              <a:rPr lang="zh-CN" altLang="en-US" sz="1800" b="1"/>
              <a:t>同时自身的值是保持不变的</a:t>
            </a:r>
            <a:endParaRPr lang="zh-CN" altLang="en-US" sz="1800" b="1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670" y="917575"/>
            <a:ext cx="3076575" cy="20383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145" y="924560"/>
            <a:ext cx="3124200" cy="2095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/>
      <p:bldP spid="13" grpId="1"/>
      <p:bldP spid="17" grpId="0"/>
      <p:bldP spid="17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变量值之间的交换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1059815"/>
            <a:ext cx="2933700" cy="20764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" y="3304540"/>
            <a:ext cx="817245" cy="114427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090" y="3304540"/>
            <a:ext cx="864870" cy="1181100"/>
          </a:xfrm>
          <a:prstGeom prst="rect">
            <a:avLst/>
          </a:prstGeom>
        </p:spPr>
      </p:pic>
      <p:sp>
        <p:nvSpPr>
          <p:cNvPr id="17" name="右箭头 16"/>
          <p:cNvSpPr/>
          <p:nvPr/>
        </p:nvSpPr>
        <p:spPr>
          <a:xfrm>
            <a:off x="1619250" y="3810000"/>
            <a:ext cx="864235" cy="1695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19" name="右箭头 18"/>
          <p:cNvSpPr/>
          <p:nvPr/>
        </p:nvSpPr>
        <p:spPr>
          <a:xfrm>
            <a:off x="3698240" y="1995805"/>
            <a:ext cx="864235" cy="1695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755" y="924560"/>
            <a:ext cx="3073400" cy="4021455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5795645" y="2427605"/>
            <a:ext cx="1590675" cy="14897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三行代码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9" grpId="0" animBg="1"/>
      <p:bldP spid="20" grpId="0" animBg="1"/>
      <p:bldP spid="19" grpId="1" animBg="1"/>
      <p:bldP spid="20" grpId="1" animBg="1"/>
      <p:bldP spid="20" grpId="2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多变量赋值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1131570"/>
            <a:ext cx="3438525" cy="26289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55650" y="4000500"/>
            <a:ext cx="4754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 b="1"/>
              <a:t>多变量同时赋值，这种方法交换更加的方便。</a:t>
            </a:r>
            <a:endParaRPr lang="zh-CN" altLang="en-US" sz="18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码猿西游中的变量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3081" y="1704463"/>
            <a:ext cx="3636016" cy="12354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矩形 8"/>
          <p:cNvSpPr/>
          <p:nvPr/>
        </p:nvSpPr>
        <p:spPr>
          <a:xfrm>
            <a:off x="2393081" y="1890116"/>
            <a:ext cx="929134" cy="969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2195736" y="2819371"/>
            <a:ext cx="445888" cy="9765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矩形 1"/>
          <p:cNvSpPr>
            <a:spLocks noChangeArrowheads="1"/>
          </p:cNvSpPr>
          <p:nvPr/>
        </p:nvSpPr>
        <p:spPr bwMode="auto">
          <a:xfrm>
            <a:off x="1685314" y="3811842"/>
            <a:ext cx="11504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变量名</a:t>
            </a:r>
            <a:endParaRPr lang="zh-CN" altLang="zh-CN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5" name="矩形 1"/>
          <p:cNvSpPr>
            <a:spLocks noChangeArrowheads="1"/>
          </p:cNvSpPr>
          <p:nvPr/>
        </p:nvSpPr>
        <p:spPr bwMode="auto">
          <a:xfrm>
            <a:off x="4465052" y="3811842"/>
            <a:ext cx="11150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变量值</a:t>
            </a:r>
            <a:endParaRPr lang="zh-CN" altLang="zh-CN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746522" y="1849705"/>
            <a:ext cx="929134" cy="969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4424027" y="2776495"/>
            <a:ext cx="448974" cy="10193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/>
      <p:bldP spid="15" grpId="0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码猿新方法的使用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6" name="矩形 1"/>
          <p:cNvSpPr>
            <a:spLocks noChangeArrowheads="1"/>
          </p:cNvSpPr>
          <p:nvPr/>
        </p:nvSpPr>
        <p:spPr bwMode="auto">
          <a:xfrm>
            <a:off x="543736" y="1358647"/>
            <a:ext cx="510838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+mn-ea"/>
              </a:rPr>
              <a:t>demon = </a:t>
            </a:r>
            <a:r>
              <a:rPr lang="en-US" altLang="zh-CN" sz="1800" b="1" dirty="0" err="1">
                <a:latin typeface="+mn-ea"/>
              </a:rPr>
              <a:t>mayuan.findNearestEnemy</a:t>
            </a:r>
            <a:r>
              <a:rPr lang="en-US" altLang="zh-CN" sz="1800" b="1" dirty="0">
                <a:latin typeface="+mn-ea"/>
              </a:rPr>
              <a:t>()</a:t>
            </a:r>
            <a:endParaRPr lang="en-US" altLang="zh-CN" sz="1800" b="1" dirty="0">
              <a:latin typeface="+mn-ea"/>
            </a:endParaRPr>
          </a:p>
          <a:p>
            <a:endParaRPr lang="zh-CN" altLang="zh-CN" sz="1800" b="1" dirty="0">
              <a:latin typeface="+mn-ea"/>
            </a:endParaRPr>
          </a:p>
        </p:txBody>
      </p:sp>
      <p:sp>
        <p:nvSpPr>
          <p:cNvPr id="18" name="矩形 1"/>
          <p:cNvSpPr>
            <a:spLocks noChangeArrowheads="1"/>
          </p:cNvSpPr>
          <p:nvPr/>
        </p:nvSpPr>
        <p:spPr bwMode="auto">
          <a:xfrm>
            <a:off x="508635" y="1820545"/>
            <a:ext cx="493649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C000"/>
                </a:solidFill>
                <a:latin typeface="+mn-ea"/>
              </a:rPr>
              <a:t>#</a:t>
            </a:r>
            <a:r>
              <a:rPr lang="zh-CN" altLang="en-US" sz="1800" b="1" dirty="0">
                <a:solidFill>
                  <a:srgbClr val="FFC000"/>
                </a:solidFill>
                <a:latin typeface="+mn-ea"/>
              </a:rPr>
              <a:t>码猿会找到最近的敌人并且赋值到变量中</a:t>
            </a:r>
            <a:endParaRPr lang="zh-CN" altLang="zh-CN" sz="1800" b="1" dirty="0">
              <a:solidFill>
                <a:srgbClr val="FFC000"/>
              </a:solidFill>
              <a:latin typeface="+mn-ea"/>
            </a:endParaRPr>
          </a:p>
        </p:txBody>
      </p:sp>
      <p:sp>
        <p:nvSpPr>
          <p:cNvPr id="10" name="矩形 1"/>
          <p:cNvSpPr>
            <a:spLocks noChangeArrowheads="1"/>
          </p:cNvSpPr>
          <p:nvPr/>
        </p:nvSpPr>
        <p:spPr bwMode="auto">
          <a:xfrm>
            <a:off x="543736" y="2383454"/>
            <a:ext cx="5108384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800" b="1" dirty="0" err="1">
                <a:latin typeface="+mn-ea"/>
              </a:rPr>
              <a:t>mayuan.attack</a:t>
            </a:r>
            <a:r>
              <a:rPr lang="en-US" altLang="zh-CN" sz="1800" b="1" dirty="0">
                <a:latin typeface="+mn-ea"/>
              </a:rPr>
              <a:t>(demon)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 err="1">
                <a:latin typeface="+mn-ea"/>
              </a:rPr>
              <a:t>mayuan.attack</a:t>
            </a:r>
            <a:r>
              <a:rPr lang="en-US" altLang="zh-CN" sz="1800" b="1" dirty="0">
                <a:latin typeface="+mn-ea"/>
              </a:rPr>
              <a:t>(demon)</a:t>
            </a:r>
            <a:endParaRPr lang="zh-CN" altLang="zh-CN" sz="1800" b="1" dirty="0">
              <a:latin typeface="+mn-ea"/>
            </a:endParaRPr>
          </a:p>
          <a:p>
            <a:endParaRPr lang="zh-CN" altLang="zh-CN" sz="1800" b="1" dirty="0">
              <a:latin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9700" y="2355850"/>
            <a:ext cx="1130935" cy="132397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2" name="矩形 1"/>
          <p:cNvSpPr>
            <a:spLocks noChangeArrowheads="1"/>
          </p:cNvSpPr>
          <p:nvPr/>
        </p:nvSpPr>
        <p:spPr bwMode="auto">
          <a:xfrm>
            <a:off x="5939790" y="1130300"/>
            <a:ext cx="100584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+mn-ea"/>
              </a:rPr>
              <a:t>demon</a:t>
            </a:r>
            <a:endParaRPr lang="zh-CN" altLang="zh-CN" sz="1800" b="1" dirty="0">
              <a:latin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215" y="3364230"/>
            <a:ext cx="1165225" cy="115506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cxnSp>
        <p:nvCxnSpPr>
          <p:cNvPr id="14" name="直接箭头连接符 13"/>
          <p:cNvCxnSpPr/>
          <p:nvPr/>
        </p:nvCxnSpPr>
        <p:spPr>
          <a:xfrm flipH="1">
            <a:off x="5939810" y="1592478"/>
            <a:ext cx="267335" cy="5473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6659575" y="1595593"/>
            <a:ext cx="1224280" cy="16243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539552" y="1371315"/>
            <a:ext cx="89520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箭头连接符 19"/>
          <p:cNvCxnSpPr/>
          <p:nvPr/>
        </p:nvCxnSpPr>
        <p:spPr>
          <a:xfrm>
            <a:off x="1187421" y="1779672"/>
            <a:ext cx="1440180" cy="5759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2411730" y="2435860"/>
            <a:ext cx="810260" cy="2730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08635" y="3021330"/>
            <a:ext cx="3147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1800" b="1" dirty="0">
                <a:solidFill>
                  <a:srgbClr val="FFC000"/>
                </a:solidFill>
                <a:latin typeface="+mn-ea"/>
              </a:rPr>
              <a:t>#码猿攻击变量中所指的敌人</a:t>
            </a:r>
            <a:endParaRPr lang="en-US" altLang="zh-CN" sz="1800" b="1" dirty="0">
              <a:solidFill>
                <a:srgbClr val="FFC000"/>
              </a:solidFill>
              <a:latin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rcRect l="9011" t="1578" r="13777" b="13020"/>
          <a:stretch>
            <a:fillRect/>
          </a:stretch>
        </p:blipFill>
        <p:spPr>
          <a:xfrm>
            <a:off x="6012180" y="123825"/>
            <a:ext cx="802005" cy="990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乘号 10"/>
          <p:cNvSpPr/>
          <p:nvPr/>
        </p:nvSpPr>
        <p:spPr>
          <a:xfrm>
            <a:off x="4573270" y="2113915"/>
            <a:ext cx="2424430" cy="180848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0" grpId="0"/>
      <p:bldP spid="12" grpId="0"/>
      <p:bldP spid="19" grpId="0" animBg="1"/>
      <p:bldP spid="21" grpId="0" bldLvl="0" animBg="1"/>
      <p:bldP spid="2" grpId="0"/>
      <p:bldP spid="11" grpId="0" animBg="1"/>
      <p:bldP spid="11" grpId="1" animBg="1"/>
    </p:bldLst>
  </p:timing>
</p:sld>
</file>

<file path=ppt/tags/tag1.xml><?xml version="1.0" encoding="utf-8"?>
<p:tagLst xmlns:p="http://schemas.openxmlformats.org/presentationml/2006/main">
  <p:tag name="KSO_WM_UNIT_PLACING_PICTURE_USER_VIEWPORT" val="{&quot;height&quot;:3300,&quot;width&quot;:5520}"/>
</p:tagLst>
</file>

<file path=ppt/tags/tag2.xml><?xml version="1.0" encoding="utf-8"?>
<p:tagLst xmlns:p="http://schemas.openxmlformats.org/presentationml/2006/main">
  <p:tag name="ISPRING_RESOURCE_PATHS_HASH_PRESENTER" val="76ce7ccbcda6cf12636bdb4ab607c4c83d474"/>
  <p:tag name="COMMONDATA" val="eyJoZGlkIjoiNzE1MTRiZGNmZGQyODMxZWY5ZTk1Nzk2OTA5ZmQ2YzIifQ==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1051</Words>
  <Application>WPS 演示</Application>
  <PresentationFormat>全屏显示(16:9)</PresentationFormat>
  <Paragraphs>234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宋体</vt:lpstr>
      <vt:lpstr>Wingdings</vt:lpstr>
      <vt:lpstr>HandelGotDLig</vt:lpstr>
      <vt:lpstr>汉真广标</vt:lpstr>
      <vt:lpstr>微软雅黑</vt:lpstr>
      <vt:lpstr>Impact</vt:lpstr>
      <vt:lpstr>Times New Roman</vt:lpstr>
      <vt:lpstr>Wingdings 2</vt:lpstr>
      <vt:lpstr>Segoe Print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爱德华·纽盖特</cp:lastModifiedBy>
  <cp:revision>443</cp:revision>
  <cp:lastPrinted>2000-12-31T21:09:00Z</cp:lastPrinted>
  <dcterms:created xsi:type="dcterms:W3CDTF">2015-11-10T12:01:00Z</dcterms:created>
  <dcterms:modified xsi:type="dcterms:W3CDTF">2022-09-23T12:45:04Z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1AE0325F57C6447EA8C0FD0A1B69EF53</vt:lpwstr>
  </property>
  <property fmtid="{D5CDD505-2E9C-101B-9397-08002B2CF9AE}" pid="3" name="KSOProductBuildVer">
    <vt:lpwstr>2052-11.1.0.12358</vt:lpwstr>
  </property>
</Properties>
</file>