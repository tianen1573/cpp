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470" r:id="rId3"/>
    <p:sldId id="499" r:id="rId4"/>
    <p:sldId id="500" r:id="rId5"/>
    <p:sldId id="501" r:id="rId6"/>
    <p:sldId id="485" r:id="rId7"/>
    <p:sldId id="480" r:id="rId9"/>
    <p:sldId id="498" r:id="rId10"/>
    <p:sldId id="491" r:id="rId11"/>
    <p:sldId id="514" r:id="rId12"/>
    <p:sldId id="512" r:id="rId13"/>
    <p:sldId id="513" r:id="rId14"/>
    <p:sldId id="515" r:id="rId15"/>
    <p:sldId id="492" r:id="rId16"/>
    <p:sldId id="493" r:id="rId17"/>
    <p:sldId id="482" r:id="rId18"/>
    <p:sldId id="446" r:id="rId19"/>
    <p:sldId id="494" r:id="rId20"/>
    <p:sldId id="490" r:id="rId21"/>
  </p:sldIdLst>
  <p:sldSz cx="9144000" cy="5143500" type="screen16x9"/>
  <p:notesSz cx="6797675" cy="9925050"/>
  <p:custDataLst>
    <p:tags r:id="rId25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8E18A"/>
    <a:srgbClr val="215F27"/>
    <a:srgbClr val="FF6600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09" autoAdjust="0"/>
    <p:restoredTop sz="95212" autoAdjust="0"/>
  </p:normalViewPr>
  <p:slideViewPr>
    <p:cSldViewPr>
      <p:cViewPr varScale="1">
        <p:scale>
          <a:sx n="151" d="100"/>
          <a:sy n="151" d="100"/>
        </p:scale>
        <p:origin x="162" y="4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7281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课前回顾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1081068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坐标系</a:t>
            </a:r>
            <a:r>
              <a:rPr lang="zh-CN" altLang="en-US" sz="1600" b="1" dirty="0">
                <a:latin typeface="+mn-ea"/>
              </a:rPr>
              <a:t>由哪几部分构成？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1560" y="1563638"/>
            <a:ext cx="10081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坐标轴</a:t>
            </a:r>
            <a:endParaRPr lang="zh-CN" altLang="zh-CN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11560" y="2067694"/>
            <a:ext cx="74168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latin typeface="+mn-ea"/>
              </a:rPr>
              <a:t>createXY</a:t>
            </a:r>
            <a:r>
              <a:rPr lang="zh-CN" altLang="en-US" sz="1600" b="1" dirty="0">
                <a:latin typeface="+mn-ea"/>
              </a:rPr>
              <a:t>方法中有哪几个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</a:rPr>
              <a:t>参数</a:t>
            </a:r>
            <a:r>
              <a:rPr lang="zh-CN" altLang="en-US" sz="1600" b="1" dirty="0">
                <a:latin typeface="+mn-ea"/>
              </a:rPr>
              <a:t>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56641" y="2467804"/>
            <a:ext cx="1223071" cy="418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创造类型       </a:t>
            </a:r>
            <a:endParaRPr lang="zh-CN" altLang="en-US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1560" y="3190716"/>
            <a:ext cx="74168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latin typeface="+mn-ea"/>
              </a:rPr>
              <a:t>mayuan.goXY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的含义？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11560" y="3800822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让码猿走到指定的坐标位置</a:t>
            </a:r>
            <a:endParaRPr lang="zh-CN" altLang="zh-CN" sz="18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79712" y="1563638"/>
            <a:ext cx="10081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原点</a:t>
            </a:r>
            <a:endParaRPr lang="zh-CN" altLang="zh-CN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89064" y="1563638"/>
            <a:ext cx="12109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单位长度</a:t>
            </a:r>
            <a:endParaRPr lang="zh-CN" altLang="zh-CN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267745" y="2467804"/>
            <a:ext cx="864096" cy="418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X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坐标       </a:t>
            </a:r>
            <a:endParaRPr lang="zh-CN" altLang="en-US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600957" y="2467804"/>
            <a:ext cx="864096" cy="418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Y</a:t>
            </a:r>
            <a:r>
              <a:rPr lang="zh-CN" altLang="en-US" sz="1600" b="1" dirty="0">
                <a:solidFill>
                  <a:schemeClr val="accent4">
                    <a:lumMod val="75000"/>
                  </a:schemeClr>
                </a:solidFill>
                <a:latin typeface="+mn-ea"/>
              </a:rPr>
              <a:t>坐标       </a:t>
            </a:r>
            <a:endParaRPr lang="zh-CN" altLang="en-US" sz="1600" b="1" dirty="0">
              <a:solidFill>
                <a:schemeClr val="accent4">
                  <a:lumMod val="75000"/>
                </a:schemeClr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2" grpId="0"/>
      <p:bldP spid="12" grpId="0"/>
      <p:bldP spid="13" grpId="0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三大基本结构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1505" y="982980"/>
            <a:ext cx="8100695" cy="8655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中一共有三大基本结构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顺序结构、循环结构、分支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我们所有的代码，也都是基于这三种结构编写而成。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2031365"/>
            <a:ext cx="8117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顺序结构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最简单的结构，没有弯弯绕绕，就是按照代码从上往下执行。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2987675" y="2571750"/>
            <a:ext cx="2527935" cy="24364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8" grpId="0"/>
      <p:bldP spid="8" grpId="1"/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三大基本结构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1505" y="982980"/>
            <a:ext cx="810069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循环结构，最好的例子就是我们的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1600835"/>
            <a:ext cx="5229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循环结构最大的特点就是一部分代码的重复执行。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2411730" y="2427605"/>
            <a:ext cx="3257550" cy="2438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8" grpId="0"/>
      <p:bldP spid="8" grpId="1"/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三大基本结构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1505" y="982980"/>
            <a:ext cx="810069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分支结构也叫选择结构，也就是我们这节课主要学习的基本结构。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1600835"/>
            <a:ext cx="781177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分支结构的特点就像是分叉路口，根据选择的不同，我们执行的语句也各不相同。并且分支根据数量的区别，还分为单分支、二分支、多分支结构。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1979295" y="2571750"/>
            <a:ext cx="3613150" cy="21729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8" grpId="0"/>
      <p:bldP spid="8" grpId="1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799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PythonL0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680907" y="1853411"/>
            <a:ext cx="221043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单分支语句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if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的定义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1670" y="1059815"/>
            <a:ext cx="206756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if  </a:t>
            </a:r>
            <a:r>
              <a:rPr lang="en-US" altLang="zh-CN" sz="2800" b="1" dirty="0">
                <a:solidFill>
                  <a:schemeClr val="tx1"/>
                </a:solidFill>
              </a:rPr>
              <a:t>: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如果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57535" y="1996440"/>
            <a:ext cx="3090998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(if)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下雨了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出门要带伞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290" y="3076575"/>
            <a:ext cx="1492250" cy="14490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矩形 22"/>
          <p:cNvSpPr/>
          <p:nvPr/>
        </p:nvSpPr>
        <p:spPr>
          <a:xfrm>
            <a:off x="4427855" y="1995805"/>
            <a:ext cx="360807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(if)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掌握了编程知识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可以玩码猿西游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610" y="3075940"/>
            <a:ext cx="3462655" cy="11379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2" grpId="0"/>
      <p:bldP spid="2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if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的格式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3260" y="958215"/>
            <a:ext cx="4177665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2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判断条件：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执行语句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3260" y="2312670"/>
            <a:ext cx="7109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/>
              <a:t>当判断条件成立时，执行语句才会执行，反之，执行语句则不执行。</a:t>
            </a:r>
            <a:endParaRPr lang="zh-CN" altLang="en-US" sz="1800"/>
          </a:p>
        </p:txBody>
      </p:sp>
      <p:sp>
        <p:nvSpPr>
          <p:cNvPr id="11" name="文本框 10"/>
          <p:cNvSpPr txBox="1"/>
          <p:nvPr/>
        </p:nvSpPr>
        <p:spPr>
          <a:xfrm>
            <a:off x="683260" y="2910840"/>
            <a:ext cx="76600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像我们这节课的语句，只有一种执行语句，结果为执行或不执行的，</a:t>
            </a:r>
            <a:endParaRPr lang="zh-CN" altLang="en-US" sz="1600"/>
          </a:p>
          <a:p>
            <a:r>
              <a:rPr lang="zh-CN" altLang="en-US" sz="1600"/>
              <a:t>就是单分支语句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8" grpId="0"/>
      <p:bldP spid="8" grpId="1"/>
      <p:bldP spid="10" grpId="0"/>
      <p:bldP spid="10" grpId="1"/>
      <p:bldP spid="11" grpId="0"/>
      <p:bldP spid="1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格式转换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4216" y="1491630"/>
            <a:ext cx="366176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zh-CN" altLang="en-US" sz="2400" b="1" dirty="0"/>
              <a:t> </a:t>
            </a:r>
            <a:r>
              <a:rPr lang="zh-CN" altLang="en-US" sz="2000" b="1" dirty="0"/>
              <a:t>判断条件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r>
              <a:rPr lang="en-US" altLang="zh-CN" sz="2400" b="1" dirty="0"/>
              <a:t>	</a:t>
            </a:r>
            <a:r>
              <a:rPr lang="zh-CN" altLang="en-US" sz="2000" b="1" dirty="0"/>
              <a:t>执行语句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716719" y="1956777"/>
            <a:ext cx="709432" cy="3269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箭头连接符 10"/>
          <p:cNvCxnSpPr/>
          <p:nvPr/>
        </p:nvCxnSpPr>
        <p:spPr>
          <a:xfrm>
            <a:off x="1331443" y="2284281"/>
            <a:ext cx="0" cy="5035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827405" y="2860040"/>
            <a:ext cx="1301115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srgbClr val="FF0000"/>
                </a:solidFill>
                <a:latin typeface="微软雅黑" panose="020B0503020204020204" pitchFamily="34" charset="-122"/>
                <a:cs typeface="+mn-ea"/>
                <a:sym typeface="+mn-lt"/>
              </a:rPr>
              <a:t>缩进</a:t>
            </a:r>
            <a:endParaRPr lang="en-US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465430" y="1076131"/>
            <a:ext cx="30909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如果（</a:t>
            </a:r>
            <a:r>
              <a:rPr lang="en-US" altLang="zh-CN" sz="2400" b="1" dirty="0"/>
              <a:t>if</a:t>
            </a:r>
            <a:r>
              <a:rPr lang="zh-CN" altLang="en-US" sz="2400" b="1" dirty="0"/>
              <a:t>）下雨了</a:t>
            </a:r>
            <a:endParaRPr lang="en-US" altLang="zh-CN" sz="2400" b="1" dirty="0"/>
          </a:p>
          <a:p>
            <a:r>
              <a:rPr lang="zh-CN" altLang="en-US" sz="2400" b="1" dirty="0"/>
              <a:t>出门要带伞</a:t>
            </a:r>
            <a:endParaRPr lang="zh-CN" altLang="en-US" sz="2000" dirty="0"/>
          </a:p>
        </p:txBody>
      </p:sp>
      <p:cxnSp>
        <p:nvCxnSpPr>
          <p:cNvPr id="22" name="直线箭头连接符 21"/>
          <p:cNvCxnSpPr/>
          <p:nvPr/>
        </p:nvCxnSpPr>
        <p:spPr>
          <a:xfrm flipH="1">
            <a:off x="5527267" y="1892876"/>
            <a:ext cx="1" cy="2561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584778" y="2141988"/>
            <a:ext cx="36617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zh-CN" altLang="en-US" sz="2400" b="1" dirty="0"/>
              <a:t> </a:t>
            </a:r>
            <a:r>
              <a:rPr lang="zh-CN" altLang="en-US" sz="2000" b="1" dirty="0"/>
              <a:t>下雨了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r>
              <a:rPr lang="en-US" altLang="zh-CN" sz="2400" b="1" dirty="0"/>
              <a:t>	</a:t>
            </a:r>
            <a:r>
              <a:rPr lang="zh-CN" altLang="en-US" sz="2000" b="1" dirty="0"/>
              <a:t>出门带伞</a:t>
            </a:r>
            <a:endParaRPr lang="zh-CN" altLang="en-US" sz="2000" dirty="0"/>
          </a:p>
        </p:txBody>
      </p:sp>
      <p:sp>
        <p:nvSpPr>
          <p:cNvPr id="25" name="矩形 24"/>
          <p:cNvSpPr/>
          <p:nvPr/>
        </p:nvSpPr>
        <p:spPr>
          <a:xfrm>
            <a:off x="563245" y="3836670"/>
            <a:ext cx="429006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如果</a:t>
            </a:r>
            <a:r>
              <a:rPr lang="en-US" altLang="zh-CN" sz="2400" b="1" dirty="0"/>
              <a:t>(if)</a:t>
            </a:r>
            <a:r>
              <a:rPr lang="zh-CN" altLang="en-US" sz="2400" b="1" dirty="0">
                <a:sym typeface="+mn-ea"/>
              </a:rPr>
              <a:t>掌握了编程知识</a:t>
            </a:r>
            <a:endParaRPr lang="en-US" altLang="zh-CN" sz="2400" b="1" dirty="0"/>
          </a:p>
          <a:p>
            <a:r>
              <a:rPr lang="zh-CN" altLang="en-US" sz="2400" b="1" dirty="0"/>
              <a:t>玩码猿西游</a:t>
            </a:r>
            <a:endParaRPr lang="zh-CN" altLang="en-US" sz="2000" dirty="0"/>
          </a:p>
        </p:txBody>
      </p:sp>
      <p:cxnSp>
        <p:nvCxnSpPr>
          <p:cNvPr id="26" name="直线箭头连接符 25"/>
          <p:cNvCxnSpPr/>
          <p:nvPr/>
        </p:nvCxnSpPr>
        <p:spPr>
          <a:xfrm>
            <a:off x="3707906" y="4249306"/>
            <a:ext cx="576062" cy="28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4584778" y="3723878"/>
            <a:ext cx="366176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zh-CN" altLang="en-US" sz="2400" b="1" dirty="0"/>
              <a:t> </a:t>
            </a:r>
            <a:r>
              <a:rPr lang="zh-CN" altLang="en-US" sz="2000" b="1" dirty="0"/>
              <a:t>掌握了编程知识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r>
              <a:rPr lang="en-US" altLang="zh-CN" sz="2400" b="1" dirty="0"/>
              <a:t>	</a:t>
            </a:r>
            <a:r>
              <a:rPr lang="zh-CN" altLang="en-US" sz="2000" b="1" dirty="0"/>
              <a:t>玩码猿西游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3" grpId="0"/>
      <p:bldP spid="2" grpId="0" animBg="1"/>
      <p:bldP spid="17" grpId="0"/>
      <p:bldP spid="18" grpId="0"/>
      <p:bldP spid="24" grpId="0"/>
      <p:bldP spid="25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if</a:t>
            </a:r>
            <a:r>
              <a:rPr lang="zh-CN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语句练习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1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5010" y="1069975"/>
            <a:ext cx="4848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当判断条件成立时，执行语句会正常执行。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5010" y="3097530"/>
            <a:ext cx="6751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当判断条件不成立时，会跳过执行语句。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10" y="1583055"/>
            <a:ext cx="5534025" cy="14001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10" y="3580130"/>
            <a:ext cx="5400675" cy="1314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2" grpId="0"/>
      <p:bldP spid="2" grpId="1"/>
      <p:bldP spid="11" grpId="0"/>
      <p:bldP spid="1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input()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6905" y="1069975"/>
            <a:ext cx="79013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input() :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输入语句，它的作用是获取终端中输入的字符串。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6905" y="1774825"/>
            <a:ext cx="59512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= input(“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你的名字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:”)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print(a)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6905" y="2910840"/>
            <a:ext cx="768286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从这个程序，我们可以看出，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将我们输入的字符串储存到了变量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然后被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语句进行了打印和输出。</a:t>
            </a:r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2" grpId="0"/>
      <p:bldP spid="2" grpId="1"/>
      <p:bldP spid="8" grpId="0"/>
      <p:bldP spid="8" grpId="1"/>
      <p:bldP spid="10" grpId="0"/>
      <p:bldP spid="1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if</a:t>
            </a:r>
            <a:r>
              <a:rPr lang="zh-CN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语句练习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2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5010" y="1069975"/>
            <a:ext cx="4848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我们来看一下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结合的一个使用。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5010" y="1547495"/>
            <a:ext cx="5974715" cy="17030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15010" y="3401060"/>
            <a:ext cx="6751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当我们输入的字符串等于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‘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小明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时，才会输出我们的欢迎语句。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2" grpId="0"/>
      <p:bldP spid="2" grpId="1"/>
      <p:bldP spid="11" grpId="0"/>
      <p:bldP spid="1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 if</a:t>
            </a:r>
            <a:r>
              <a:rPr lang="zh-CN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语句练习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56325" y="943610"/>
            <a:ext cx="2268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为什么会报错？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915670"/>
            <a:ext cx="5425440" cy="13811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b="7306"/>
          <a:stretch>
            <a:fillRect/>
          </a:stretch>
        </p:blipFill>
        <p:spPr>
          <a:xfrm>
            <a:off x="647700" y="2446020"/>
            <a:ext cx="6715125" cy="14986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7700" y="4086225"/>
            <a:ext cx="683260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字符串不能和数字比较大小，所以我们必须使用</a:t>
            </a:r>
            <a:r>
              <a:rPr lang="en-US" altLang="zh-CN" sz="1600"/>
              <a:t>int()</a:t>
            </a:r>
            <a:r>
              <a:rPr lang="zh-CN" altLang="zh-CN" sz="1600"/>
              <a:t>将字符串转换为数字。</a:t>
            </a:r>
            <a:endParaRPr lang="zh-CN" altLang="zh-CN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ldLvl="0" animBg="1"/>
      <p:bldP spid="7" grpId="0" bldLvl="0" animBg="1"/>
      <p:bldP spid="11" grpId="0"/>
      <p:bldP spid="11" grpId="1"/>
      <p:bldP spid="12" grpId="0"/>
      <p:bldP spid="1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的功能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741120" y="1131590"/>
            <a:ext cx="3661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if</a:t>
            </a:r>
            <a:r>
              <a:rPr lang="zh-CN" altLang="en-US" sz="2400" b="1" dirty="0"/>
              <a:t> 给代码添加限制条件</a:t>
            </a:r>
            <a:endParaRPr lang="zh-CN" altLang="en-US" sz="2000" dirty="0"/>
          </a:p>
        </p:txBody>
      </p:sp>
      <p:sp>
        <p:nvSpPr>
          <p:cNvPr id="19" name="矩形 18"/>
          <p:cNvSpPr/>
          <p:nvPr/>
        </p:nvSpPr>
        <p:spPr>
          <a:xfrm>
            <a:off x="351809" y="2110085"/>
            <a:ext cx="37161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 dirty="0"/>
              <a:t>a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=</a:t>
            </a:r>
            <a:r>
              <a:rPr lang="zh-CN" altLang="en-US" sz="1800" b="1" dirty="0"/>
              <a:t> </a:t>
            </a:r>
            <a:r>
              <a:rPr lang="en-US" altLang="zh-CN" sz="1800" b="1" dirty="0" err="1"/>
              <a:t>mayaun.findNearestEnemy</a:t>
            </a:r>
            <a:r>
              <a:rPr lang="en-US" altLang="zh-CN" sz="1800" b="1" dirty="0"/>
              <a:t>()</a:t>
            </a:r>
            <a:endParaRPr lang="en-US" altLang="zh-CN" sz="1800" b="1" dirty="0"/>
          </a:p>
          <a:p>
            <a:r>
              <a:rPr lang="en-US" altLang="zh-CN" sz="1800" b="1" dirty="0" err="1"/>
              <a:t>mayuan.attack</a:t>
            </a:r>
            <a:r>
              <a:rPr lang="en-US" altLang="zh-CN" sz="1800" b="1" dirty="0"/>
              <a:t>(a)</a:t>
            </a:r>
            <a:endParaRPr lang="en-US" altLang="zh-CN" sz="1800" b="1" dirty="0"/>
          </a:p>
          <a:p>
            <a:r>
              <a:rPr lang="en-US" altLang="zh-CN" sz="1800" b="1" dirty="0" err="1"/>
              <a:t>mayuan.attack</a:t>
            </a:r>
            <a:r>
              <a:rPr lang="en-US" altLang="zh-CN" sz="1800" b="1" dirty="0"/>
              <a:t>(a)</a:t>
            </a:r>
            <a:endParaRPr lang="zh-CN" altLang="en-US" sz="1800" b="1" dirty="0"/>
          </a:p>
        </p:txBody>
      </p:sp>
      <p:sp>
        <p:nvSpPr>
          <p:cNvPr id="20" name="矩形 19"/>
          <p:cNvSpPr/>
          <p:nvPr/>
        </p:nvSpPr>
        <p:spPr>
          <a:xfrm>
            <a:off x="443789" y="4121063"/>
            <a:ext cx="1987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1"/>
                </a:solidFill>
              </a:rPr>
              <a:t>每次都会执行</a:t>
            </a:r>
            <a:endParaRPr lang="zh-CN" altLang="en-US" sz="1800" b="1" dirty="0">
              <a:solidFill>
                <a:schemeClr val="accent1"/>
              </a:solidFill>
            </a:endParaRPr>
          </a:p>
        </p:txBody>
      </p:sp>
      <p:cxnSp>
        <p:nvCxnSpPr>
          <p:cNvPr id="9" name="直线箭头连接符 8"/>
          <p:cNvCxnSpPr/>
          <p:nvPr/>
        </p:nvCxnSpPr>
        <p:spPr>
          <a:xfrm>
            <a:off x="1234614" y="3033415"/>
            <a:ext cx="0" cy="10876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788024" y="2110085"/>
            <a:ext cx="37161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 dirty="0"/>
              <a:t>a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=</a:t>
            </a:r>
            <a:r>
              <a:rPr lang="zh-CN" altLang="en-US" sz="1800" b="1" dirty="0"/>
              <a:t> </a:t>
            </a:r>
            <a:r>
              <a:rPr lang="en-US" altLang="zh-CN" sz="1800" b="1" dirty="0" err="1"/>
              <a:t>mayaun.findNearestEnemy</a:t>
            </a:r>
            <a:r>
              <a:rPr lang="en-US" altLang="zh-CN" sz="1800" b="1" dirty="0"/>
              <a:t>()</a:t>
            </a:r>
            <a:endParaRPr lang="en-US" altLang="zh-CN" sz="1800" b="1" dirty="0"/>
          </a:p>
          <a:p>
            <a:r>
              <a:rPr lang="en-US" altLang="zh-CN" sz="1800" b="1" dirty="0"/>
              <a:t>if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a:</a:t>
            </a:r>
            <a:endParaRPr lang="en-US" altLang="zh-CN" sz="1800" b="1" dirty="0"/>
          </a:p>
          <a:p>
            <a:r>
              <a:rPr lang="en-US" altLang="zh-CN" sz="1800" b="1" dirty="0"/>
              <a:t>    </a:t>
            </a:r>
            <a:r>
              <a:rPr lang="en-US" altLang="zh-CN" sz="1800" b="1" dirty="0" err="1"/>
              <a:t>mayuan.attack</a:t>
            </a:r>
            <a:r>
              <a:rPr lang="en-US" altLang="zh-CN" sz="1800" b="1" dirty="0"/>
              <a:t>(a)</a:t>
            </a:r>
            <a:endParaRPr lang="en-US" altLang="zh-CN" sz="1800" b="1" dirty="0"/>
          </a:p>
        </p:txBody>
      </p:sp>
      <p:sp>
        <p:nvSpPr>
          <p:cNvPr id="23" name="矩形 22"/>
          <p:cNvSpPr/>
          <p:nvPr/>
        </p:nvSpPr>
        <p:spPr>
          <a:xfrm>
            <a:off x="5030510" y="2715291"/>
            <a:ext cx="2061769" cy="3269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8" name="直线箭头连接符 27"/>
          <p:cNvCxnSpPr/>
          <p:nvPr/>
        </p:nvCxnSpPr>
        <p:spPr>
          <a:xfrm>
            <a:off x="5804378" y="3033415"/>
            <a:ext cx="0" cy="10876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5030509" y="4143462"/>
            <a:ext cx="27818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1"/>
                </a:solidFill>
              </a:rPr>
              <a:t>只有满足条件才会执行</a:t>
            </a:r>
            <a:endParaRPr lang="zh-CN" altLang="en-US" sz="18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13" grpId="0"/>
      <p:bldP spid="19" grpId="0"/>
      <p:bldP spid="20" grpId="0"/>
      <p:bldP spid="21" grpId="0"/>
      <p:bldP spid="23" grpId="0" animBg="1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的功能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387781" y="3251822"/>
            <a:ext cx="1987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1"/>
                </a:solidFill>
              </a:rPr>
              <a:t>如果找到妖怪</a:t>
            </a:r>
            <a:endParaRPr lang="zh-CN" altLang="en-US" sz="1800" b="1" dirty="0">
              <a:solidFill>
                <a:schemeClr val="accent1"/>
              </a:solidFill>
            </a:endParaRPr>
          </a:p>
        </p:txBody>
      </p:sp>
      <p:cxnSp>
        <p:nvCxnSpPr>
          <p:cNvPr id="9" name="直线箭头连接符 8"/>
          <p:cNvCxnSpPr/>
          <p:nvPr/>
        </p:nvCxnSpPr>
        <p:spPr>
          <a:xfrm>
            <a:off x="2123728" y="2094236"/>
            <a:ext cx="0" cy="10876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927677" y="1767295"/>
            <a:ext cx="504056" cy="3269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875660" y="1439247"/>
            <a:ext cx="53926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demon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=</a:t>
            </a:r>
            <a:r>
              <a:rPr lang="zh-CN" altLang="en-US" sz="2000" b="1" dirty="0"/>
              <a:t> </a:t>
            </a:r>
            <a:r>
              <a:rPr lang="en-US" altLang="zh-CN" sz="2000" b="1" dirty="0" err="1"/>
              <a:t>mayaun.findNearestEnemy</a:t>
            </a:r>
            <a:r>
              <a:rPr lang="en-US" altLang="zh-CN" sz="2000" b="1" dirty="0"/>
              <a:t>()</a:t>
            </a:r>
            <a:endParaRPr lang="en-US" altLang="zh-CN" sz="2000" b="1" dirty="0"/>
          </a:p>
          <a:p>
            <a:r>
              <a:rPr lang="en-US" altLang="zh-CN" sz="2000" b="1" dirty="0"/>
              <a:t>if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demon:</a:t>
            </a:r>
            <a:endParaRPr lang="en-US" altLang="zh-CN" sz="2000" b="1" dirty="0"/>
          </a:p>
          <a:p>
            <a:r>
              <a:rPr lang="en-US" altLang="zh-CN" sz="2000" b="1" dirty="0"/>
              <a:t>    </a:t>
            </a:r>
            <a:r>
              <a:rPr lang="en-US" altLang="zh-CN" sz="2000" b="1" dirty="0" err="1"/>
              <a:t>mayuan.attack</a:t>
            </a:r>
            <a:r>
              <a:rPr lang="en-US" altLang="zh-CN" sz="2000" b="1" dirty="0"/>
              <a:t>(demon)</a:t>
            </a:r>
            <a:endParaRPr lang="en-US" altLang="zh-CN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20" grpId="0"/>
      <p:bldP spid="23" grpId="0" animBg="1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和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1584" y="1707654"/>
            <a:ext cx="21361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while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循环条件</a:t>
            </a:r>
            <a:r>
              <a:rPr lang="en-US" altLang="zh-CN" sz="2000" b="1" dirty="0"/>
              <a:t>:</a:t>
            </a:r>
            <a:endParaRPr lang="en-US" altLang="zh-CN" sz="2000" b="1" dirty="0"/>
          </a:p>
          <a:p>
            <a:r>
              <a:rPr lang="en-US" altLang="zh-CN" sz="2000" b="1" dirty="0"/>
              <a:t>	</a:t>
            </a:r>
            <a:r>
              <a:rPr lang="zh-CN" altLang="en-US" sz="2000" b="1" dirty="0"/>
              <a:t>循环体</a:t>
            </a:r>
            <a:endParaRPr lang="en-US" altLang="zh-CN" sz="2000" b="1" dirty="0"/>
          </a:p>
        </p:txBody>
      </p:sp>
      <p:sp>
        <p:nvSpPr>
          <p:cNvPr id="9" name="矩形 8"/>
          <p:cNvSpPr/>
          <p:nvPr/>
        </p:nvSpPr>
        <p:spPr>
          <a:xfrm>
            <a:off x="5292080" y="1707654"/>
            <a:ext cx="29544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if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判断条件</a:t>
            </a:r>
            <a:r>
              <a:rPr lang="en-US" altLang="zh-CN" sz="2000" b="1" dirty="0"/>
              <a:t>:</a:t>
            </a:r>
            <a:endParaRPr lang="en-US" altLang="zh-CN" sz="2000" b="1" dirty="0"/>
          </a:p>
          <a:p>
            <a:r>
              <a:rPr lang="en-US" altLang="zh-CN" sz="2000" b="1" dirty="0"/>
              <a:t>    </a:t>
            </a:r>
            <a:r>
              <a:rPr lang="zh-CN" altLang="en-US" sz="2000" b="1" dirty="0"/>
              <a:t>需要执行的代码</a:t>
            </a:r>
            <a:endParaRPr lang="en-US" altLang="zh-CN" sz="2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534" y="2864787"/>
            <a:ext cx="838273" cy="9144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矩形 9"/>
          <p:cNvSpPr/>
          <p:nvPr/>
        </p:nvSpPr>
        <p:spPr>
          <a:xfrm>
            <a:off x="359530" y="4028458"/>
            <a:ext cx="25202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C000"/>
                </a:solidFill>
              </a:rPr>
              <a:t>多次判断，多次执行</a:t>
            </a:r>
            <a:endParaRPr lang="en-US" altLang="zh-CN" sz="2000" b="1" dirty="0">
              <a:solidFill>
                <a:srgbClr val="FFC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2812738"/>
            <a:ext cx="1021168" cy="8382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箭头: 下 12"/>
          <p:cNvSpPr/>
          <p:nvPr/>
        </p:nvSpPr>
        <p:spPr>
          <a:xfrm>
            <a:off x="7560332" y="2701500"/>
            <a:ext cx="252028" cy="11663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6588224" y="4028458"/>
            <a:ext cx="15818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C000"/>
                </a:solidFill>
              </a:rPr>
              <a:t>只判断一次</a:t>
            </a:r>
            <a:endParaRPr lang="en-US" altLang="zh-CN" sz="20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 animBg="1"/>
      <p:bldP spid="8" grpId="0"/>
      <p:bldP spid="9" grpId="0"/>
      <p:bldP spid="10" grpId="0"/>
      <p:bldP spid="13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格式语法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7787" y="1172227"/>
            <a:ext cx="1578991" cy="186218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39552" y="1845860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en-US" altLang="zh-CN" sz="2400" b="1" dirty="0"/>
              <a:t> True: </a:t>
            </a:r>
            <a:endParaRPr lang="zh-CN" altLang="en-US" sz="24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1185494" y="2307525"/>
            <a:ext cx="5474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demon=</a:t>
            </a:r>
            <a:r>
              <a:rPr lang="en-US" altLang="zh-CN" sz="2400" b="1" dirty="0" err="1"/>
              <a:t>mayuan.findNearestEnemy</a:t>
            </a:r>
            <a:r>
              <a:rPr lang="en-US" altLang="zh-CN" sz="2400" b="1" dirty="0"/>
              <a:t>()</a:t>
            </a:r>
            <a:endParaRPr lang="en-US" altLang="zh-CN" sz="2400" b="1" dirty="0"/>
          </a:p>
          <a:p>
            <a:r>
              <a:rPr lang="en-US" altLang="zh-CN" sz="2400" b="1" dirty="0">
                <a:solidFill>
                  <a:schemeClr val="accent1"/>
                </a:solidFill>
              </a:rPr>
              <a:t>if</a:t>
            </a:r>
            <a:r>
              <a:rPr lang="en-US" altLang="zh-CN" sz="2400" b="1" dirty="0"/>
              <a:t> demon:</a:t>
            </a:r>
            <a:endParaRPr lang="en-US" altLang="zh-CN" sz="2400" b="1" dirty="0"/>
          </a:p>
          <a:p>
            <a:r>
              <a:rPr lang="en-US" altLang="zh-CN" sz="2400" b="1" dirty="0"/>
              <a:t>	</a:t>
            </a:r>
            <a:r>
              <a:rPr lang="en-US" altLang="zh-CN" sz="2400" b="1" dirty="0" err="1"/>
              <a:t>mayuan.attack</a:t>
            </a:r>
            <a:r>
              <a:rPr lang="en-US" altLang="zh-CN" sz="2400" b="1" dirty="0"/>
              <a:t>(demon)</a:t>
            </a:r>
            <a:endParaRPr lang="zh-CN" altLang="en-US" sz="24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286" y="3149978"/>
            <a:ext cx="1311991" cy="1586799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259632" y="3138522"/>
            <a:ext cx="67918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47939" y="2306059"/>
            <a:ext cx="685318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718858" y="3477835"/>
            <a:ext cx="1005331" cy="774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1437946" y="3394802"/>
            <a:ext cx="500866" cy="8573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671525" y="4289586"/>
            <a:ext cx="884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缩进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5" grpId="0" animBg="1"/>
      <p:bldP spid="16" grpId="0" animBg="1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1102092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知识点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619672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格式语法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7787" y="1172227"/>
            <a:ext cx="1578991" cy="186218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185494" y="1863592"/>
            <a:ext cx="3168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en-US" altLang="zh-CN" sz="2400" b="1" dirty="0"/>
              <a:t> True: </a:t>
            </a:r>
            <a:endParaRPr lang="zh-CN" altLang="en-US" sz="24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1185494" y="2307525"/>
            <a:ext cx="5474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demon=</a:t>
            </a:r>
            <a:r>
              <a:rPr lang="en-US" altLang="zh-CN" sz="2400" b="1" dirty="0" err="1"/>
              <a:t>mayuan.findNearestEnemy</a:t>
            </a:r>
            <a:r>
              <a:rPr lang="en-US" altLang="zh-CN" sz="2400" b="1" dirty="0"/>
              <a:t>()</a:t>
            </a:r>
            <a:endParaRPr lang="en-US" altLang="zh-CN" sz="2400" b="1" dirty="0"/>
          </a:p>
          <a:p>
            <a:r>
              <a:rPr lang="en-US" altLang="zh-CN" sz="2400" b="1" dirty="0">
                <a:solidFill>
                  <a:schemeClr val="accent1"/>
                </a:solidFill>
              </a:rPr>
              <a:t>if</a:t>
            </a:r>
            <a:r>
              <a:rPr lang="en-US" altLang="zh-CN" sz="2400" b="1" dirty="0"/>
              <a:t> demon:</a:t>
            </a:r>
            <a:endParaRPr lang="en-US" altLang="zh-CN" sz="2400" b="1" dirty="0"/>
          </a:p>
          <a:p>
            <a:r>
              <a:rPr lang="en-US" altLang="zh-CN" sz="2400" b="1" dirty="0"/>
              <a:t>	</a:t>
            </a:r>
            <a:r>
              <a:rPr lang="en-US" altLang="zh-CN" sz="2400" b="1" dirty="0" err="1"/>
              <a:t>mayuan.attack</a:t>
            </a:r>
            <a:r>
              <a:rPr lang="en-US" altLang="zh-CN" sz="2400" b="1" dirty="0"/>
              <a:t>(demon)</a:t>
            </a:r>
            <a:endParaRPr lang="zh-CN" altLang="en-US" sz="24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286" y="3149978"/>
            <a:ext cx="1311991" cy="1586799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 rot="2700000">
            <a:off x="2268858" y="1133489"/>
            <a:ext cx="3389144" cy="3389144"/>
            <a:chOff x="3225886" y="1347614"/>
            <a:chExt cx="3389144" cy="3389144"/>
          </a:xfrm>
        </p:grpSpPr>
        <p:sp>
          <p:nvSpPr>
            <p:cNvPr id="10" name="矩形 9"/>
            <p:cNvSpPr/>
            <p:nvPr/>
          </p:nvSpPr>
          <p:spPr>
            <a:xfrm>
              <a:off x="4716016" y="1347614"/>
              <a:ext cx="360040" cy="338914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 rot="5400000">
              <a:off x="4744190" y="1341478"/>
              <a:ext cx="352536" cy="338914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63843" y="2192546"/>
            <a:ext cx="34163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打怪升级啦！！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036" y="462818"/>
            <a:ext cx="1150456" cy="1283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3075,&quot;width&quot;:10785}"/>
</p:tagLst>
</file>

<file path=ppt/tags/tag2.xml><?xml version="1.0" encoding="utf-8"?>
<p:tagLst xmlns:p="http://schemas.openxmlformats.org/presentationml/2006/main">
  <p:tag name="ISPRING_RESOURCE_PATHS_HASH_PRESENTER" val="76ce7ccbcda6cf12636bdb4ab607c4c83d474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1373</Words>
  <Application>WPS 演示</Application>
  <PresentationFormat>全屏显示(16:9)</PresentationFormat>
  <Paragraphs>198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Impact</vt:lpstr>
      <vt:lpstr>Times New Roman</vt:lpstr>
      <vt:lpstr>微软雅黑</vt:lpstr>
      <vt:lpstr>HandelGotDLig</vt:lpstr>
      <vt:lpstr>汉真广标</vt:lpstr>
      <vt:lpstr>Calibri</vt:lpstr>
      <vt:lpstr>Segoe Print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532</cp:revision>
  <cp:lastPrinted>2000-12-31T21:09:00Z</cp:lastPrinted>
  <dcterms:created xsi:type="dcterms:W3CDTF">2015-11-10T12:01:00Z</dcterms:created>
  <dcterms:modified xsi:type="dcterms:W3CDTF">2022-09-30T08:17:40Z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2F8E759F59EE41C9A00099A0480D7F3E</vt:lpwstr>
  </property>
  <property fmtid="{D5CDD505-2E9C-101B-9397-08002B2CF9AE}" pid="3" name="KSOProductBuildVer">
    <vt:lpwstr>2052-11.1.0.12358</vt:lpwstr>
  </property>
</Properties>
</file>