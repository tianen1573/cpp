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7" r:id="rId3"/>
    <p:sldId id="485" r:id="rId5"/>
    <p:sldId id="489" r:id="rId6"/>
    <p:sldId id="496" r:id="rId7"/>
    <p:sldId id="481" r:id="rId8"/>
    <p:sldId id="482" r:id="rId9"/>
    <p:sldId id="483" r:id="rId10"/>
    <p:sldId id="491" r:id="rId11"/>
    <p:sldId id="502" r:id="rId12"/>
    <p:sldId id="490" r:id="rId13"/>
  </p:sldIdLst>
  <p:sldSz cx="9144000" cy="5143500" type="screen16x9"/>
  <p:notesSz cx="6797675" cy="9925050"/>
  <p:custDataLst>
    <p:tags r:id="rId17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 showGuides="1">
      <p:cViewPr varScale="1">
        <p:scale>
          <a:sx n="114" d="100"/>
          <a:sy n="114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774005" y="2192546"/>
            <a:ext cx="35960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极客战纪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346964" y="2192546"/>
            <a:ext cx="4450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自我介绍、纪律、卫生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前景与作用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298944" y="1923678"/>
            <a:ext cx="6048359" cy="21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学习</a:t>
            </a:r>
            <a:r>
              <a:rPr lang="en-US" altLang="zh-CN" sz="1800" dirty="0"/>
              <a:t>Python</a:t>
            </a:r>
            <a:r>
              <a:rPr lang="zh-CN" altLang="en-US" sz="1800" dirty="0"/>
              <a:t>的好处有：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使用人数快速增长，成为世界上最流行的编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程语言之一。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编程是目前最简单的编程语言之一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是最适合编程人工智能的语言</a:t>
            </a:r>
            <a:endParaRPr lang="zh-CN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1212670"/>
            <a:ext cx="6890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为什么我们要学</a:t>
            </a:r>
            <a:r>
              <a:rPr lang="en-US" altLang="zh-CN" sz="2400" dirty="0"/>
              <a:t>Python</a:t>
            </a:r>
            <a:r>
              <a:rPr lang="zh-CN" altLang="en-US" sz="2400" dirty="0"/>
              <a:t>？</a:t>
            </a:r>
            <a:endParaRPr lang="zh-CN" altLang="en-US" sz="2400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77966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3528" y="813717"/>
            <a:ext cx="1264379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96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96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第一课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极客战纪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848422" y="2192546"/>
            <a:ext cx="144716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8</a:t>
            </a:r>
            <a:r>
              <a:rPr lang="zh-CN" altLang="en-US" sz="2800" b="1" dirty="0"/>
              <a:t>个关卡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注释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708" y="1171073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注释</a:t>
            </a:r>
            <a:r>
              <a:rPr lang="zh-CN" altLang="en-US" sz="2400" b="1" dirty="0"/>
              <a:t>”是干什么用的？</a:t>
            </a:r>
            <a:endParaRPr lang="zh-CN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42463" y="1745751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“</a:t>
            </a:r>
            <a:r>
              <a:rPr lang="zh-CN" altLang="en-US" sz="2400" dirty="0">
                <a:solidFill>
                  <a:srgbClr val="FF0000"/>
                </a:solidFill>
              </a:rPr>
              <a:t>注释</a:t>
            </a:r>
            <a:r>
              <a:rPr lang="zh-CN" altLang="en-US" sz="2400" dirty="0"/>
              <a:t>”是为了让我们更容易读懂代码而人为添加上去的</a:t>
            </a:r>
            <a:endParaRPr lang="en-US" altLang="zh-CN" sz="2400" dirty="0"/>
          </a:p>
        </p:txBody>
      </p:sp>
      <p:sp>
        <p:nvSpPr>
          <p:cNvPr id="27" name="矩形 26"/>
          <p:cNvSpPr/>
          <p:nvPr/>
        </p:nvSpPr>
        <p:spPr>
          <a:xfrm>
            <a:off x="508444" y="2415274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注释</a:t>
            </a:r>
            <a:r>
              <a:rPr lang="zh-CN" altLang="en-US" sz="2400" b="1" dirty="0"/>
              <a:t>”一般是放在什么位置？</a:t>
            </a:r>
            <a:endParaRPr lang="zh-CN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1404636" y="3352101"/>
            <a:ext cx="4300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FF6600"/>
                </a:solidFill>
              </a:rPr>
              <a:t>#</a:t>
            </a:r>
            <a:endParaRPr lang="en-US" altLang="zh-CN" sz="5400" b="1" dirty="0">
              <a:solidFill>
                <a:srgbClr val="FF66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3219450"/>
            <a:ext cx="4815840" cy="1463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708" y="1171073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问题</a:t>
            </a:r>
            <a:r>
              <a:rPr lang="en-US" altLang="zh-CN" sz="2400" b="1" dirty="0">
                <a:solidFill>
                  <a:schemeClr val="accent1"/>
                </a:solidFill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</a:rPr>
              <a:t>：</a:t>
            </a:r>
            <a:r>
              <a:rPr lang="zh-CN" altLang="en-US" sz="2400" b="1" dirty="0"/>
              <a:t>生活中的“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”有哪些？</a:t>
            </a: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736" y="2002644"/>
            <a:ext cx="1352340" cy="1752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912492"/>
            <a:ext cx="2202055" cy="1636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708" y="1171073"/>
            <a:ext cx="8135079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问题</a:t>
            </a:r>
            <a:r>
              <a:rPr lang="en-US" altLang="zh-CN" sz="2400" b="1" dirty="0">
                <a:solidFill>
                  <a:schemeClr val="accent1"/>
                </a:solidFill>
              </a:rPr>
              <a:t>4</a:t>
            </a:r>
            <a:r>
              <a:rPr lang="zh-CN" altLang="en-US" sz="2400" b="1" dirty="0">
                <a:solidFill>
                  <a:schemeClr val="accent1"/>
                </a:solidFill>
              </a:rPr>
              <a:t>：</a:t>
            </a:r>
            <a:r>
              <a:rPr lang="zh-CN" altLang="en-US" sz="2400" b="1" dirty="0"/>
              <a:t>极客战纪中的“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”有哪些？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552" y="2002644"/>
            <a:ext cx="1944216" cy="16298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r="7011"/>
          <a:stretch>
            <a:fillRect/>
          </a:stretch>
        </p:blipFill>
        <p:spPr>
          <a:xfrm>
            <a:off x="6386234" y="1953257"/>
            <a:ext cx="1339834" cy="1636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37" y="1912492"/>
            <a:ext cx="2088232" cy="1676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65" y="1779270"/>
            <a:ext cx="2153285" cy="2246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34614" y="1245988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方法</a:t>
            </a:r>
            <a:r>
              <a:rPr lang="zh-CN" altLang="en-US" sz="2400" b="1" dirty="0"/>
              <a:t>”就是指一个“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”做出的行动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1739307" y="1956631"/>
            <a:ext cx="8135079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方法</a:t>
            </a:r>
            <a:r>
              <a:rPr lang="zh-CN" altLang="en-US" sz="2400" b="1" dirty="0"/>
              <a:t>”的调用：</a:t>
            </a:r>
            <a:r>
              <a:rPr lang="zh-CN" altLang="en-US" sz="2400" b="1" u="sng" dirty="0">
                <a:solidFill>
                  <a:srgbClr val="FF0000"/>
                </a:solidFill>
              </a:rPr>
              <a:t>对象名</a:t>
            </a:r>
            <a:r>
              <a:rPr lang="en-US" altLang="zh-CN" sz="2400" b="1" u="sng" dirty="0">
                <a:solidFill>
                  <a:srgbClr val="FF0000"/>
                </a:solidFill>
              </a:rPr>
              <a:t>.</a:t>
            </a:r>
            <a:r>
              <a:rPr lang="zh-CN" altLang="en-US" sz="2400" b="1" u="sng" dirty="0">
                <a:solidFill>
                  <a:srgbClr val="FF0000"/>
                </a:solidFill>
              </a:rPr>
              <a:t>方法名</a:t>
            </a:r>
            <a:r>
              <a:rPr lang="en-US" altLang="zh-CN" sz="2400" b="1" u="sng" dirty="0">
                <a:solidFill>
                  <a:srgbClr val="FF0000"/>
                </a:solidFill>
              </a:rPr>
              <a:t>(</a:t>
            </a:r>
            <a:r>
              <a:rPr lang="zh-CN" altLang="en-US" sz="2400" b="1" u="sng" dirty="0">
                <a:solidFill>
                  <a:srgbClr val="FF0000"/>
                </a:solidFill>
              </a:rPr>
              <a:t>参数</a:t>
            </a:r>
            <a:r>
              <a:rPr lang="en-US" altLang="zh-CN" sz="2400" b="1" u="sng" dirty="0">
                <a:solidFill>
                  <a:srgbClr val="FF0000"/>
                </a:solidFill>
              </a:rPr>
              <a:t>)</a:t>
            </a:r>
            <a:endParaRPr lang="zh-CN" altLang="en-US" sz="2000" u="sng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67360" y="3465830"/>
            <a:ext cx="2973705" cy="6146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b="1" dirty="0" err="1"/>
              <a:t>hero.</a:t>
            </a:r>
            <a:r>
              <a:rPr lang="en-US" altLang="zh-CN" sz="2400" b="1" dirty="0" err="1"/>
              <a:t>moveRight()</a:t>
            </a:r>
            <a:endParaRPr lang="en-US" altLang="zh-CN" sz="2400" b="1" dirty="0" err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4610" y="2571750"/>
            <a:ext cx="1727835" cy="2258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55293" y="1343231"/>
            <a:ext cx="8135079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zh-CN" altLang="en-US" sz="2400" b="1" dirty="0"/>
              <a:t>”是一串文本信息，给计算机的字符串两端需</a:t>
            </a:r>
            <a:r>
              <a:rPr lang="zh-CN" altLang="en-US" sz="2400" b="1" dirty="0">
                <a:solidFill>
                  <a:srgbClr val="FF0000"/>
                </a:solidFill>
              </a:rPr>
              <a:t>引号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592" y="2321540"/>
            <a:ext cx="42202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</a:rPr>
              <a:t>“hello  world”</a:t>
            </a:r>
            <a:endParaRPr lang="en-US" altLang="zh-CN" sz="2400" b="1" u="sng" dirty="0" err="1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9310" y="2786148"/>
            <a:ext cx="42202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‘hello  world’</a:t>
            </a:r>
            <a:endParaRPr lang="en-US" altLang="zh-CN" sz="24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63843" y="2192546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>全屏显示(16:9)</PresentationFormat>
  <Paragraphs>69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HandelGotDLig</vt:lpstr>
      <vt:lpstr>汉真广标</vt:lpstr>
      <vt:lpstr>微软雅黑</vt:lpstr>
      <vt:lpstr>等线</vt:lpstr>
      <vt:lpstr>Impact</vt:lpstr>
      <vt:lpstr>Times New Roman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momo</cp:lastModifiedBy>
  <cp:revision>374</cp:revision>
  <cp:lastPrinted>2000-12-31T21:09:00Z</cp:lastPrinted>
  <dcterms:created xsi:type="dcterms:W3CDTF">2015-11-10T12:01:00Z</dcterms:created>
  <dcterms:modified xsi:type="dcterms:W3CDTF">2025-02-22T04:57:46Z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F49618318A3B4A15ACF6BA0C41195011</vt:lpwstr>
  </property>
  <property fmtid="{D5CDD505-2E9C-101B-9397-08002B2CF9AE}" pid="3" name="KSOProductBuildVer">
    <vt:lpwstr>2052-12.1.0.20305</vt:lpwstr>
  </property>
</Properties>
</file>