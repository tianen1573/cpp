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503" r:id="rId2"/>
    <p:sldId id="506" r:id="rId3"/>
    <p:sldId id="504" r:id="rId4"/>
    <p:sldId id="514" r:id="rId5"/>
    <p:sldId id="525" r:id="rId6"/>
    <p:sldId id="526" r:id="rId7"/>
    <p:sldId id="527" r:id="rId8"/>
  </p:sldIdLst>
  <p:sldSz cx="9144000" cy="5143500" type="screen16x9"/>
  <p:notesSz cx="6797675" cy="9925050"/>
  <p:custDataLst>
    <p:tags r:id="rId10"/>
  </p:custDataLst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6600"/>
    <a:srgbClr val="215F27"/>
    <a:srgbClr val="E8E18A"/>
    <a:srgbClr val="FF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39" autoAdjust="0"/>
    <p:restoredTop sz="95212" autoAdjust="0"/>
  </p:normalViewPr>
  <p:slideViewPr>
    <p:cSldViewPr>
      <p:cViewPr varScale="1">
        <p:scale>
          <a:sx n="114" d="100"/>
          <a:sy n="114" d="100"/>
        </p:scale>
        <p:origin x="518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1" d="100"/>
        <a:sy n="151" d="100"/>
      </p:scale>
      <p:origin x="0" y="83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44.20712" units="1/cm"/>
          <inkml:channelProperty channel="Y" name="resolution" value="44.39306" units="1/cm"/>
        </inkml:channelProperties>
      </inkml:inkSource>
      <inkml:timestamp xml:id="ts0" timeString="2021-12-04T11:34:19.7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4930 7832,'0'19,"0"18,0 0,-37 38,37-57,0 19,-37 19,18-19,19 19,0-19,-37 1,18-1,19 0,0 0,-19-18,19 18,-18-18,18-1,0 1</inkml:trace>
  <inkml:trace contextRef="#ctx0" brushRef="#br0" timeOffset="1084.28">5339 7497,'0'19,"19"-19,-19 18,18-18,1 0,-19 19,19-19,-19 19,18-1,1-18,-19 19,18-19,1 18,0-18,-19 19,18 0,1-1,-1 19,-18 1,19-1,-19 0,0 0,0-18,0 37,0-19,0-18,0 18,-19 0,1 19,-1-38,-18 38,-19 0,0 0,-18 0,18-1,38-36,-1 0,0-19,1 18,18 1,0-1,0 1,18 0,1-19,0 0,-1 0,1 0,37 0,-1 0,1-19,-19 19,1-19,-1 19,0 0,-18 0,-1 0,-18-18,19 18,-19-19</inkml:trace>
  <inkml:trace contextRef="#ctx0" brushRef="#br0" timeOffset="2066.16">6344 7758,'0'18,"0"1,-19-1,1 1,18 0,0-1,0 38,-19 0,19-19,-19-18,19 18,0 0,0-18,0-1,0 1,19 0,0-19,-19 18,18 1,1-1,-1-18,-18 19,19-19,0 0,-1 0,1 0,-1 0,20-19,-1-55,-19 55,1-36,-19-1,37 19,-18-1,-19-18,0 19,18 0,-18 18,0-18,0-19,0 38,0-1,0 1,0-1,0 0,-18 1,-1 18,19-19,-18 19,-20-18,1-1,0 19,18 0,-18 0,37-19,-18 19</inkml:trace>
  <inkml:trace contextRef="#ctx0" brushRef="#br0" timeOffset="3066.43">7144 7646,'18'0,"20"0,17 0,-17 19,-20 18,1-37,18 18,-18 1,-19 0,18-1,-18 1,19-19,-1 37,-18 0,0 0,0-18,-18 37,-19 18,-1-18,-17 19,-20-20,19 20,-74 55,112-74,-57 18,57-37,-1 1,-18-20,37 1,18-19,20 0,17 0,-17 0,17-37,-17 18,-1 19,19-37,-19 18,0-18,0 37,19-37,-37 37</inkml:trace>
  <inkml:trace contextRef="#ctx0" brushRef="#br0" timeOffset="4166.4">4297 10678,'19'0,"-19"38,0-1,0 19,0-1,0-17,0 17,0 1,0-19,0 1,0 18,0-19,0-19,0 20,0-20,0 19,0 1,0-20,0 1,19-19</inkml:trace>
  <inkml:trace contextRef="#ctx0" brushRef="#br0" timeOffset="5202.06">4632 10771,'19'0,"-1"0,1 0,18 0,0 0,1 0,-1 0,0 0,0 0,-18 0,-19 19,0 18,0 0,0 1,0-1,-19 19,-36 18,17-18,20 0,-20-19,38-18,-18-1,18 1,-19-1,19 20,0-20,19-18,18-18,0-1,-18-18,0 37,-19-19,18 19,1-18,-1 18,1-19,0 0,-1 1,1-1,-1 19,1 0</inkml:trace>
  <inkml:trace contextRef="#ctx0" brushRef="#br0" timeOffset="6173.08">5358 10809,'0'37,"0"0,-19 0,19-18,0 18,0-18,0-1,-18 38,-1-37,19 18,-19-18,19 18,0-19,19 1,0 0,18-19,-19 18,1-18,0-18,18-38,-19 37,1 1,-19-20,19 38,-19-18,0-38,18 37,1-37,-19 19,0 0,0 18,0-18,-19 19,1 18,18-19,-19 0,19 1,-19 18</inkml:trace>
  <inkml:trace contextRef="#ctx0" brushRef="#br0" timeOffset="7318.14">6176 10455,'19'0,"0"0,-1 19,1-1,-1-18,1 19,18 0,-18-1,-1 1,-18-1,19-18,-19 38,0-20,0 1,0 18,-19 0,-36 38,-57-1,38-18,-19 0,74-56,-37 37,19-19,37 1,-19-19,38 0,18 0,0 0,-18 0,18 0,0 0,-18 0,0 0,-1 0,1 19,-19-1,18-18,1 19,-19 0,19-1,-19 1,0-1,0 1,0 18,0-18,-38 37,1-19,-37 19,18-19,-18 0,36-18,-36-1,-1 19,20-18,-1 0,-19-1,38 1,0-1,0 1,0 0,-1-1,20-18,-1 19,19-38</inkml:trace>
  <inkml:trace contextRef="#ctx0" brushRef="#br0" timeOffset="32136.63">17636 7665,'0'18,"0"1,0 37,0-19,0-19,0 38,0-19,0-18,0 0,0-1,0 20,0-20,0 19,0 1,0-1,0-19,0 1,0 0</inkml:trace>
  <inkml:trace contextRef="#ctx0" brushRef="#br0" timeOffset="33256.37">17934 7758,'18'0,"1"0,0 0,-1 0,-18 18,19-18,-19 19,0-1,18 1,-18 0,19 18,-19-19,0 1,0 0,0-1,0 1,0 0,-19-19,57 0,-1 0,19 0,-1 0,-36 0,18-19,-18 0,-1 19,1 0,0-18,-1 18,1 0,-1 0,1 0</inkml:trace>
  <inkml:trace contextRef="#ctx0" brushRef="#br0" timeOffset="34284.09">18604 7795,'0'18,"0"1,0 0,0-1,18 1,-18 18,0-18,0 18,19-37,-1 19,20-38,-20 19,1-19,37 1,-56-1,18 0,-18 1,19 18,-1-37,1 37,-19-19,19 0,-1 19,-18-18,0-1,-18 19,18-18,-19-1,0 0,19 1,-18 18,-1 0,19-19,-18 19,-1 0</inkml:trace>
  <inkml:trace contextRef="#ctx0" brushRef="#br0" timeOffset="35444.33">19143 7479,'19'0,"-19"18,0 1,0 18,0 19,0-19,-19 19,19-38,0 1,0 18,0-18,0-1,0 1,37-19,-18 0,-1 0,1 0,0 0,-1 0,1 0,-1 0,-18-19,19 19,0 0,-1-18,1 18,-1 0,20-19,-20 19,1 0,-1 0,1 0,0 0,-1 0,1 0,-1 0</inkml:trace>
  <inkml:trace contextRef="#ctx0" brushRef="#br0" timeOffset="36396.63">19589 7367,'-18'0,"-1"19,19-1,0 1,0-1,-18 20,18-20,-19 19,19-18,0 18,-19 0,19 1,-18-20,-1 38,19-37,0-1,0 19,0-18,-18 18,-1 0,19-18,0 0,0 18,-19-18,1 18,18-19,-19 1,1 0,18 18,0-19,-19 1,0 0,19-1,0 1,-18-1,18 1,0 0,-19-19,19 18,0 1</inkml:trace>
  <inkml:trace contextRef="#ctx0" brushRef="#br0" timeOffset="88910.98">8892 12409,'19'0,"0"0,18 0,19 0,0 18,-19-18,-19 0,1 0,0 0,-1 0,-18 19,19-19,-19 18,18-18,-18 19,0 0,19-1,-19 1,0-1,0 20,0-20,0 1,0-1,0 1,0 0,-19-19,19 18,0 1,-18-19,-19 18,18-18,19 19,-19-19,1 19,-1-19,1 0,-1 0,0 18,1-18,-1 0,0 0,1 0,18 19,18-19,1 0,0 0,18 0,-18 0,-1 0,1 0,18 0,-18 0,18 0,-19 0,1 0,-19 18,19 1,-1-19,-18 19,19-19,-19 18,18-18,-18 19,19-1,-19 1,0 18,19-37,-19 19,0-1,0 1,18 0,-18 18,0-19,0 1,0 18,0-18,0-1,0 1,-37 0,37 18,-19-37,1 19,-1-1,19 1,-18-19,-1 18,-18-18,18 19,1-19,-1 19,0-1,1-18,-1 0,-18 0,18 0,1 0,-1 0,0 0,1 0,-1 0,1 0,-1 0,0-18,19-1,-18 19,-1 0</inkml:trace>
  <inkml:trace contextRef="#ctx0" brushRef="#br0" timeOffset="89860.82">9618 13097,'19'0,"-1"0,1 0,-1 0,1 0,0 0,18 0,19 0,18-37,0 18,-18 0,-37 19,0 0,18-18,-19-1,1 19,0 0,-1 0,1 0,-1 0,1-18</inkml:trace>
  <inkml:trace contextRef="#ctx0" brushRef="#br0" timeOffset="90566.27">9841 12743,'19'38,"-19"17,0 1,0-37,0 37,18-1,-18 38,0-55,0 17,0-17,0-1,0 0,0 0,0-18,0 0,0-1,0 1,0-1,19-18,-19 19,19-19,-19 19</inkml:trace>
  <inkml:trace contextRef="#ctx0" brushRef="#br0" timeOffset="92219.44">10027 12576,'19'0,"18"0,0 0,-18 0,18 0,0 0,-18 0,18 0,-18 0,-19 19,18-19,-18 18,19-18,0 19,-1-1,-18 1,19 0,-19-1,18 1,-18-1,0 1,0 18,0-18,0-1,0 1,0 0,0-1,0 1,0-1,0 20,0-1,0 0,-18-18,18 36,0-36,0 18,0-18,-19-1,19 38,0-18,0-20,0 1,-18-1,18 1,0 0,0-1,0 1,18-38,19 1,1-1,-1 0,-19 1,1 18,-19-19,19 19,-1 0,1 0,-1 0,1 0</inkml:trace>
  <inkml:trace contextRef="#ctx0" brushRef="#br0" timeOffset="93212.6">10734 12892,'56'0,"-19"19,-18-19,92 0,-92 0,0 0</inkml:trace>
  <inkml:trace contextRef="#ctx0" brushRef="#br0" timeOffset="94353.16">10641 13246,'0'-19,"19"19,-1 0,1 0,0 0,-1 0,1 0,-1 0,1 0,0 0,-1 0,1 0,-1 0,-18-19,19 19,0 0,-1 0,1 0,-1 0,1 0,0 0,-1 0,1 0,-1 0,1 0,0 0</inkml:trace>
  <inkml:trace contextRef="#ctx0" brushRef="#br0" timeOffset="96262.83">12390 12725,'19'0,"-19"37,0-18,18 18,-18-19,0 1,0 18,0-18,19 18,-19-18,0-1,0 1,18-19,20 0,-20 0,1 0,-1 0,1 0,0 0,-1 0,1 0,-1 0,1 0,0 0,-19 18,18-18,-18 19,19-19,-19 19,0-1,0 1,0-1,0 1,0 18,0-18,0 18,-19-37,19 37,-18-18,-1 0,0-19,19 37,-37-19,19 1,-1 0,0-1,-18 1,19-1,-20 1,1 0,0-19,18 18,1-18,-1 0,1 0,-1 0,0 0,1 0,-1 0,19-18,0-1,0 0</inkml:trace>
  <inkml:trace contextRef="#ctx0" brushRef="#br0" timeOffset="97676.52">12539 12743,'18'0,"1"0,0 0,18 0,-19 0,1 0,0-18,-1 18,1 0,-1 0,1 0,0 0,-1 0,1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44.20712" units="1/cm"/>
          <inkml:channelProperty channel="Y" name="resolution" value="44.39306" units="1/cm"/>
        </inkml:channelProperties>
      </inkml:inkSource>
      <inkml:timestamp xml:id="ts0" timeString="2021-12-04T11:55:32.9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9730 8930,'0'18,"0"1,0-1,0 1,0 37,0-19,0 0,0 1,0 17,0-36,0 18,0 19,0-19,0 0,0 1,0-1,0 0,0-18,0 18,0-19,-19-18</inkml:trace>
  <inkml:trace contextRef="#ctx0" brushRef="#br0" timeOffset="1135.94">10213 8892,'19'0,"0"0,-1 0,1 19,-19 0,18-19,20 18,-20-18,-18 19,19 18,-19 19,18-37,-18-1,0 19,0 1,0 17,0-17,0-1,-18-19,18 20,-19-1,1-19,18 1,-19-19,38 19,18-19,-19 0,38 0,19 0,-1 0,0-38,1 20,-38 18,0-19,-18 19,-19-18</inkml:trace>
  <inkml:trace contextRef="#ctx0" brushRef="#br0" timeOffset="2220.18">10939 9023,'0'18,"0"20,0-1,0-19,0 1,0 0,0-1,0 1,0-1,0 1,18-19,-18 19,19-19,0 0,-19 18,18-18,1 19,-1-19,1-19,0 1,-19-1,0 0,0 1,0-1,0 1,0-1,0 0,0 1,-19 18,0-19,19 1,-18-1,-1 19,19-19,-18 19,-1 0,19-18,0-1</inkml:trace>
  <inkml:trace contextRef="#ctx0" brushRef="#br0" timeOffset="3125.82">11720 8892,'0'75,"0"-38,0 19,0-19,0 19,-18 37,-1-37,19 0,0-38,0 19,0-18,0 0,0-1,19-18,-1 19,19-19,-18 0,37 18,0-18,37 0,-19 0,-18 0,0 19,-19-19,0 0,-37 19,19-19,-19 18,0 19,0 1,0-1,-19 19,1-19,-38-19,37 20,-18-38,0 0,-56 37,37-19,19-18,-19 0,19 0,-1 0,1 0,-19 0,19 0,-19 0,38 0,-1-18,1-1,18 1,0-1,0 0,0-18</inkml:trace>
  <inkml:trace contextRef="#ctx0" brushRef="#br0" timeOffset="3817.51">11739 8911,'18'0,"1"0,0 0,-1 0,1 0,18 0,0 0,0 0,1 19,-1-19,0 0</inkml:trace>
  <inkml:trace contextRef="#ctx0" brushRef="#br0" timeOffset="4881.54">20148 9246,'0'37,"0"19,0-19,0 0,0 19,0-19,-19 1,0-1,19 19,0-38,-18-18,18 19,0-1</inkml:trace>
  <inkml:trace contextRef="#ctx0" brushRef="#br0" timeOffset="5933.26">20296 9302,'19'0,"0"0,-1 0,1 0,-1 18,-18 1,19-19,-19 19,19 18,-1-19,-18 20,0-20,0 1,0 18,0 0,0-18,-18-19,18 18,18-18,-18 19,19-19,-1 0,1 0,18 0,19 0,-37 0,-1 0,1 0</inkml:trace>
  <inkml:trace contextRef="#ctx0" brushRef="#br0" timeOffset="7033.35">20855 9413,'0'19,"0"0,0-1,0 1,18-1,1 1,-1 0,1-19,0 0,-1-19,1 0,-1 19,-18-18,0-1,-18 1,-1-1,1 0,-1 19,19-18,0-1</inkml:trace>
  <inkml:trace contextRef="#ctx0" brushRef="#br0" timeOffset="8499.91">21766 9097,'0'19,"0"-1,-18-18,18 38,-19-20,19 1,-19-1,1 1,18 0,-19-1,19 1,0-1,0 1,0 0,0-1,0 1,0-1,0 1,0 0,0-1,0 1,0-1,0 1,0 0,0-1,0 1,0-1,0 1,19-19,-19 19,37-19,0 18,-18-18,-1 0,1 0,0 0,-1 0,-18-18,19 18,-19-19,0 0,0 1,0-1,0 1,-19-1,1 0,-1 19,19-18,-19 18,1-19,-1 1,1 18,18-19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C2BE1-30B0-4BFF-86E2-B29499CC183C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4399"/>
            <a:ext cx="5438140" cy="446627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4F346-9435-41B1-AD1D-461963F20B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7917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1" y="1597821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1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6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horz" lIns="68571" tIns="34285" rIns="68571" bIns="34285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E68D8-C826-458C-B183-20281108C25D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emf"/><Relationship Id="rId5" Type="http://schemas.openxmlformats.org/officeDocument/2006/relationships/customXml" Target="../ink/ink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emf"/><Relationship Id="rId4" Type="http://schemas.openxmlformats.org/officeDocument/2006/relationships/customXml" Target="../ink/ink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语言程序设计</a:t>
            </a: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2999424" y="2192546"/>
            <a:ext cx="314515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800" b="1" dirty="0"/>
              <a:t>第一个</a:t>
            </a:r>
            <a:r>
              <a:rPr lang="en-US" altLang="zh-CN" sz="2800" b="1" dirty="0"/>
              <a:t>python</a:t>
            </a:r>
            <a:r>
              <a:rPr lang="zh-CN" altLang="en-US" sz="2800" b="1" dirty="0"/>
              <a:t>程序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en-US" altLang="zh-CN" sz="2400" b="1" dirty="0"/>
              <a:t>P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ython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的作用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】 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307687" y="1212670"/>
            <a:ext cx="6890962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sz="2400" dirty="0"/>
              <a:t>怎么使用</a:t>
            </a:r>
            <a:r>
              <a:rPr lang="en-US" altLang="zh-CN" sz="2400" dirty="0"/>
              <a:t>python</a:t>
            </a:r>
            <a:r>
              <a:rPr lang="zh-CN" altLang="en-US" sz="2400" dirty="0"/>
              <a:t>？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307687" y="1779662"/>
            <a:ext cx="6314731" cy="0"/>
          </a:xfrm>
          <a:prstGeom prst="line">
            <a:avLst/>
          </a:prstGeom>
          <a:ln w="15875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323528" y="813717"/>
            <a:ext cx="1264379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zh-CN" altLang="en-US" sz="9600" b="1" cap="all" dirty="0">
                <a:ln w="0"/>
                <a:gradFill flip="none">
                  <a:gsLst>
                    <a:gs pos="0">
                      <a:srgbClr val="C00000"/>
                    </a:gs>
                    <a:gs pos="49000">
                      <a:srgbClr val="C00000"/>
                    </a:gs>
                    <a:gs pos="49000">
                      <a:srgbClr val="C00000"/>
                    </a:gs>
                    <a:gs pos="92000">
                      <a:srgbClr val="C00000"/>
                    </a:gs>
                    <a:gs pos="100000">
                      <a:srgbClr val="C00000"/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等线" panose="02010600030101010101" charset="-122"/>
                <a:ea typeface="等线" panose="02010600030101010101" charset="-122"/>
              </a:rPr>
              <a:t>？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643755" y="3030220"/>
            <a:ext cx="189928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sz="3200"/>
              <a:t>打开</a:t>
            </a:r>
            <a:r>
              <a:rPr lang="en-US" altLang="zh-CN" sz="3200"/>
              <a:t>IDLE</a:t>
            </a:r>
            <a:endParaRPr lang="zh-CN" altLang="en-US" sz="32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r="4954" b="18625"/>
          <a:stretch>
            <a:fillRect/>
          </a:stretch>
        </p:blipFill>
        <p:spPr>
          <a:xfrm>
            <a:off x="1307465" y="1851660"/>
            <a:ext cx="2817495" cy="2940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【python】 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9750" y="1131570"/>
            <a:ext cx="4219575" cy="76835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4400">
                <a:latin typeface="+mj-ea"/>
                <a:ea typeface="+mj-ea"/>
              </a:rPr>
              <a:t>print(“hello”)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145" y="1275715"/>
            <a:ext cx="3540760" cy="36252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【print】 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419" y="1601153"/>
            <a:ext cx="3680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● </a:t>
            </a:r>
            <a:r>
              <a:rPr lang="zh-CN" altLang="en-US" sz="1800"/>
              <a:t>编写你的第一个</a:t>
            </a:r>
            <a:r>
              <a:rPr lang="en-US" altLang="zh-CN" sz="1800"/>
              <a:t>Python</a:t>
            </a:r>
            <a:r>
              <a:rPr lang="zh-CN" altLang="en-US" sz="1800"/>
              <a:t>程序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236" y="2696051"/>
            <a:ext cx="3776663" cy="92059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6121" y="2139474"/>
            <a:ext cx="2003108" cy="19107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bldLvl="0" animBg="1"/>
      <p:bldP spid="7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【print</a:t>
            </a:r>
            <a:r>
              <a:rPr lang="zh-CN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函数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】 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9750" y="987425"/>
            <a:ext cx="773303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print函数格式: 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</a:t>
            </a:r>
            <a:r>
              <a:rPr lang="zh-CN" altLang="en-US" sz="16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*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objects，sep＝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’’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，en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＝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'\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')</a:t>
            </a:r>
            <a:endParaRPr lang="zh-CN" altLang="en-US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功能:可以一次输出多个对象。多个参数( object复数)之间用逗号分隔，输出的多个对象之间的分隔符默认为一个空格，所有信息输出之后添加的符号默认为换行符。</a:t>
            </a:r>
          </a:p>
        </p:txBody>
      </p:sp>
      <p:sp>
        <p:nvSpPr>
          <p:cNvPr id="11" name="文本框 1"/>
          <p:cNvSpPr txBox="1"/>
          <p:nvPr/>
        </p:nvSpPr>
        <p:spPr>
          <a:xfrm>
            <a:off x="611718" y="1923696"/>
            <a:ext cx="5931393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dirty="0">
                <a:solidFill>
                  <a:schemeClr val="accent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格式</a:t>
            </a:r>
            <a:r>
              <a:rPr lang="en-US" dirty="0">
                <a:solidFill>
                  <a:schemeClr val="accent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dirty="0">
                <a:solidFill>
                  <a:schemeClr val="accent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：print(</a:t>
            </a:r>
            <a:r>
              <a:rPr dirty="0" err="1">
                <a:solidFill>
                  <a:schemeClr val="accent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表达式</a:t>
            </a:r>
            <a:r>
              <a:rPr dirty="0">
                <a:solidFill>
                  <a:schemeClr val="accent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endParaRPr lang="en-US" dirty="0">
              <a:solidFill>
                <a:schemeClr val="accent4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格式</a:t>
            </a:r>
            <a:r>
              <a:rPr lang="en-US" altLang="zh-CN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</a:t>
            </a:r>
            <a:r>
              <a:rPr lang="zh-CN" altLang="en-US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表达式 </a:t>
            </a:r>
            <a:r>
              <a:rPr lang="en-US" altLang="zh-CN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表达式</a:t>
            </a:r>
            <a:r>
              <a:rPr lang="en-US" altLang="zh-CN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27405" y="2787650"/>
            <a:ext cx="63754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作业</a:t>
            </a:r>
            <a:r>
              <a:rPr lang="en-US" altLang="zh-CN"/>
              <a:t>1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827405" y="3796030"/>
            <a:ext cx="63754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作业</a:t>
            </a:r>
            <a:r>
              <a:rPr lang="en-US" altLang="zh-CN"/>
              <a:t>2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605" y="3220085"/>
            <a:ext cx="2383790" cy="40767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605" y="4371975"/>
            <a:ext cx="2649220" cy="48450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5579745" y="2715895"/>
            <a:ext cx="63754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作业</a:t>
            </a:r>
            <a:r>
              <a:rPr lang="en-US" altLang="zh-CN"/>
              <a:t>3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2090" y="3163570"/>
            <a:ext cx="1390650" cy="15716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墨迹 1"/>
              <p14:cNvContentPartPr/>
              <p14:nvPr/>
            </p14:nvContentPartPr>
            <p14:xfrm>
              <a:off x="1546920" y="2652120"/>
              <a:ext cx="5505480" cy="2210400"/>
            </p14:xfrm>
          </p:contentPart>
        </mc:Choice>
        <mc:Fallback xmlns="">
          <p:pic>
            <p:nvPicPr>
              <p:cNvPr id="2" name="墨迹 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37560" y="2642760"/>
                <a:ext cx="5524200" cy="2229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bldLvl="0" animBg="1"/>
      <p:bldP spid="7" grpId="0" bldLvl="0" animBg="1"/>
      <p:bldP spid="12" grpId="0"/>
      <p:bldP spid="12" grpId="1"/>
      <p:bldP spid="14" grpId="0"/>
      <p:bldP spid="14" grpId="1"/>
      <p:bldP spid="17" grpId="0"/>
      <p:bldP spid="17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表达式和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input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函数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】 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9750" y="987425"/>
            <a:ext cx="773303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“字符串”表达式是用</a:t>
            </a:r>
            <a:r>
              <a:rPr lang="zh-CN" altLang="en-US" sz="16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英文的单引号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或</a:t>
            </a:r>
            <a:r>
              <a:rPr lang="zh-CN" altLang="en-US" sz="16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双引号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括起来的一串字符。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88125" y="1059815"/>
            <a:ext cx="38036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str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61670" y="1542415"/>
            <a:ext cx="48056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“数学”表达式的含义与我们数学课本的数学表达式相同。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796280" y="1534795"/>
            <a:ext cx="88519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int</a:t>
            </a:r>
            <a:r>
              <a:rPr lang="zh-CN" altLang="en-US">
                <a:solidFill>
                  <a:srgbClr val="FF0000"/>
                </a:solidFill>
              </a:rPr>
              <a:t>、</a:t>
            </a:r>
            <a:r>
              <a:rPr lang="en-US" altLang="zh-CN">
                <a:solidFill>
                  <a:srgbClr val="FF0000"/>
                </a:solidFill>
              </a:rPr>
              <a:t>float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755650" y="2067560"/>
            <a:ext cx="648843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nput函数格式: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nput( 【prompt】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功能:读取从键盘输入的字符串，若给定提示字符串(参数prormot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则直接输出。</a:t>
            </a:r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05" y="3651885"/>
            <a:ext cx="4552950" cy="114554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2411730" y="3220085"/>
            <a:ext cx="63754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作业</a:t>
            </a:r>
            <a:r>
              <a:rPr lang="en-US" altLang="zh-CN"/>
              <a:t>1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6423660" y="3220085"/>
            <a:ext cx="7092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作业</a:t>
            </a:r>
            <a:r>
              <a:rPr lang="en-US" altLang="zh-CN"/>
              <a:t>2</a:t>
            </a: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135" y="3723640"/>
            <a:ext cx="2267585" cy="10890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墨迹 10"/>
              <p14:cNvContentPartPr/>
              <p14:nvPr/>
            </p14:nvContentPartPr>
            <p14:xfrm>
              <a:off x="3495960" y="3201120"/>
              <a:ext cx="4380480" cy="355320"/>
            </p14:xfrm>
          </p:contentPart>
        </mc:Choice>
        <mc:Fallback xmlns="">
          <p:pic>
            <p:nvPicPr>
              <p:cNvPr id="11" name="墨迹 10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86600" y="3191760"/>
                <a:ext cx="4399200" cy="374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bldLvl="0" animBg="1"/>
      <p:bldP spid="7" grpId="0" bldLvl="0" animBg="1"/>
      <p:bldP spid="10" grpId="0"/>
      <p:bldP spid="10" grpId="1"/>
      <p:bldP spid="2" grpId="0"/>
      <p:bldP spid="2" grpId="1"/>
      <p:bldP spid="8" grpId="0"/>
      <p:bldP spid="8" grpId="1"/>
      <p:bldP spid="9" grpId="0"/>
      <p:bldP spid="9" grpId="1"/>
      <p:bldP spid="13" grpId="0"/>
      <p:bldP spid="13" grpId="1"/>
      <p:bldP spid="20" grpId="0"/>
      <p:bldP spid="20" grpId="1"/>
      <p:bldP spid="21" grpId="0"/>
      <p:bldP spid="21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赋值语句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】 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51878" y="1003935"/>
            <a:ext cx="773303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变量名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表达式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70243" y="1521188"/>
            <a:ext cx="712152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1.标识符（变量名）</a:t>
            </a:r>
            <a:r>
              <a:rPr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只能由字母、数字、下划线（_）组成。其中数字不能作为开头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，例如：name1是合法变量名，而1name就不可以。</a:t>
            </a:r>
          </a:p>
          <a:p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2.标识符不能以 Python 关键字命名，但可以包含关键字。例如：while作为变量名不合法的，但是while1合法。</a:t>
            </a:r>
          </a:p>
          <a:p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3.除了下划线之个，其它符号不能做为变量名使用</a:t>
            </a:r>
          </a:p>
          <a:p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4.Python的标识符是区分大小写的，Name和name </a:t>
            </a:r>
            <a:r>
              <a:rPr sz="18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不是一个变量名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bldLvl="0" animBg="1"/>
      <p:bldP spid="7" grpId="0" bldLvl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76ce7ccbcda6cf12636bdb4ab607c4c83d474"/>
</p:tagLst>
</file>

<file path=ppt/theme/theme1.xml><?xml version="1.0" encoding="utf-8"?>
<a:theme xmlns:a="http://schemas.openxmlformats.org/drawingml/2006/main" name="Office 主题​​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00B0F0"/>
      </a:accent2>
      <a:accent3>
        <a:srgbClr val="0070C0"/>
      </a:accent3>
      <a:accent4>
        <a:srgbClr val="00B0F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269</Words>
  <Application>Microsoft Office PowerPoint</Application>
  <PresentationFormat>全屏显示(16:9)</PresentationFormat>
  <Paragraphs>39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HandelGotDLig</vt:lpstr>
      <vt:lpstr>等线</vt:lpstr>
      <vt:lpstr>微软雅黑</vt:lpstr>
      <vt:lpstr>Arial</vt:lpstr>
      <vt:lpstr>Calibri</vt:lpstr>
      <vt:lpstr>Impact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1012</dc:title>
  <dc:creator>admin</dc:creator>
  <cp:lastModifiedBy>hp</cp:lastModifiedBy>
  <cp:revision>382</cp:revision>
  <cp:lastPrinted>2000-12-31T21:09:00Z</cp:lastPrinted>
  <dcterms:created xsi:type="dcterms:W3CDTF">2015-11-10T12:01:00Z</dcterms:created>
  <dcterms:modified xsi:type="dcterms:W3CDTF">2023-11-05T03:25:05Z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E92FD6967E48483C9A6DEC9A590CC0CF</vt:lpwstr>
  </property>
  <property fmtid="{D5CDD505-2E9C-101B-9397-08002B2CF9AE}" pid="3" name="KSOProductBuildVer">
    <vt:lpwstr>2052-11.1.0.11115</vt:lpwstr>
  </property>
</Properties>
</file>