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85" r:id="rId3"/>
    <p:sldId id="470" r:id="rId5"/>
    <p:sldId id="480" r:id="rId6"/>
    <p:sldId id="495" r:id="rId7"/>
    <p:sldId id="501" r:id="rId8"/>
    <p:sldId id="503" r:id="rId9"/>
    <p:sldId id="504" r:id="rId10"/>
    <p:sldId id="490" r:id="rId11"/>
  </p:sldIdLst>
  <p:sldSz cx="9144000" cy="5143500" type="screen16x9"/>
  <p:notesSz cx="6797675" cy="9925050"/>
  <p:custDataLst>
    <p:tags r:id="rId15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6600"/>
    <a:srgbClr val="E8E18A"/>
    <a:srgbClr val="215F27"/>
    <a:srgbClr val="FF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81" autoAdjust="0"/>
    <p:restoredTop sz="95212" autoAdjust="0"/>
  </p:normalViewPr>
  <p:slideViewPr>
    <p:cSldViewPr>
      <p:cViewPr>
        <p:scale>
          <a:sx n="100" d="100"/>
          <a:sy n="100" d="100"/>
        </p:scale>
        <p:origin x="1936" y="944"/>
      </p:cViewPr>
      <p:guideLst>
        <p:guide orient="horz" pos="157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1" d="100"/>
        <a:sy n="151" d="100"/>
      </p:scale>
      <p:origin x="0" y="83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2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C2BE1-30B0-4BFF-86E2-B29499CC18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4F346-9435-41B1-AD1D-461963F20BE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1597821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6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horz" lIns="68571" tIns="34285" rIns="68571" bIns="34285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PythonL0</a:t>
            </a:r>
            <a:endParaRPr lang="zh-CN" altLang="en-US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3591695" y="2068041"/>
            <a:ext cx="196088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800" b="1" dirty="0"/>
              <a:t>函数返回值</a:t>
            </a:r>
            <a:endParaRPr lang="zh-CN" altLang="en-US" sz="28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7281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课前回顾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611560" y="1081068"/>
            <a:ext cx="7416824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+mn-ea"/>
              </a:rPr>
              <a:t>什么是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函数</a:t>
            </a:r>
            <a:r>
              <a:rPr lang="zh-CN" altLang="en-US" sz="1800" b="1" dirty="0">
                <a:solidFill>
                  <a:schemeClr val="accent1"/>
                </a:solidFill>
              </a:rPr>
              <a:t> </a:t>
            </a:r>
            <a:r>
              <a:rPr lang="zh-CN" altLang="en-US" sz="1600" b="1" dirty="0">
                <a:latin typeface="+mn-ea"/>
              </a:rPr>
              <a:t>？</a:t>
            </a:r>
            <a:endParaRPr lang="zh-CN" altLang="en-US" sz="1800" b="1" dirty="0">
              <a:solidFill>
                <a:schemeClr val="accent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331640" y="1563638"/>
            <a:ext cx="6734242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FF0000"/>
                </a:solidFill>
              </a:rPr>
              <a:t>函数</a:t>
            </a:r>
            <a:r>
              <a:rPr lang="zh-CN" altLang="en-US" sz="1800" b="1" dirty="0">
                <a:solidFill>
                  <a:schemeClr val="accent1"/>
                </a:solidFill>
              </a:rPr>
              <a:t>就好像是一个盒子，可以封装我们写的程序</a:t>
            </a:r>
            <a:endParaRPr lang="en-US" altLang="zh-CN" sz="1800" b="1" dirty="0">
              <a:solidFill>
                <a:schemeClr val="accent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11560" y="2151043"/>
            <a:ext cx="7416824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+mn-ea"/>
              </a:rPr>
              <a:t>创建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函数</a:t>
            </a:r>
            <a:r>
              <a:rPr lang="zh-CN" altLang="en-US" sz="1600" b="1" dirty="0">
                <a:latin typeface="+mn-ea"/>
              </a:rPr>
              <a:t>应该使用什么关键字？</a:t>
            </a:r>
            <a:endParaRPr lang="zh-CN" altLang="zh-CN" sz="1600" b="1" dirty="0">
              <a:latin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11560" y="3221018"/>
            <a:ext cx="7416824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函数</a:t>
            </a:r>
            <a:r>
              <a:rPr lang="zh-CN" altLang="en-US" sz="1600" b="1" dirty="0">
                <a:latin typeface="+mn-ea"/>
              </a:rPr>
              <a:t>由哪几部分组成？</a:t>
            </a:r>
            <a:endParaRPr lang="zh-CN" altLang="zh-CN" sz="1600" b="1" dirty="0">
              <a:latin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331640" y="2650758"/>
            <a:ext cx="792088" cy="461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def</a:t>
            </a:r>
            <a:endParaRPr lang="zh-CN" altLang="en-US" sz="2000" dirty="0">
              <a:solidFill>
                <a:schemeClr val="accent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331640" y="3831223"/>
            <a:ext cx="1368152" cy="400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accent1"/>
                </a:solidFill>
              </a:rPr>
              <a:t>def</a:t>
            </a:r>
            <a:r>
              <a:rPr lang="zh-CN" altLang="en-US" sz="2000" b="1" dirty="0">
                <a:solidFill>
                  <a:schemeClr val="accent1"/>
                </a:solidFill>
              </a:rPr>
              <a:t>关键字</a:t>
            </a:r>
            <a:endParaRPr lang="zh-CN" altLang="en-US" sz="1800" dirty="0">
              <a:solidFill>
                <a:schemeClr val="accent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203848" y="3831599"/>
            <a:ext cx="13681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</a:rPr>
              <a:t>函数名</a:t>
            </a:r>
            <a:endParaRPr lang="zh-CN" altLang="en-US" sz="1800" dirty="0">
              <a:solidFill>
                <a:schemeClr val="accent1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004048" y="3831599"/>
            <a:ext cx="13681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</a:rPr>
              <a:t>函数体</a:t>
            </a:r>
            <a:endParaRPr lang="zh-CN" altLang="en-US" sz="1800" dirty="0">
              <a:solidFill>
                <a:schemeClr val="accent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692697" y="3831599"/>
            <a:ext cx="13681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</a:rPr>
              <a:t>参数</a:t>
            </a:r>
            <a:endParaRPr lang="zh-CN" altLang="en-US" sz="18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4" grpId="0"/>
      <p:bldP spid="18" grpId="0"/>
      <p:bldP spid="19" grpId="0"/>
      <p:bldP spid="28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【def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关键字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36574" y="1904045"/>
            <a:ext cx="587693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70C0"/>
                </a:solidFill>
              </a:rPr>
              <a:t>def</a:t>
            </a:r>
            <a:r>
              <a:rPr lang="en-US" altLang="zh-CN" sz="2400" b="1" dirty="0"/>
              <a:t> </a:t>
            </a:r>
            <a:r>
              <a:rPr lang="en-US" altLang="zh-CN" sz="2400" b="1" dirty="0" err="1">
                <a:solidFill>
                  <a:srgbClr val="FF6600"/>
                </a:solidFill>
              </a:rPr>
              <a:t>findAndAttackDemon</a:t>
            </a:r>
            <a:r>
              <a:rPr lang="en-US" altLang="zh-CN" sz="2400" b="1" dirty="0"/>
              <a:t>():</a:t>
            </a:r>
            <a:endParaRPr lang="en-US" altLang="zh-CN" sz="2400" b="1" dirty="0"/>
          </a:p>
          <a:p>
            <a:r>
              <a:rPr lang="en-US" altLang="zh-CN" sz="2400" b="1" dirty="0"/>
              <a:t>    demon=</a:t>
            </a:r>
            <a:r>
              <a:rPr lang="en-US" altLang="zh-CN" sz="2400" b="1" dirty="0" err="1"/>
              <a:t>mayuan.findNearestEnemy</a:t>
            </a:r>
            <a:r>
              <a:rPr lang="en-US" altLang="zh-CN" sz="2400" b="1" dirty="0"/>
              <a:t>()</a:t>
            </a:r>
            <a:endParaRPr lang="en-US" altLang="zh-CN" sz="2400" b="1" dirty="0"/>
          </a:p>
          <a:p>
            <a:r>
              <a:rPr lang="en-US" altLang="zh-CN" sz="2400" b="1" dirty="0"/>
              <a:t>    if demon:</a:t>
            </a:r>
            <a:endParaRPr lang="en-US" altLang="zh-CN" sz="2400" b="1" dirty="0"/>
          </a:p>
          <a:p>
            <a:r>
              <a:rPr lang="en-US" altLang="zh-CN" sz="2400" b="1" dirty="0"/>
              <a:t>        </a:t>
            </a:r>
            <a:r>
              <a:rPr lang="en-US" altLang="zh-CN" sz="2400" b="1" dirty="0" err="1"/>
              <a:t>mayuan.attack</a:t>
            </a:r>
            <a:r>
              <a:rPr lang="en-US" altLang="zh-CN" sz="2400" b="1" dirty="0"/>
              <a:t>(demon)        	</a:t>
            </a:r>
            <a:r>
              <a:rPr lang="en-US" altLang="zh-CN" sz="2400" b="1" dirty="0" err="1"/>
              <a:t>mayuan.attack</a:t>
            </a:r>
            <a:r>
              <a:rPr lang="en-US" altLang="zh-CN" sz="2400" b="1" dirty="0"/>
              <a:t>(demon)</a:t>
            </a:r>
            <a:endParaRPr lang="zh-CN" altLang="en-US" sz="2000" dirty="0"/>
          </a:p>
        </p:txBody>
      </p:sp>
      <p:sp>
        <p:nvSpPr>
          <p:cNvPr id="27" name="矩形 26"/>
          <p:cNvSpPr/>
          <p:nvPr/>
        </p:nvSpPr>
        <p:spPr>
          <a:xfrm>
            <a:off x="1248981" y="2001868"/>
            <a:ext cx="3104284" cy="28942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8" name="直线箭头连接符 10"/>
          <p:cNvCxnSpPr/>
          <p:nvPr/>
        </p:nvCxnSpPr>
        <p:spPr>
          <a:xfrm flipV="1">
            <a:off x="3953682" y="1707654"/>
            <a:ext cx="2346510" cy="2942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9" name="TextBox 6"/>
          <p:cNvSpPr txBox="1">
            <a:spLocks noChangeArrowheads="1"/>
          </p:cNvSpPr>
          <p:nvPr/>
        </p:nvSpPr>
        <p:spPr bwMode="auto">
          <a:xfrm>
            <a:off x="6372200" y="1422566"/>
            <a:ext cx="2376264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函数名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971550" y="2354580"/>
            <a:ext cx="5464810" cy="1522095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2" name="直线箭头连接符 10"/>
          <p:cNvCxnSpPr/>
          <p:nvPr/>
        </p:nvCxnSpPr>
        <p:spPr>
          <a:xfrm>
            <a:off x="5945556" y="3498508"/>
            <a:ext cx="1002708" cy="1429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3" name="TextBox 6"/>
          <p:cNvSpPr txBox="1">
            <a:spLocks noChangeArrowheads="1"/>
          </p:cNvSpPr>
          <p:nvPr/>
        </p:nvSpPr>
        <p:spPr bwMode="auto">
          <a:xfrm>
            <a:off x="6948264" y="3410628"/>
            <a:ext cx="1135896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函数体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971772" y="3104374"/>
            <a:ext cx="354717" cy="35058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971772" y="3438188"/>
            <a:ext cx="354717" cy="35058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697550" y="2379688"/>
            <a:ext cx="274221" cy="140908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7" grpId="0" animBg="1"/>
      <p:bldP spid="21" grpId="0"/>
      <p:bldP spid="27" grpId="0" animBg="1"/>
      <p:bldP spid="29" grpId="0"/>
      <p:bldP spid="31" grpId="0" bldLvl="0" animBg="1"/>
      <p:bldP spid="33" grpId="0"/>
      <p:bldP spid="34" grpId="0" animBg="1"/>
      <p:bldP spid="37" grpId="0" animBg="1"/>
      <p:bldP spid="3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PythonL0</a:t>
            </a:r>
            <a:endParaRPr lang="zh-CN" altLang="en-US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3550736" y="1853411"/>
            <a:ext cx="247078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return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关键字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return 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关键字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89841" y="1787272"/>
            <a:ext cx="7245083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def </a:t>
            </a:r>
            <a:r>
              <a:rPr lang="en-US" altLang="zh-CN" sz="2400" b="1" dirty="0">
                <a:solidFill>
                  <a:srgbClr val="FF6600"/>
                </a:solidFill>
              </a:rPr>
              <a:t>f</a:t>
            </a:r>
            <a:r>
              <a:rPr lang="en-US" altLang="zh-CN" sz="2400" b="1" dirty="0"/>
              <a:t>():</a:t>
            </a:r>
            <a:endParaRPr lang="en-US" altLang="zh-CN" sz="2400" b="1" dirty="0"/>
          </a:p>
          <a:p>
            <a:r>
              <a:rPr lang="en-US" altLang="zh-CN" sz="2400" b="1" dirty="0"/>
              <a:t>	a=10</a:t>
            </a:r>
            <a:endParaRPr lang="en-US" altLang="zh-CN" sz="2400" b="1" dirty="0"/>
          </a:p>
          <a:p>
            <a:r>
              <a:rPr lang="en-US" altLang="zh-CN" sz="2400" b="1" dirty="0"/>
              <a:t>	if a &gt; 10 :</a:t>
            </a:r>
            <a:endParaRPr lang="en-US" altLang="zh-CN" sz="2400" b="1" dirty="0"/>
          </a:p>
          <a:p>
            <a:r>
              <a:rPr lang="en-US" altLang="zh-CN" sz="2400" b="1" dirty="0"/>
              <a:t>		</a:t>
            </a:r>
            <a:r>
              <a:rPr lang="en-US" altLang="zh-CN" sz="2400" b="1" dirty="0">
                <a:solidFill>
                  <a:srgbClr val="00B050"/>
                </a:solidFill>
              </a:rPr>
              <a:t>return</a:t>
            </a:r>
            <a:r>
              <a:rPr lang="en-US" altLang="zh-CN" sz="2400" b="1" dirty="0"/>
              <a:t> True</a:t>
            </a:r>
            <a:endParaRPr lang="en-US" altLang="zh-CN" sz="2400" b="1" dirty="0"/>
          </a:p>
          <a:p>
            <a:r>
              <a:rPr lang="en-US" altLang="zh-CN" sz="2400" b="1" dirty="0"/>
              <a:t>	else:</a:t>
            </a:r>
            <a:endParaRPr lang="en-US" altLang="zh-CN" sz="2400" b="1" dirty="0"/>
          </a:p>
          <a:p>
            <a:r>
              <a:rPr lang="en-US" altLang="zh-CN" sz="2400" b="1" dirty="0"/>
              <a:t>		</a:t>
            </a:r>
            <a:r>
              <a:rPr lang="en-US" altLang="zh-CN" sz="2400" b="1" dirty="0">
                <a:solidFill>
                  <a:srgbClr val="00B050"/>
                </a:solidFill>
              </a:rPr>
              <a:t>return</a:t>
            </a:r>
            <a:r>
              <a:rPr lang="en-US" altLang="zh-CN" sz="2400" b="1" dirty="0"/>
              <a:t> False</a:t>
            </a:r>
            <a:endParaRPr lang="en-US" altLang="zh-CN" sz="2400" b="1" dirty="0"/>
          </a:p>
        </p:txBody>
      </p:sp>
      <p:sp>
        <p:nvSpPr>
          <p:cNvPr id="29" name="TextBox 6"/>
          <p:cNvSpPr txBox="1">
            <a:spLocks noChangeArrowheads="1"/>
          </p:cNvSpPr>
          <p:nvPr/>
        </p:nvSpPr>
        <p:spPr bwMode="auto">
          <a:xfrm>
            <a:off x="589841" y="1125154"/>
            <a:ext cx="1227750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srgbClr val="C00000"/>
                </a:solidFill>
                <a:latin typeface="微软雅黑" panose="020B0503020204020204" pitchFamily="34" charset="-122"/>
                <a:cs typeface="+mn-ea"/>
                <a:sym typeface="+mn-lt"/>
              </a:rPr>
              <a:t>return</a:t>
            </a:r>
            <a:endParaRPr lang="en-US" altLang="zh-CN" sz="2400" b="1" kern="0" dirty="0">
              <a:solidFill>
                <a:srgbClr val="C00000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4" name="TextBox 6"/>
          <p:cNvSpPr txBox="1">
            <a:spLocks noChangeArrowheads="1"/>
          </p:cNvSpPr>
          <p:nvPr/>
        </p:nvSpPr>
        <p:spPr bwMode="auto">
          <a:xfrm>
            <a:off x="1817370" y="1125220"/>
            <a:ext cx="2471420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schemeClr val="accent1"/>
                </a:solidFill>
                <a:latin typeface="微软雅黑" panose="020B0503020204020204" pitchFamily="34" charset="-122"/>
                <a:cs typeface="+mn-ea"/>
                <a:sym typeface="+mn-lt"/>
              </a:rPr>
              <a:t>返回，返回结果</a:t>
            </a:r>
            <a:endParaRPr lang="en-US" altLang="zh-CN" sz="2400" b="1" kern="0" dirty="0">
              <a:solidFill>
                <a:schemeClr val="accent1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7" grpId="0" animBg="1"/>
      <p:bldP spid="21" grpId="0"/>
      <p:bldP spid="29" grpId="0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return 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练习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1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61670" y="915670"/>
            <a:ext cx="2985135" cy="270065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779520" y="987425"/>
            <a:ext cx="3048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1800"/>
              <a:t>这是最简化的</a:t>
            </a:r>
            <a:r>
              <a:rPr lang="en-US" altLang="zh-CN" sz="1800"/>
              <a:t>return</a:t>
            </a:r>
            <a:r>
              <a:rPr lang="zh-CN" altLang="en-US" sz="1800"/>
              <a:t>使用</a:t>
            </a:r>
            <a:endParaRPr lang="zh-CN" altLang="en-US" sz="1800"/>
          </a:p>
          <a:p>
            <a:pPr>
              <a:lnSpc>
                <a:spcPct val="150000"/>
              </a:lnSpc>
            </a:pPr>
            <a:r>
              <a:rPr lang="zh-CN" altLang="en-US" sz="1800"/>
              <a:t>只是最简单的返回</a:t>
            </a:r>
            <a:endParaRPr lang="zh-CN" alt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bldLvl="0" animBg="1"/>
      <p:bldP spid="7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return 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练习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2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211955" y="924560"/>
            <a:ext cx="403479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1800"/>
              <a:t>这是返回值和有参函数结合的例子，我们的返回值在有参函数中的作用会更加的明显一些。</a:t>
            </a:r>
            <a:endParaRPr lang="zh-CN" altLang="en-US" sz="180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670" y="924560"/>
            <a:ext cx="3282315" cy="39585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bldLvl="0" animBg="1"/>
      <p:bldP spid="7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2863843" y="2192546"/>
            <a:ext cx="34163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800" b="1" dirty="0"/>
              <a:t>【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打怪升级啦！！</a:t>
            </a:r>
            <a:r>
              <a:rPr lang="en-US" altLang="zh-CN" sz="2800" b="1" dirty="0"/>
              <a:t>】</a:t>
            </a:r>
            <a:endParaRPr lang="zh-CN" altLang="en-US" sz="2800" b="1" dirty="0"/>
          </a:p>
        </p:txBody>
      </p:sp>
      <p:pic>
        <p:nvPicPr>
          <p:cNvPr id="85" name="图片 8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036" y="462818"/>
            <a:ext cx="1150456" cy="12835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PLACING_PICTURE_USER_VIEWPORT" val="{&quot;height&quot;:4253,&quot;width&quot;:4701}"/>
</p:tagLst>
</file>

<file path=ppt/tags/tag2.xml><?xml version="1.0" encoding="utf-8"?>
<p:tagLst xmlns:p="http://schemas.openxmlformats.org/presentationml/2006/main">
  <p:tag name="ISPRING_RESOURCE_PATHS_HASH_PRESENTER" val="76ce7ccbcda6cf12636bdb4ab607c4c83d474"/>
  <p:tag name="KSO_WPP_MARK_KEY" val="815b8854-6465-4e86-8a3d-2a07178f7030"/>
  <p:tag name="COMMONDATA" val="eyJoZGlkIjoiNzE1MTRiZGNmZGQyODMxZWY5ZTk1Nzk2OTA5ZmQ2YzIifQ=="/>
</p:tagLst>
</file>

<file path=ppt/theme/theme1.xml><?xml version="1.0" encoding="utf-8"?>
<a:theme xmlns:a="http://schemas.openxmlformats.org/drawingml/2006/main" name="Office 主题​​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00B0F0"/>
      </a:accent2>
      <a:accent3>
        <a:srgbClr val="0070C0"/>
      </a:accent3>
      <a:accent4>
        <a:srgbClr val="00B0F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436</Words>
  <Application>WPS 演示</Application>
  <PresentationFormat>全屏显示(16:9)</PresentationFormat>
  <Paragraphs>71</Paragraphs>
  <Slides>8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HandelGotDLig</vt:lpstr>
      <vt:lpstr>汉真广标</vt:lpstr>
      <vt:lpstr>微软雅黑</vt:lpstr>
      <vt:lpstr>Impact</vt:lpstr>
      <vt:lpstr>Times New Roman</vt:lpstr>
      <vt:lpstr>Segoe Print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1012</dc:title>
  <dc:creator>admin</dc:creator>
  <cp:lastModifiedBy>爱德华·纽盖特</cp:lastModifiedBy>
  <cp:revision>535</cp:revision>
  <cp:lastPrinted>2000-12-31T21:09:00Z</cp:lastPrinted>
  <dcterms:created xsi:type="dcterms:W3CDTF">2015-11-10T12:01:00Z</dcterms:created>
  <dcterms:modified xsi:type="dcterms:W3CDTF">2022-11-18T08:51:00Z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8442917BC0F74CAC96AAFDABA370EBF0</vt:lpwstr>
  </property>
  <property fmtid="{D5CDD505-2E9C-101B-9397-08002B2CF9AE}" pid="3" name="KSOProductBuildVer">
    <vt:lpwstr>2052-11.1.0.12763</vt:lpwstr>
  </property>
</Properties>
</file>