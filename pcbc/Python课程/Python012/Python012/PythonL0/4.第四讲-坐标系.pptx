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17" r:id="rId3"/>
    <p:sldId id="470" r:id="rId5"/>
    <p:sldId id="498" r:id="rId6"/>
    <p:sldId id="499" r:id="rId7"/>
    <p:sldId id="480" r:id="rId8"/>
    <p:sldId id="484" r:id="rId9"/>
    <p:sldId id="482" r:id="rId10"/>
    <p:sldId id="492" r:id="rId11"/>
    <p:sldId id="485" r:id="rId12"/>
    <p:sldId id="491" r:id="rId13"/>
    <p:sldId id="486" r:id="rId14"/>
    <p:sldId id="483" r:id="rId15"/>
    <p:sldId id="509" r:id="rId16"/>
    <p:sldId id="490" r:id="rId17"/>
  </p:sldIdLst>
  <p:sldSz cx="9144000" cy="5143500" type="screen16x9"/>
  <p:notesSz cx="6797675" cy="9925050"/>
  <p:custDataLst>
    <p:tags r:id="rId21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8E18A"/>
    <a:srgbClr val="215F27"/>
    <a:srgbClr val="FF6600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39" autoAdjust="0"/>
    <p:restoredTop sz="95212" autoAdjust="0"/>
  </p:normalViewPr>
  <p:slideViewPr>
    <p:cSldViewPr>
      <p:cViewPr varScale="1">
        <p:scale>
          <a:sx n="95" d="100"/>
          <a:sy n="95" d="100"/>
        </p:scale>
        <p:origin x="-612" y="-90"/>
      </p:cViewPr>
      <p:guideLst>
        <p:guide orient="horz" pos="1661"/>
        <p:guide pos="287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gs" Target="tags/tag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360" y="1059815"/>
            <a:ext cx="2007870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PythonL0</a:t>
            </a:r>
            <a:endParaRPr lang="zh-CN" altLang="en-US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947285" y="1852141"/>
            <a:ext cx="12496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坐标系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7281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课前回顾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1560" y="1081068"/>
            <a:ext cx="74168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变量</a:t>
            </a:r>
            <a:r>
              <a:rPr lang="zh-CN" altLang="en-US" sz="1600" b="1" dirty="0">
                <a:latin typeface="+mn-ea"/>
              </a:rPr>
              <a:t>是怎样赋值的？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11560" y="1563638"/>
            <a:ext cx="74168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变量名 </a:t>
            </a:r>
            <a:r>
              <a:rPr lang="en-US" altLang="zh-CN" sz="20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= </a:t>
            </a:r>
            <a:r>
              <a:rPr lang="zh-CN" altLang="en-US" sz="20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变量值</a:t>
            </a:r>
            <a:endParaRPr lang="zh-CN" altLang="zh-CN" sz="1600" b="1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11560" y="2067694"/>
            <a:ext cx="74168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+mn-ea"/>
              </a:rPr>
              <a:t>Python</a:t>
            </a:r>
            <a:r>
              <a:rPr lang="zh-CN" altLang="en-US" sz="1600" b="1" dirty="0">
                <a:latin typeface="+mn-ea"/>
              </a:rPr>
              <a:t>中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变量</a:t>
            </a:r>
            <a:r>
              <a:rPr lang="zh-CN" altLang="en-US" sz="1600" b="1" dirty="0">
                <a:latin typeface="+mn-ea"/>
              </a:rPr>
              <a:t>的命名规则有哪些？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56641" y="2505468"/>
            <a:ext cx="7416824" cy="1156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1.</a:t>
            </a:r>
            <a:r>
              <a:rPr lang="zh-CN" altLang="zh-CN" sz="1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由字母、数字、</a:t>
            </a:r>
            <a:r>
              <a:rPr lang="zh-CN" altLang="zh-CN" sz="1600" b="1" dirty="0">
                <a:solidFill>
                  <a:srgbClr val="FF0000"/>
                </a:solidFill>
                <a:latin typeface="+mn-ea"/>
              </a:rPr>
              <a:t>下划线</a:t>
            </a:r>
            <a:r>
              <a:rPr lang="zh-CN" altLang="zh-CN" sz="1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组成</a:t>
            </a:r>
            <a:r>
              <a:rPr lang="en-US" altLang="zh-CN" sz="1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                           4.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大小写</a:t>
            </a:r>
            <a:r>
              <a:rPr lang="zh-CN" altLang="en-US" sz="1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敏感</a:t>
            </a:r>
            <a:endParaRPr lang="en-US" altLang="zh-CN" sz="1600" b="1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2.</a:t>
            </a:r>
            <a:r>
              <a:rPr lang="zh-CN" altLang="en-US" sz="1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长度不限                                                      </a:t>
            </a:r>
            <a:r>
              <a:rPr lang="en-US" altLang="zh-CN" sz="1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5.</a:t>
            </a:r>
            <a:r>
              <a:rPr lang="zh-CN" altLang="en-US" sz="1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不可以使用</a:t>
            </a:r>
            <a:r>
              <a:rPr lang="en-US" altLang="zh-CN" sz="1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Python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关键字</a:t>
            </a:r>
            <a:endParaRPr lang="en-US" altLang="zh-CN" sz="1600" b="1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3.</a:t>
            </a:r>
            <a:r>
              <a:rPr lang="zh-CN" altLang="en-US" sz="1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必须由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字母</a:t>
            </a:r>
            <a:r>
              <a:rPr lang="zh-CN" altLang="en-US" sz="1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或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下划线</a:t>
            </a:r>
            <a:r>
              <a:rPr lang="zh-CN" altLang="en-US" sz="1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开始</a:t>
            </a:r>
            <a:endParaRPr lang="zh-CN" altLang="en-US" sz="1600" b="1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11560" y="3774358"/>
            <a:ext cx="741682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+mn-ea"/>
              </a:rPr>
              <a:t>码猿怎样寻找最近的敌人用？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11560" y="4252182"/>
            <a:ext cx="74168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err="1">
                <a:solidFill>
                  <a:schemeClr val="accent4">
                    <a:lumMod val="75000"/>
                  </a:schemeClr>
                </a:solidFill>
                <a:latin typeface="+mn-ea"/>
              </a:rPr>
              <a:t>A.mayuan</a:t>
            </a:r>
            <a:r>
              <a:rPr lang="en-US" altLang="zh-CN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(</a:t>
            </a:r>
            <a:r>
              <a:rPr lang="en-US" altLang="zh-CN" b="1" dirty="0" err="1">
                <a:solidFill>
                  <a:schemeClr val="accent4">
                    <a:lumMod val="75000"/>
                  </a:schemeClr>
                </a:solidFill>
                <a:latin typeface="+mn-ea"/>
              </a:rPr>
              <a:t>findNearestEnemy</a:t>
            </a:r>
            <a:r>
              <a:rPr lang="en-US" altLang="zh-CN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)                    B. </a:t>
            </a:r>
            <a:r>
              <a:rPr lang="en-US" altLang="zh-CN" b="1" dirty="0" err="1">
                <a:solidFill>
                  <a:schemeClr val="accent4">
                    <a:lumMod val="75000"/>
                  </a:schemeClr>
                </a:solidFill>
                <a:latin typeface="+mn-ea"/>
              </a:rPr>
              <a:t>findNearestEnemy.mayuan</a:t>
            </a:r>
            <a:r>
              <a:rPr lang="en-US" altLang="zh-CN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()</a:t>
            </a:r>
            <a:endParaRPr lang="en-US" altLang="zh-CN" b="1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  <a:p>
            <a:r>
              <a:rPr lang="en-US" altLang="zh-CN" b="1" dirty="0" err="1">
                <a:solidFill>
                  <a:schemeClr val="accent4">
                    <a:lumMod val="75000"/>
                  </a:schemeClr>
                </a:solidFill>
                <a:latin typeface="+mn-ea"/>
              </a:rPr>
              <a:t>C.mayuan.findNearestEnemy</a:t>
            </a:r>
            <a:r>
              <a:rPr lang="en-US" altLang="zh-CN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()                   </a:t>
            </a:r>
            <a:r>
              <a:rPr lang="en-US" altLang="zh-CN" b="1" dirty="0" err="1">
                <a:solidFill>
                  <a:schemeClr val="accent4">
                    <a:lumMod val="75000"/>
                  </a:schemeClr>
                </a:solidFill>
                <a:latin typeface="+mn-ea"/>
              </a:rPr>
              <a:t>D.demo.findNearestEnemy</a:t>
            </a:r>
            <a:r>
              <a:rPr lang="en-US" altLang="zh-CN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()</a:t>
            </a:r>
            <a:endParaRPr lang="zh-CN" altLang="zh-CN" b="1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728192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课前回顾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 </a:t>
            </a:r>
            <a:endParaRPr lang="en-US" altLang="zh-CN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3315" y="1009313"/>
            <a:ext cx="7416824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上节课我们笔记的最后一点：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 = a+1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就是有限循环的关键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96465" y="339502"/>
            <a:ext cx="14020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有限循环</a:t>
            </a:r>
            <a:endParaRPr lang="zh-CN" altLang="en-US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315" y="1419860"/>
            <a:ext cx="694436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6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如果我们将它放入循环中，我们的变量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中的数字会随着循环的执行越来越大。那么我们只需要让我们循环的条件和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的大小搭上关系。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987675" y="2644140"/>
            <a:ext cx="3924300" cy="2209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9" grpId="0"/>
      <p:bldP spid="9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728192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课前回顾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 </a:t>
            </a:r>
            <a:endParaRPr lang="en-US" altLang="zh-CN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1505" y="987723"/>
            <a:ext cx="7416824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让我们来看看具体的有限循环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96465" y="339502"/>
            <a:ext cx="14020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有限循环</a:t>
            </a:r>
            <a:endParaRPr lang="zh-CN" altLang="en-US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1531620"/>
            <a:ext cx="3780155" cy="21304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880" y="1347470"/>
            <a:ext cx="411480" cy="348488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292725" y="1491615"/>
            <a:ext cx="19056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打印输出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1-100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292725" y="2372360"/>
            <a:ext cx="33248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打印输出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1-100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的倍数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292725" y="3253105"/>
            <a:ext cx="19056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打印输出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100-1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2" grpId="0"/>
      <p:bldP spid="12" grpId="1"/>
      <p:bldP spid="13" grpId="0"/>
      <p:bldP spid="13" grpId="1"/>
      <p:bldP spid="14" grpId="0"/>
      <p:bldP spid="1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坐标系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64876" y="3119889"/>
            <a:ext cx="11058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坐标系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78912" y="1133911"/>
            <a:ext cx="81350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坐标系由哪几部分构成？</a:t>
            </a:r>
            <a:endParaRPr lang="zh-CN" altLang="en-US" sz="2000" dirty="0"/>
          </a:p>
        </p:txBody>
      </p:sp>
      <p:sp>
        <p:nvSpPr>
          <p:cNvPr id="26" name="矩形 25"/>
          <p:cNvSpPr/>
          <p:nvPr/>
        </p:nvSpPr>
        <p:spPr>
          <a:xfrm>
            <a:off x="2771729" y="1821479"/>
            <a:ext cx="11553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accent3"/>
                </a:solidFill>
              </a:rPr>
              <a:t>坐标轴</a:t>
            </a:r>
            <a:endParaRPr lang="zh-CN" altLang="en-US" sz="2000" dirty="0">
              <a:solidFill>
                <a:schemeClr val="accent3"/>
              </a:solidFill>
            </a:endParaRPr>
          </a:p>
        </p:txBody>
      </p:sp>
      <p:sp>
        <p:nvSpPr>
          <p:cNvPr id="8" name="左大括号 7"/>
          <p:cNvSpPr/>
          <p:nvPr/>
        </p:nvSpPr>
        <p:spPr>
          <a:xfrm>
            <a:off x="1787575" y="1910562"/>
            <a:ext cx="576064" cy="2880320"/>
          </a:xfrm>
          <a:prstGeom prst="leftBrac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2771729" y="3096579"/>
            <a:ext cx="795334" cy="461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accent3"/>
                </a:solidFill>
              </a:rPr>
              <a:t>原点</a:t>
            </a:r>
            <a:endParaRPr lang="zh-CN" altLang="en-US" sz="2000" dirty="0">
              <a:solidFill>
                <a:schemeClr val="accent3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771729" y="4371659"/>
            <a:ext cx="1407402" cy="461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accent3"/>
                </a:solidFill>
              </a:rPr>
              <a:t>单位长度</a:t>
            </a:r>
            <a:endParaRPr lang="zh-CN" altLang="en-US" sz="2000" dirty="0">
              <a:solidFill>
                <a:schemeClr val="accent3"/>
              </a:solidFill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4500245" y="3219822"/>
            <a:ext cx="35283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V="1">
            <a:off x="6228184" y="1595326"/>
            <a:ext cx="0" cy="31955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7524750" y="2687955"/>
            <a:ext cx="150241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X</a:t>
            </a:r>
            <a:r>
              <a:rPr lang="zh-CN" altLang="en-US" sz="2400" b="1" dirty="0">
                <a:solidFill>
                  <a:srgbClr val="FF0000"/>
                </a:solidFill>
              </a:rPr>
              <a:t>轴</a:t>
            </a:r>
            <a:r>
              <a:rPr lang="en-US" altLang="zh-CN" sz="2400" b="1" dirty="0">
                <a:solidFill>
                  <a:srgbClr val="FF0000"/>
                </a:solidFill>
              </a:rPr>
              <a:t>(</a:t>
            </a:r>
            <a:r>
              <a:rPr lang="zh-CN" altLang="zh-CN" sz="2400" b="1" dirty="0">
                <a:solidFill>
                  <a:srgbClr val="FF0000"/>
                </a:solidFill>
              </a:rPr>
              <a:t>横轴</a:t>
            </a:r>
            <a:r>
              <a:rPr lang="en-US" altLang="zh-CN" sz="2400" b="1" dirty="0">
                <a:solidFill>
                  <a:srgbClr val="FF0000"/>
                </a:solidFill>
              </a:rPr>
              <a:t>)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354445" y="1390015"/>
            <a:ext cx="1405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Y</a:t>
            </a:r>
            <a:r>
              <a:rPr lang="zh-CN" altLang="en-US" sz="2400" b="1" dirty="0">
                <a:solidFill>
                  <a:srgbClr val="FF0000"/>
                </a:solidFill>
              </a:rPr>
              <a:t>轴</a:t>
            </a:r>
            <a:r>
              <a:rPr lang="en-US" altLang="en-US" sz="2400" b="1" dirty="0">
                <a:solidFill>
                  <a:srgbClr val="FF0000"/>
                </a:solidFill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</a:rPr>
              <a:t>纵轴</a:t>
            </a:r>
            <a:r>
              <a:rPr lang="en-US" altLang="en-US" sz="2400" b="1" dirty="0">
                <a:solidFill>
                  <a:srgbClr val="FF0000"/>
                </a:solidFill>
              </a:rPr>
              <a:t>)</a:t>
            </a:r>
            <a:endParaRPr lang="en-US" altLang="en-US" sz="2400" b="1" dirty="0">
              <a:solidFill>
                <a:srgbClr val="FF0000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772751" y="3778756"/>
            <a:ext cx="144016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原点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(0,0)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34" name="直接箭头连接符 33"/>
          <p:cNvCxnSpPr/>
          <p:nvPr/>
        </p:nvCxnSpPr>
        <p:spPr>
          <a:xfrm flipH="1" flipV="1">
            <a:off x="6282857" y="3292142"/>
            <a:ext cx="436554" cy="670496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7" grpId="0" animBg="1"/>
      <p:bldP spid="2" grpId="0"/>
      <p:bldP spid="12" grpId="0"/>
      <p:bldP spid="26" grpId="0"/>
      <p:bldP spid="8" grpId="0" animBg="1"/>
      <p:bldP spid="27" grpId="0"/>
      <p:bldP spid="28" grpId="0"/>
      <p:bldP spid="31" grpId="0"/>
      <p:bldP spid="32" grpId="0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 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坐标系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576" y="1491630"/>
            <a:ext cx="2898202" cy="3225825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>
            <a:off x="395536" y="4515966"/>
            <a:ext cx="424847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V="1">
            <a:off x="899592" y="852694"/>
            <a:ext cx="0" cy="40953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395536" y="4587974"/>
            <a:ext cx="360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0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716016" y="4326364"/>
            <a:ext cx="360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X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95536" y="877267"/>
            <a:ext cx="360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Y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468616" y="1403088"/>
            <a:ext cx="2460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>
                <a:solidFill>
                  <a:srgbClr val="FF0000"/>
                </a:solidFill>
              </a:rPr>
              <a:t>原点</a:t>
            </a:r>
            <a:r>
              <a:rPr lang="en-US" altLang="zh-CN" sz="1800" b="1" dirty="0">
                <a:solidFill>
                  <a:srgbClr val="FF0000"/>
                </a:solidFill>
              </a:rPr>
              <a:t>(0,0)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endParaRPr lang="zh-CN" altLang="en-US" sz="1800" b="1" dirty="0">
              <a:solidFill>
                <a:srgbClr val="FF0000"/>
              </a:solidFill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865" y="1347616"/>
            <a:ext cx="496359" cy="5040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9169" y="2171094"/>
            <a:ext cx="552236" cy="5040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0" name="文本框 29"/>
          <p:cNvSpPr txBox="1"/>
          <p:nvPr/>
        </p:nvSpPr>
        <p:spPr>
          <a:xfrm>
            <a:off x="5586350" y="2238022"/>
            <a:ext cx="2460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</a:rPr>
              <a:t>(1,0)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endParaRPr lang="zh-CN" altLang="en-US" sz="1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  <p:bldP spid="25" grpId="0"/>
      <p:bldP spid="26" grpId="0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坐标系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5736" y="1707654"/>
            <a:ext cx="4946449" cy="3009920"/>
          </a:xfrm>
          <a:prstGeom prst="rect">
            <a:avLst/>
          </a:prstGeom>
        </p:spPr>
      </p:pic>
      <p:cxnSp>
        <p:nvCxnSpPr>
          <p:cNvPr id="18" name="直接箭头连接符 17"/>
          <p:cNvCxnSpPr/>
          <p:nvPr/>
        </p:nvCxnSpPr>
        <p:spPr>
          <a:xfrm>
            <a:off x="1691680" y="4722854"/>
            <a:ext cx="597666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V="1">
            <a:off x="2195736" y="1059582"/>
            <a:ext cx="0" cy="40953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1821795" y="4684692"/>
            <a:ext cx="360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0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233356" y="4533252"/>
            <a:ext cx="360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X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411760" y="944329"/>
            <a:ext cx="360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Y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7" grpId="0" animBg="1"/>
      <p:bldP spid="20" grpId="0"/>
      <p:bldP spid="21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l="4364" t="5844" r="9427" b="7590"/>
          <a:stretch>
            <a:fillRect/>
          </a:stretch>
        </p:blipFill>
        <p:spPr>
          <a:xfrm>
            <a:off x="1329690" y="915035"/>
            <a:ext cx="5933440" cy="4204335"/>
          </a:xfrm>
          <a:prstGeom prst="rect">
            <a:avLst/>
          </a:prstGeom>
        </p:spPr>
      </p:pic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坐标系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874456" y="2499982"/>
            <a:ext cx="360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X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707795" y="843364"/>
            <a:ext cx="360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Y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  <p:bldP spid="21" grpId="0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语言程序设计</a:t>
            </a:r>
            <a:endParaRPr lang="zh-CN" altLang="en-US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983482" y="1853411"/>
            <a:ext cx="16052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多参方法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 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多参方法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6" name="矩形 1"/>
          <p:cNvSpPr>
            <a:spLocks noChangeArrowheads="1"/>
          </p:cNvSpPr>
          <p:nvPr/>
        </p:nvSpPr>
        <p:spPr bwMode="auto">
          <a:xfrm>
            <a:off x="539926" y="1368172"/>
            <a:ext cx="510838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+mn-ea"/>
              </a:rPr>
              <a:t>demon = </a:t>
            </a:r>
            <a:r>
              <a:rPr lang="en-US" altLang="zh-CN" sz="1800" b="1" dirty="0" err="1">
                <a:latin typeface="+mn-ea"/>
              </a:rPr>
              <a:t>mayuan.findNearestEnemy</a:t>
            </a:r>
            <a:r>
              <a:rPr lang="en-US" altLang="zh-CN" sz="1800" b="1" dirty="0">
                <a:latin typeface="+mn-ea"/>
              </a:rPr>
              <a:t>()</a:t>
            </a:r>
            <a:endParaRPr lang="en-US" altLang="zh-CN" sz="1800" b="1" dirty="0">
              <a:latin typeface="+mn-ea"/>
            </a:endParaRPr>
          </a:p>
          <a:p>
            <a:endParaRPr lang="zh-CN" altLang="zh-CN" sz="1800" b="1" dirty="0">
              <a:latin typeface="+mn-ea"/>
            </a:endParaRPr>
          </a:p>
        </p:txBody>
      </p:sp>
      <p:sp>
        <p:nvSpPr>
          <p:cNvPr id="18" name="矩形 1"/>
          <p:cNvSpPr>
            <a:spLocks noChangeArrowheads="1"/>
          </p:cNvSpPr>
          <p:nvPr/>
        </p:nvSpPr>
        <p:spPr bwMode="auto">
          <a:xfrm>
            <a:off x="508444" y="1820312"/>
            <a:ext cx="4464496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C000"/>
                </a:solidFill>
                <a:latin typeface="+mn-ea"/>
              </a:rPr>
              <a:t>#</a:t>
            </a:r>
            <a:r>
              <a:rPr lang="zh-CN" altLang="en-US" sz="1800" b="1" dirty="0">
                <a:solidFill>
                  <a:srgbClr val="FFC000"/>
                </a:solidFill>
                <a:latin typeface="+mn-ea"/>
              </a:rPr>
              <a:t>找到最近的敌人并储存到变量中</a:t>
            </a:r>
            <a:endParaRPr lang="en-US" altLang="zh-CN" sz="1800" b="1" dirty="0">
              <a:solidFill>
                <a:srgbClr val="FFC000"/>
              </a:solidFill>
              <a:latin typeface="+mn-ea"/>
            </a:endParaRPr>
          </a:p>
        </p:txBody>
      </p:sp>
      <p:sp>
        <p:nvSpPr>
          <p:cNvPr id="10" name="矩形 1"/>
          <p:cNvSpPr>
            <a:spLocks noChangeArrowheads="1"/>
          </p:cNvSpPr>
          <p:nvPr/>
        </p:nvSpPr>
        <p:spPr bwMode="auto">
          <a:xfrm>
            <a:off x="543736" y="2383454"/>
            <a:ext cx="3236176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800" b="1" dirty="0" err="1">
                <a:latin typeface="+mn-ea"/>
              </a:rPr>
              <a:t>mayuan.attack</a:t>
            </a:r>
            <a:r>
              <a:rPr lang="en-US" altLang="zh-CN" sz="1800" b="1" dirty="0">
                <a:latin typeface="+mn-ea"/>
              </a:rPr>
              <a:t>(demon)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 err="1">
                <a:latin typeface="+mn-ea"/>
              </a:rPr>
              <a:t>mayuan.attack</a:t>
            </a:r>
            <a:r>
              <a:rPr lang="en-US" altLang="zh-CN" sz="1800" b="1" dirty="0">
                <a:latin typeface="+mn-ea"/>
              </a:rPr>
              <a:t>(demon)</a:t>
            </a:r>
            <a:endParaRPr lang="zh-CN" altLang="zh-CN" sz="1800" b="1" dirty="0">
              <a:latin typeface="+mn-ea"/>
            </a:endParaRPr>
          </a:p>
          <a:p>
            <a:endParaRPr lang="zh-CN" altLang="zh-CN" sz="1800" b="1" dirty="0">
              <a:latin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39552" y="1371315"/>
            <a:ext cx="89520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箭头连接符 19"/>
          <p:cNvCxnSpPr/>
          <p:nvPr/>
        </p:nvCxnSpPr>
        <p:spPr>
          <a:xfrm>
            <a:off x="1198851" y="1820312"/>
            <a:ext cx="1488398" cy="4634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2382398" y="2387669"/>
            <a:ext cx="89520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箭头连接符 27"/>
          <p:cNvCxnSpPr/>
          <p:nvPr/>
        </p:nvCxnSpPr>
        <p:spPr>
          <a:xfrm>
            <a:off x="3277602" y="2582434"/>
            <a:ext cx="24319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矩形 1"/>
          <p:cNvSpPr>
            <a:spLocks noChangeArrowheads="1"/>
          </p:cNvSpPr>
          <p:nvPr/>
        </p:nvSpPr>
        <p:spPr bwMode="auto">
          <a:xfrm>
            <a:off x="5765800" y="2398395"/>
            <a:ext cx="252031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+mn-ea"/>
              </a:rPr>
              <a:t>将变量作为参数</a:t>
            </a:r>
            <a:endParaRPr lang="zh-CN" altLang="en-US" sz="1800" b="1" dirty="0">
              <a:latin typeface="+mn-ea"/>
            </a:endParaRPr>
          </a:p>
          <a:p>
            <a:r>
              <a:rPr lang="zh-CN" altLang="en-US" sz="1800" b="1" dirty="0">
                <a:latin typeface="+mn-ea"/>
              </a:rPr>
              <a:t>一个参数</a:t>
            </a:r>
            <a:endParaRPr lang="zh-CN" altLang="en-US" sz="1800" b="1" dirty="0">
              <a:latin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860290" y="1405255"/>
            <a:ext cx="3910965" cy="412115"/>
            <a:chOff x="7654" y="2213"/>
            <a:chExt cx="6159" cy="649"/>
          </a:xfrm>
        </p:grpSpPr>
        <p:sp>
          <p:nvSpPr>
            <p:cNvPr id="2" name="矩形 1"/>
            <p:cNvSpPr/>
            <p:nvPr/>
          </p:nvSpPr>
          <p:spPr>
            <a:xfrm>
              <a:off x="7654" y="2213"/>
              <a:ext cx="402" cy="5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8" name="直接箭头连接符 7"/>
            <p:cNvCxnSpPr/>
            <p:nvPr/>
          </p:nvCxnSpPr>
          <p:spPr>
            <a:xfrm>
              <a:off x="8077" y="2502"/>
              <a:ext cx="1845" cy="7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" name="矩形 1"/>
            <p:cNvSpPr>
              <a:spLocks noChangeArrowheads="1"/>
            </p:cNvSpPr>
            <p:nvPr/>
          </p:nvSpPr>
          <p:spPr bwMode="auto">
            <a:xfrm>
              <a:off x="9845" y="2282"/>
              <a:ext cx="3969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p>
              <a:pPr algn="l">
                <a:buClrTx/>
                <a:buSzTx/>
                <a:buFontTx/>
              </a:pPr>
              <a:r>
                <a:rPr lang="zh-CN" altLang="en-US" sz="1800" b="1" dirty="0">
                  <a:latin typeface="+mn-ea"/>
                </a:rPr>
                <a:t>没有参数</a:t>
              </a:r>
              <a:endParaRPr lang="zh-CN" altLang="en-US" sz="1800" b="1" dirty="0">
                <a:latin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0" grpId="0"/>
      <p:bldP spid="19" grpId="0" bldLvl="0" animBg="1"/>
      <p:bldP spid="21" grpId="0" bldLvl="0" animBg="1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多参方法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创建物品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2" name="矩形 1"/>
          <p:cNvSpPr>
            <a:spLocks noChangeArrowheads="1"/>
          </p:cNvSpPr>
          <p:nvPr/>
        </p:nvSpPr>
        <p:spPr bwMode="auto">
          <a:xfrm>
            <a:off x="620708" y="1680647"/>
            <a:ext cx="51083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800" b="1" dirty="0" err="1">
                <a:latin typeface="+mn-ea"/>
              </a:rPr>
              <a:t>mayuan.createXY</a:t>
            </a:r>
            <a:r>
              <a:rPr lang="en-US" altLang="zh-CN" sz="1800" b="1" dirty="0">
                <a:latin typeface="+mn-ea"/>
              </a:rPr>
              <a:t>(</a:t>
            </a:r>
            <a:r>
              <a:rPr lang="zh-CN" altLang="en-US" sz="1800" b="1" dirty="0">
                <a:latin typeface="+mn-ea"/>
              </a:rPr>
              <a:t>“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</a:rPr>
              <a:t>建造类型</a:t>
            </a:r>
            <a:r>
              <a:rPr lang="zh-CN" altLang="en-US" sz="1800" b="1" dirty="0">
                <a:latin typeface="+mn-ea"/>
              </a:rPr>
              <a:t>”</a:t>
            </a:r>
            <a:r>
              <a:rPr lang="en-US" altLang="zh-CN" sz="1800" b="1" dirty="0">
                <a:latin typeface="+mn-ea"/>
              </a:rPr>
              <a:t>,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</a:rPr>
              <a:t>X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</a:rPr>
              <a:t>坐标</a:t>
            </a:r>
            <a:r>
              <a:rPr lang="en-US" altLang="zh-CN" sz="1800" b="1" dirty="0">
                <a:latin typeface="+mn-ea"/>
              </a:rPr>
              <a:t>,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</a:rPr>
              <a:t>Y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</a:rPr>
              <a:t>坐标</a:t>
            </a:r>
            <a:r>
              <a:rPr lang="en-US" altLang="zh-CN" sz="1800" b="1" dirty="0">
                <a:latin typeface="+mn-ea"/>
              </a:rPr>
              <a:t>)</a:t>
            </a:r>
            <a:endParaRPr lang="zh-CN" altLang="zh-CN" sz="1800" b="1" dirty="0">
              <a:latin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908862" y="1680647"/>
            <a:ext cx="159572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3932530" y="1679179"/>
            <a:ext cx="159572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1"/>
          <p:cNvSpPr>
            <a:spLocks noChangeArrowheads="1"/>
          </p:cNvSpPr>
          <p:nvPr/>
        </p:nvSpPr>
        <p:spPr bwMode="auto">
          <a:xfrm>
            <a:off x="1205828" y="3645719"/>
            <a:ext cx="163911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800" b="1" dirty="0">
                <a:latin typeface="+mn-ea"/>
              </a:rPr>
              <a:t>“</a:t>
            </a:r>
            <a:r>
              <a:rPr lang="en-US" altLang="zh-CN" sz="1800" b="1" dirty="0">
                <a:latin typeface="+mn-ea"/>
              </a:rPr>
              <a:t>stone</a:t>
            </a:r>
            <a:r>
              <a:rPr lang="zh-CN" altLang="en-US" sz="1800" b="1" dirty="0">
                <a:latin typeface="+mn-ea"/>
              </a:rPr>
              <a:t>”</a:t>
            </a:r>
            <a:endParaRPr lang="zh-CN" altLang="zh-CN" sz="1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8436" y="3307165"/>
            <a:ext cx="948028" cy="11707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</p:pic>
      <p:sp>
        <p:nvSpPr>
          <p:cNvPr id="29" name="矩形 1"/>
          <p:cNvSpPr>
            <a:spLocks noChangeArrowheads="1"/>
          </p:cNvSpPr>
          <p:nvPr/>
        </p:nvSpPr>
        <p:spPr bwMode="auto">
          <a:xfrm>
            <a:off x="4211955" y="2139315"/>
            <a:ext cx="252031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zh-CN" sz="1800" b="1" dirty="0">
                <a:solidFill>
                  <a:schemeClr val="tx1"/>
                </a:solidFill>
                <a:latin typeface="+mn-ea"/>
              </a:rPr>
              <a:t>三个参数</a:t>
            </a:r>
            <a:endParaRPr lang="zh-CN" altLang="zh-CN" sz="1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7385" y="2131060"/>
            <a:ext cx="3203575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1600" b="1" dirty="0">
                <a:solidFill>
                  <a:srgbClr val="FFC000"/>
                </a:solidFill>
                <a:latin typeface="+mn-ea"/>
                <a:sym typeface="+mn-ea"/>
              </a:rPr>
              <a:t>#</a:t>
            </a:r>
            <a:r>
              <a:rPr lang="zh-CN" altLang="en-US" sz="1600" b="1" dirty="0">
                <a:solidFill>
                  <a:srgbClr val="FFC000"/>
                </a:solidFill>
                <a:latin typeface="+mn-ea"/>
                <a:sym typeface="+mn-ea"/>
              </a:rPr>
              <a:t>创造一个物品在</a:t>
            </a:r>
            <a:r>
              <a:rPr lang="en-US" altLang="zh-CN" sz="1600" b="1" dirty="0">
                <a:solidFill>
                  <a:srgbClr val="FFC000"/>
                </a:solidFill>
                <a:latin typeface="+mn-ea"/>
                <a:sym typeface="+mn-ea"/>
              </a:rPr>
              <a:t>(x,y)</a:t>
            </a:r>
            <a:r>
              <a:rPr lang="zh-CN" altLang="en-US" sz="1600" b="1" dirty="0">
                <a:solidFill>
                  <a:srgbClr val="FFC000"/>
                </a:solidFill>
                <a:latin typeface="+mn-ea"/>
                <a:sym typeface="+mn-ea"/>
              </a:rPr>
              <a:t>这个坐标上</a:t>
            </a:r>
            <a:endParaRPr lang="zh-CN" altLang="en-US" sz="1600" b="1" dirty="0">
              <a:solidFill>
                <a:srgbClr val="FFC000"/>
              </a:solidFill>
              <a:latin typeface="+mn-ea"/>
              <a:sym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564255" y="1131570"/>
            <a:ext cx="3685540" cy="503555"/>
            <a:chOff x="5613" y="1782"/>
            <a:chExt cx="5804" cy="793"/>
          </a:xfrm>
        </p:grpSpPr>
        <p:cxnSp>
          <p:nvCxnSpPr>
            <p:cNvPr id="8" name="直接箭头连接符 7"/>
            <p:cNvCxnSpPr/>
            <p:nvPr/>
          </p:nvCxnSpPr>
          <p:spPr>
            <a:xfrm flipV="1">
              <a:off x="5613" y="2035"/>
              <a:ext cx="3716" cy="54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9329" y="1782"/>
              <a:ext cx="20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800" b="1"/>
                <a:t>字符串类型</a:t>
              </a:r>
              <a:endParaRPr lang="zh-CN" altLang="en-US" sz="1800" b="1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 bldLvl="0" animBg="1"/>
      <p:bldP spid="25" grpId="0" bldLvl="0" animBg="1"/>
      <p:bldP spid="26" grpId="0"/>
      <p:bldP spid="29" grpId="0"/>
      <p:bldP spid="2" grpId="0"/>
      <p:bldP spid="2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多参方法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创建物品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26519" y="1431816"/>
            <a:ext cx="68909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err="1"/>
              <a:t>mayuan.createXY</a:t>
            </a:r>
            <a:r>
              <a:rPr lang="en-US" altLang="zh-CN" sz="2400" b="1" dirty="0"/>
              <a:t>(“stone”,10,20)</a:t>
            </a:r>
            <a:endParaRPr lang="zh-CN" altLang="en-US" sz="2400" b="1" dirty="0"/>
          </a:p>
        </p:txBody>
      </p:sp>
      <p:sp>
        <p:nvSpPr>
          <p:cNvPr id="29" name="矩形 1"/>
          <p:cNvSpPr>
            <a:spLocks noChangeArrowheads="1"/>
          </p:cNvSpPr>
          <p:nvPr/>
        </p:nvSpPr>
        <p:spPr bwMode="auto">
          <a:xfrm>
            <a:off x="1132974" y="1893481"/>
            <a:ext cx="44644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C000"/>
                </a:solidFill>
                <a:latin typeface="+mn-ea"/>
              </a:rPr>
              <a:t>#</a:t>
            </a:r>
            <a:r>
              <a:rPr lang="zh-CN" altLang="en-US" sz="1800" b="1" dirty="0">
                <a:solidFill>
                  <a:srgbClr val="FFC000"/>
                </a:solidFill>
                <a:latin typeface="+mn-ea"/>
              </a:rPr>
              <a:t>在（</a:t>
            </a:r>
            <a:r>
              <a:rPr lang="en-US" altLang="zh-CN" sz="1800" b="1" dirty="0">
                <a:solidFill>
                  <a:srgbClr val="FFC000"/>
                </a:solidFill>
                <a:latin typeface="+mn-ea"/>
              </a:rPr>
              <a:t>10</a:t>
            </a:r>
            <a:r>
              <a:rPr lang="zh-CN" altLang="en-US" sz="1800" b="1" dirty="0">
                <a:solidFill>
                  <a:srgbClr val="FFC000"/>
                </a:solidFill>
                <a:latin typeface="+mn-ea"/>
              </a:rPr>
              <a:t>，</a:t>
            </a:r>
            <a:r>
              <a:rPr lang="en-US" altLang="zh-CN" sz="1800" b="1" dirty="0">
                <a:solidFill>
                  <a:srgbClr val="FFC000"/>
                </a:solidFill>
                <a:latin typeface="+mn-ea"/>
              </a:rPr>
              <a:t>20</a:t>
            </a:r>
            <a:r>
              <a:rPr lang="zh-CN" altLang="en-US" sz="1800" b="1" dirty="0">
                <a:solidFill>
                  <a:srgbClr val="FFC000"/>
                </a:solidFill>
                <a:latin typeface="+mn-ea"/>
              </a:rPr>
              <a:t>）的点上建造一个石头</a:t>
            </a:r>
            <a:endParaRPr lang="zh-CN" altLang="zh-CN" sz="1800" b="1" dirty="0">
              <a:solidFill>
                <a:srgbClr val="FFC000"/>
              </a:solidFill>
              <a:latin typeface="+mn-e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035686" y="2433978"/>
            <a:ext cx="47416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err="1"/>
              <a:t>mayuan.createXY</a:t>
            </a:r>
            <a:r>
              <a:rPr lang="en-US" altLang="zh-CN" sz="2400" b="1" dirty="0"/>
              <a:t>(stone,20,20)</a:t>
            </a:r>
            <a:endParaRPr lang="zh-CN" altLang="en-US" sz="2400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5796136" y="2310867"/>
            <a:ext cx="5760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sym typeface="Wingdings 2" panose="05020102010507070707" pitchFamily="18" charset="2"/>
              </a:rPr>
              <a:t></a:t>
            </a:r>
            <a:endParaRPr lang="zh-CN" altLang="en-US" sz="4000" b="1" dirty="0">
              <a:solidFill>
                <a:srgbClr val="FF0000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043608" y="3291830"/>
            <a:ext cx="57606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err="1"/>
              <a:t>mayuan.createXY</a:t>
            </a:r>
            <a:r>
              <a:rPr lang="en-US" altLang="zh-CN" sz="2400" b="1" dirty="0"/>
              <a:t>(“stone”, “20”, “20”)</a:t>
            </a:r>
            <a:endParaRPr lang="zh-CN" altLang="en-US" sz="2400" b="1" dirty="0"/>
          </a:p>
        </p:txBody>
      </p:sp>
      <p:sp>
        <p:nvSpPr>
          <p:cNvPr id="33" name="文本框 32"/>
          <p:cNvSpPr txBox="1"/>
          <p:nvPr/>
        </p:nvSpPr>
        <p:spPr>
          <a:xfrm>
            <a:off x="6804248" y="3168719"/>
            <a:ext cx="5760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sym typeface="Wingdings 2" panose="05020102010507070707" pitchFamily="18" charset="2"/>
              </a:rPr>
              <a:t></a:t>
            </a:r>
            <a:endParaRPr lang="zh-CN" altLang="en-US" sz="4000" b="1" dirty="0">
              <a:solidFill>
                <a:srgbClr val="FF0000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084168" y="1455843"/>
            <a:ext cx="774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00B050"/>
                </a:solidFill>
                <a:sym typeface="Wingdings 2" panose="05020102010507070707" pitchFamily="18" charset="2"/>
              </a:rPr>
              <a:t></a:t>
            </a:r>
            <a:endParaRPr lang="zh-CN" altLang="en-US" sz="36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多参方法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去某个坐标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899795" y="1216660"/>
            <a:ext cx="317754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err="1"/>
              <a:t>mayuan.goXY</a:t>
            </a:r>
            <a:r>
              <a:rPr lang="en-US" altLang="zh-CN" sz="2400" b="1" dirty="0"/>
              <a:t>(10,20)</a:t>
            </a:r>
            <a:endParaRPr lang="zh-CN" altLang="en-US" sz="2400" b="1" dirty="0"/>
          </a:p>
        </p:txBody>
      </p:sp>
      <p:sp>
        <p:nvSpPr>
          <p:cNvPr id="29" name="矩形 1"/>
          <p:cNvSpPr>
            <a:spLocks noChangeArrowheads="1"/>
          </p:cNvSpPr>
          <p:nvPr/>
        </p:nvSpPr>
        <p:spPr bwMode="auto">
          <a:xfrm>
            <a:off x="899795" y="1678305"/>
            <a:ext cx="366141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C000"/>
                </a:solidFill>
                <a:latin typeface="+mn-ea"/>
              </a:rPr>
              <a:t>#</a:t>
            </a:r>
            <a:r>
              <a:rPr lang="zh-CN" altLang="en-US" sz="1800" b="1" dirty="0">
                <a:solidFill>
                  <a:srgbClr val="FFC000"/>
                </a:solidFill>
                <a:latin typeface="+mn-ea"/>
              </a:rPr>
              <a:t>码猿去到（</a:t>
            </a:r>
            <a:r>
              <a:rPr lang="en-US" altLang="zh-CN" sz="1800" b="1" dirty="0">
                <a:solidFill>
                  <a:srgbClr val="FFC000"/>
                </a:solidFill>
                <a:latin typeface="+mn-ea"/>
              </a:rPr>
              <a:t>10</a:t>
            </a:r>
            <a:r>
              <a:rPr lang="zh-CN" altLang="en-US" sz="1800" b="1" dirty="0">
                <a:solidFill>
                  <a:srgbClr val="FFC000"/>
                </a:solidFill>
                <a:latin typeface="+mn-ea"/>
              </a:rPr>
              <a:t>，</a:t>
            </a:r>
            <a:r>
              <a:rPr lang="en-US" altLang="zh-CN" sz="1800" b="1" dirty="0">
                <a:solidFill>
                  <a:srgbClr val="FFC000"/>
                </a:solidFill>
                <a:latin typeface="+mn-ea"/>
              </a:rPr>
              <a:t>20</a:t>
            </a:r>
            <a:r>
              <a:rPr lang="zh-CN" altLang="en-US" sz="1800" b="1" dirty="0">
                <a:solidFill>
                  <a:srgbClr val="FFC000"/>
                </a:solidFill>
                <a:latin typeface="+mn-ea"/>
              </a:rPr>
              <a:t>）这个坐标点</a:t>
            </a:r>
            <a:endParaRPr lang="zh-CN" altLang="zh-CN" sz="1800" b="1" dirty="0">
              <a:solidFill>
                <a:srgbClr val="FFC000"/>
              </a:solidFill>
              <a:latin typeface="+mn-e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99795" y="2326640"/>
            <a:ext cx="366141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err="1"/>
              <a:t>mayuan.goXY</a:t>
            </a:r>
            <a:r>
              <a:rPr lang="en-US" altLang="zh-CN" sz="2400" b="1" dirty="0"/>
              <a:t>(x:10,y:20)</a:t>
            </a:r>
            <a:endParaRPr lang="zh-CN" altLang="en-US" sz="2400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4436333" y="2282514"/>
            <a:ext cx="576064" cy="707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sym typeface="Wingdings 2" panose="05020102010507070707" pitchFamily="18" charset="2"/>
              </a:rPr>
              <a:t></a:t>
            </a:r>
            <a:endParaRPr lang="zh-CN" altLang="en-US" sz="4000" b="1" dirty="0">
              <a:solidFill>
                <a:srgbClr val="FF0000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99795" y="3436511"/>
            <a:ext cx="39992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err="1"/>
              <a:t>mayuan.goXY</a:t>
            </a:r>
            <a:r>
              <a:rPr lang="en-US" altLang="zh-CN" sz="2400" b="1" dirty="0"/>
              <a:t>( “10”, “20”)</a:t>
            </a:r>
            <a:endParaRPr lang="zh-CN" altLang="en-US" sz="2400" b="1" dirty="0"/>
          </a:p>
        </p:txBody>
      </p:sp>
      <p:sp>
        <p:nvSpPr>
          <p:cNvPr id="33" name="文本框 32"/>
          <p:cNvSpPr txBox="1"/>
          <p:nvPr/>
        </p:nvSpPr>
        <p:spPr>
          <a:xfrm>
            <a:off x="4651598" y="3385509"/>
            <a:ext cx="576064" cy="707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sym typeface="Wingdings 2" panose="05020102010507070707" pitchFamily="18" charset="2"/>
              </a:rPr>
              <a:t></a:t>
            </a:r>
            <a:endParaRPr lang="zh-CN" altLang="en-US" sz="4000" b="1" dirty="0">
              <a:solidFill>
                <a:srgbClr val="FF0000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077558" y="1168823"/>
            <a:ext cx="774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00B050"/>
                </a:solidFill>
                <a:sym typeface="Wingdings 2" panose="05020102010507070707" pitchFamily="18" charset="2"/>
              </a:rPr>
              <a:t></a:t>
            </a:r>
            <a:endParaRPr lang="zh-CN" altLang="en-US" sz="36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235963" y="1977281"/>
            <a:ext cx="26720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打怪升级啦！！</a:t>
            </a:r>
            <a:endParaRPr lang="zh-CN" altLang="en-US" sz="2800" b="1" dirty="0"/>
          </a:p>
        </p:txBody>
      </p:sp>
      <p:pic>
        <p:nvPicPr>
          <p:cNvPr id="85" name="图片 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036" y="462818"/>
            <a:ext cx="1150456" cy="12835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3750,&quot;width&quot;:6660}"/>
</p:tagLst>
</file>

<file path=ppt/tags/tag2.xml><?xml version="1.0" encoding="utf-8"?>
<p:tagLst xmlns:p="http://schemas.openxmlformats.org/presentationml/2006/main">
  <p:tag name="ISPRING_RESOURCE_PATHS_HASH_PRESENTER" val="76ce7ccbcda6cf12636bdb4ab607c4c83d474"/>
  <p:tag name="COMMONDATA" val="eyJoZGlkIjoiNzE1MTRiZGNmZGQyODMxZWY5ZTk1Nzk2OTA5ZmQ2YzIifQ==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1046</Words>
  <Application>WPS 演示</Application>
  <PresentationFormat>全屏显示(16:9)</PresentationFormat>
  <Paragraphs>169</Paragraphs>
  <Slides>14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宋体</vt:lpstr>
      <vt:lpstr>Wingdings</vt:lpstr>
      <vt:lpstr>HandelGotDLig</vt:lpstr>
      <vt:lpstr>汉真广标</vt:lpstr>
      <vt:lpstr>微软雅黑</vt:lpstr>
      <vt:lpstr>Impact</vt:lpstr>
      <vt:lpstr>Times New Roman</vt:lpstr>
      <vt:lpstr>Wingdings 2</vt:lpstr>
      <vt:lpstr>Segoe Print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爱德华·纽盖特</cp:lastModifiedBy>
  <cp:revision>442</cp:revision>
  <cp:lastPrinted>2000-12-31T21:09:00Z</cp:lastPrinted>
  <dcterms:created xsi:type="dcterms:W3CDTF">2015-11-10T12:01:00Z</dcterms:created>
  <dcterms:modified xsi:type="dcterms:W3CDTF">2022-10-04T02:57:23Z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7AEC674A11984E28B2E0DB1F9DCE01A0</vt:lpwstr>
  </property>
  <property fmtid="{D5CDD505-2E9C-101B-9397-08002B2CF9AE}" pid="3" name="KSOProductBuildVer">
    <vt:lpwstr>2052-11.1.0.12358</vt:lpwstr>
  </property>
</Properties>
</file>