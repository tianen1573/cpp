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503" r:id="rId2"/>
    <p:sldId id="562" r:id="rId3"/>
    <p:sldId id="564" r:id="rId4"/>
    <p:sldId id="563" r:id="rId5"/>
    <p:sldId id="565" r:id="rId6"/>
    <p:sldId id="570" r:id="rId7"/>
    <p:sldId id="567" r:id="rId8"/>
    <p:sldId id="576" r:id="rId9"/>
    <p:sldId id="568" r:id="rId10"/>
    <p:sldId id="577" r:id="rId11"/>
    <p:sldId id="569" r:id="rId12"/>
    <p:sldId id="574" r:id="rId13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07" autoAdjust="0"/>
    <p:restoredTop sz="94660"/>
  </p:normalViewPr>
  <p:slideViewPr>
    <p:cSldViewPr snapToGrid="0">
      <p:cViewPr varScale="1">
        <p:scale>
          <a:sx n="81" d="100"/>
          <a:sy n="81" d="100"/>
        </p:scale>
        <p:origin x="6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BA2E5-A277-45F1-88D6-F047EF39CD68}" type="datetimeFigureOut">
              <a:rPr lang="zh-CN" altLang="en-US" smtClean="0"/>
              <a:t>2023/7/1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BFCF1-5635-48C1-92D0-20050E04FBE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58B71-6B85-4762-A57A-F97752214A59}" type="datetimeFigureOut">
              <a:rPr lang="zh-CN" altLang="en-US" smtClean="0"/>
              <a:t>2023/7/1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D472E-8527-4DEA-B883-DF7DCB90801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58B71-6B85-4762-A57A-F97752214A59}" type="datetimeFigureOut">
              <a:rPr lang="zh-CN" altLang="en-US" smtClean="0"/>
              <a:t>2023/7/1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D472E-8527-4DEA-B883-DF7DCB90801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58B71-6B85-4762-A57A-F97752214A59}" type="datetimeFigureOut">
              <a:rPr lang="zh-CN" altLang="en-US" smtClean="0"/>
              <a:t>2023/7/1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D472E-8527-4DEA-B883-DF7DCB90801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58B71-6B85-4762-A57A-F97752214A59}" type="datetimeFigureOut">
              <a:rPr lang="zh-CN" altLang="en-US" smtClean="0"/>
              <a:t>2023/7/1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D472E-8527-4DEA-B883-DF7DCB90801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58B71-6B85-4762-A57A-F97752214A59}" type="datetimeFigureOut">
              <a:rPr lang="zh-CN" altLang="en-US" smtClean="0"/>
              <a:t>2023/7/1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D472E-8527-4DEA-B883-DF7DCB90801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58B71-6B85-4762-A57A-F97752214A59}" type="datetimeFigureOut">
              <a:rPr lang="zh-CN" altLang="en-US" smtClean="0"/>
              <a:t>2023/7/1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D472E-8527-4DEA-B883-DF7DCB90801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58B71-6B85-4762-A57A-F97752214A59}" type="datetimeFigureOut">
              <a:rPr lang="zh-CN" altLang="en-US" smtClean="0"/>
              <a:t>2023/7/1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D472E-8527-4DEA-B883-DF7DCB90801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58B71-6B85-4762-A57A-F97752214A59}" type="datetimeFigureOut">
              <a:rPr lang="zh-CN" altLang="en-US" smtClean="0"/>
              <a:t>2023/7/1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D472E-8527-4DEA-B883-DF7DCB90801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58B71-6B85-4762-A57A-F97752214A59}" type="datetimeFigureOut">
              <a:rPr lang="zh-CN" altLang="en-US" smtClean="0"/>
              <a:t>2023/7/1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D472E-8527-4DEA-B883-DF7DCB90801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58B71-6B85-4762-A57A-F97752214A59}" type="datetimeFigureOut">
              <a:rPr lang="zh-CN" altLang="en-US" smtClean="0"/>
              <a:t>2023/7/1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D472E-8527-4DEA-B883-DF7DCB90801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58B71-6B85-4762-A57A-F97752214A59}" type="datetimeFigureOut">
              <a:rPr lang="zh-CN" altLang="en-US" smtClean="0"/>
              <a:t>2023/7/1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D472E-8527-4DEA-B883-DF7DCB90801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58B71-6B85-4762-A57A-F97752214A59}" type="datetimeFigureOut">
              <a:rPr lang="zh-CN" altLang="en-US" smtClean="0"/>
              <a:t>2023/7/1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D472E-8527-4DEA-B883-DF7DCB90801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5871423" y="5015719"/>
            <a:ext cx="576064" cy="476611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1" name="矩形 10"/>
          <p:cNvSpPr/>
          <p:nvPr/>
        </p:nvSpPr>
        <p:spPr>
          <a:xfrm>
            <a:off x="7406804" y="5015719"/>
            <a:ext cx="576064" cy="50372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2" name="矩形 11"/>
          <p:cNvSpPr/>
          <p:nvPr/>
        </p:nvSpPr>
        <p:spPr>
          <a:xfrm>
            <a:off x="4221423" y="5015719"/>
            <a:ext cx="576064" cy="50372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3" name="矩形 14"/>
          <p:cNvSpPr/>
          <p:nvPr/>
        </p:nvSpPr>
        <p:spPr>
          <a:xfrm>
            <a:off x="7176" y="5091440"/>
            <a:ext cx="12192000" cy="176656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4" name="组合 13"/>
          <p:cNvGrpSpPr/>
          <p:nvPr/>
        </p:nvGrpSpPr>
        <p:grpSpPr>
          <a:xfrm>
            <a:off x="2927648" y="4666226"/>
            <a:ext cx="1594784" cy="1613734"/>
            <a:chOff x="2195736" y="3408895"/>
            <a:chExt cx="1196088" cy="1210301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23091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335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4662024" y="4666226"/>
            <a:ext cx="1388776" cy="1613734"/>
            <a:chOff x="3496518" y="3408895"/>
            <a:chExt cx="1041582" cy="1210301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23091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335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6291114" y="4666226"/>
            <a:ext cx="1284071" cy="1613734"/>
            <a:chOff x="4718335" y="3408895"/>
            <a:chExt cx="963053" cy="1210301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23091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335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7920203" y="4666226"/>
            <a:ext cx="1284071" cy="1613734"/>
            <a:chOff x="5940152" y="3408895"/>
            <a:chExt cx="963053" cy="1210301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121920" tIns="60960" rIns="121920" bIns="60960" numCol="1" anchor="t" anchorCtr="0" compatLnSpc="1">
                  <a:flatTx/>
                </a:bodyPr>
                <a:lstStyle/>
                <a:p>
                  <a:endParaRPr lang="zh-CN" altLang="en-US" sz="2400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121920" tIns="60960" rIns="121920" bIns="60960" numCol="1" anchor="t" anchorCtr="0" compatLnSpc="1">
                  <a:flatTx/>
                </a:bodyPr>
                <a:lstStyle/>
                <a:p>
                  <a:endParaRPr lang="zh-CN" altLang="en-US" sz="2400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121920" tIns="60960" rIns="121920" bIns="60960" numCol="1" anchor="t" anchorCtr="0" compatLnSpc="1">
                  <a:flatTx/>
                </a:bodyPr>
                <a:lstStyle/>
                <a:p>
                  <a:endParaRPr lang="zh-CN" altLang="en-US" sz="2400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23091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335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1300480" y="1412875"/>
            <a:ext cx="9716135" cy="960755"/>
          </a:xfrm>
          <a:prstGeom prst="rect">
            <a:avLst/>
          </a:prstGeom>
        </p:spPr>
        <p:txBody>
          <a:bodyPr vert="horz" lIns="91428" tIns="45713" rIns="91428" bIns="45713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PythonL1	                    </a:t>
            </a:r>
            <a:r>
              <a:rPr lang="en-US" altLang="zh-CN" sz="3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break</a:t>
            </a:r>
            <a:r>
              <a:rPr lang="zh-CN" altLang="zh-CN" sz="3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sz="3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continue</a:t>
            </a:r>
            <a:r>
              <a:rPr lang="zh-CN" altLang="zh-CN" sz="3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的使用</a:t>
            </a:r>
            <a:endParaRPr lang="en-US" altLang="zh-CN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1300612" y="2372883"/>
            <a:ext cx="1008396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040304" y="413180"/>
            <a:ext cx="5568619" cy="614045"/>
          </a:xfrm>
          <a:prstGeom prst="rect">
            <a:avLst/>
          </a:prstGeom>
          <a:noFill/>
          <a:ln>
            <a:noFill/>
          </a:ln>
        </p:spPr>
        <p:txBody>
          <a:bodyPr vert="horz" wrap="square" lIns="121920" tIns="60960" rIns="121920" bIns="60960" numCol="1" anchor="t" anchorCtr="0" compatLnSpc="1">
            <a:spAutoFit/>
          </a:bodyPr>
          <a:lstStyle/>
          <a:p>
            <a:r>
              <a:rPr lang="en-US" altLang="zh-CN" sz="32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break </a:t>
            </a:r>
            <a:r>
              <a:rPr lang="zh-CN" altLang="en-US" sz="32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关键字</a:t>
            </a:r>
          </a:p>
        </p:txBody>
      </p:sp>
      <p:sp>
        <p:nvSpPr>
          <p:cNvPr id="5" name="矩形 4"/>
          <p:cNvSpPr/>
          <p:nvPr/>
        </p:nvSpPr>
        <p:spPr>
          <a:xfrm>
            <a:off x="239350" y="637694"/>
            <a:ext cx="480053" cy="480053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sz="24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911424" y="1188424"/>
            <a:ext cx="1008396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473725" y="824531"/>
            <a:ext cx="408404" cy="4084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040130" y="1410335"/>
            <a:ext cx="9743440" cy="13709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>
              <a:lnSpc>
                <a:spcPct val="130000"/>
              </a:lnSpc>
            </a:pPr>
            <a:r>
              <a:rPr lang="zh-CN" sz="3200" b="1">
                <a:solidFill>
                  <a:srgbClr val="FF0000"/>
                </a:solidFill>
                <a:ea typeface="宋体" panose="02010600030101010101" pitchFamily="2" charset="-122"/>
              </a:rPr>
              <a:t>break</a:t>
            </a:r>
            <a:r>
              <a:rPr lang="en-US" altLang="zh-CN" sz="3200" b="1">
                <a:ea typeface="宋体" panose="02010600030101010101" pitchFamily="2" charset="-122"/>
              </a:rPr>
              <a:t>:</a:t>
            </a:r>
            <a:r>
              <a:rPr lang="zh-CN" sz="3200" b="1">
                <a:ea typeface="宋体" panose="02010600030101010101" pitchFamily="2" charset="-122"/>
              </a:rPr>
              <a:t>终止，中断</a:t>
            </a:r>
          </a:p>
          <a:p>
            <a:pPr indent="0">
              <a:lnSpc>
                <a:spcPct val="130000"/>
              </a:lnSpc>
            </a:pPr>
            <a:r>
              <a:rPr lang="zh-CN" sz="3200" b="1">
                <a:ea typeface="宋体" panose="02010600030101010101" pitchFamily="2" charset="-122"/>
              </a:rPr>
              <a:t>立马结束循环，然后执行循环外的代码。</a:t>
            </a:r>
            <a:endParaRPr lang="zh-CN" altLang="en-US" sz="3200" b="1"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/>
          <p:nvPr/>
        </p:nvPicPr>
        <p:blipFill>
          <a:blip r:embed="rId2"/>
          <a:srcRect l="20820" t="50436" r="20301" b="5878"/>
          <a:stretch>
            <a:fillRect/>
          </a:stretch>
        </p:blipFill>
        <p:spPr>
          <a:xfrm>
            <a:off x="1040130" y="3002915"/>
            <a:ext cx="6130290" cy="29121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7170420" y="4403090"/>
            <a:ext cx="27203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打破这个循环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040304" y="413180"/>
            <a:ext cx="5568619" cy="615553"/>
          </a:xfrm>
          <a:prstGeom prst="rect">
            <a:avLst/>
          </a:prstGeom>
          <a:noFill/>
          <a:ln>
            <a:noFill/>
          </a:ln>
        </p:spPr>
        <p:txBody>
          <a:bodyPr vert="horz" wrap="square" lIns="121920" tIns="60960" rIns="121920" bIns="60960" numCol="1" anchor="t" anchorCtr="0" compatLnSpc="1">
            <a:spAutoFit/>
          </a:bodyPr>
          <a:lstStyle/>
          <a:p>
            <a:r>
              <a:rPr lang="en-US" altLang="zh-CN" sz="32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break</a:t>
            </a:r>
            <a:endParaRPr lang="zh-CN" altLang="en-US" sz="32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39350" y="637694"/>
            <a:ext cx="480053" cy="480053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sz="24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911424" y="1188424"/>
            <a:ext cx="1008396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473725" y="824531"/>
            <a:ext cx="408404" cy="4084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34980" y="1188424"/>
            <a:ext cx="60960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800" kern="1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1.</a:t>
            </a:r>
            <a:r>
              <a:rPr lang="zh-CN" altLang="zh-CN" sz="2800" kern="100" dirty="0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发糖后</a:t>
            </a:r>
            <a:r>
              <a:rPr lang="en-US" altLang="zh-CN" sz="2800" kern="100" dirty="0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break</a:t>
            </a:r>
            <a:r>
              <a:rPr lang="zh-CN" altLang="zh-CN" sz="2800" kern="100" dirty="0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版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44" y="1702527"/>
            <a:ext cx="5924550" cy="3722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037" y="1702527"/>
            <a:ext cx="6143109" cy="381591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文本框 14"/>
          <p:cNvSpPr txBox="1"/>
          <p:nvPr/>
        </p:nvSpPr>
        <p:spPr>
          <a:xfrm>
            <a:off x="6545846" y="1188424"/>
            <a:ext cx="60960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+mj-lt"/>
              <a:buAutoNum type="arabicPeriod" startAt="2"/>
              <a:tabLst>
                <a:tab pos="198120" algn="l"/>
              </a:tabLst>
            </a:pPr>
            <a:r>
              <a:rPr lang="zh-CN" altLang="zh-CN" sz="2800" kern="100" dirty="0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发糖先</a:t>
            </a:r>
            <a:r>
              <a:rPr lang="en-US" altLang="zh-CN" sz="2800" kern="100" dirty="0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break</a:t>
            </a:r>
            <a:r>
              <a:rPr lang="zh-CN" altLang="zh-CN" sz="2800" kern="100" dirty="0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版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281737" y="5646031"/>
            <a:ext cx="6319836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+mj-lt"/>
              <a:buAutoNum type="arabicPeriod"/>
              <a:tabLst>
                <a:tab pos="198120" algn="l"/>
              </a:tabLst>
            </a:pPr>
            <a:r>
              <a:rPr lang="zh-CN" altLang="zh-CN" sz="2800" kern="100" dirty="0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这两个版本运行有什么区别？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6080202" y="5646031"/>
            <a:ext cx="6319836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kern="100" dirty="0"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lang="zh-CN" altLang="zh-CN" sz="2800" kern="100" dirty="0"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是什么原因导致这样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040304" y="413180"/>
            <a:ext cx="5568619" cy="615553"/>
          </a:xfrm>
          <a:prstGeom prst="rect">
            <a:avLst/>
          </a:prstGeom>
          <a:noFill/>
          <a:ln>
            <a:noFill/>
          </a:ln>
        </p:spPr>
        <p:txBody>
          <a:bodyPr vert="horz" wrap="square" lIns="121920" tIns="60960" rIns="121920" bIns="60960" numCol="1" anchor="t" anchorCtr="0" compatLnSpc="1">
            <a:spAutoFit/>
          </a:bodyPr>
          <a:lstStyle/>
          <a:p>
            <a:r>
              <a:rPr lang="en-US" altLang="zh-CN" sz="32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continue</a:t>
            </a:r>
            <a:endParaRPr lang="zh-CN" altLang="en-US" sz="32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39350" y="637694"/>
            <a:ext cx="480053" cy="480053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sz="24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911424" y="1188424"/>
            <a:ext cx="1008396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473725" y="824531"/>
            <a:ext cx="408404" cy="4084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636395" y="3656330"/>
            <a:ext cx="9168765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sz="3200" b="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continue</a:t>
            </a:r>
            <a:r>
              <a:rPr lang="en-US" sz="3200" b="0" i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r>
              <a:rPr lang="en-US" sz="3200" i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sz="3200" i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停顿后）继续</a:t>
            </a:r>
            <a:endParaRPr sz="3200" b="0" i="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atinLnBrk="1"/>
            <a:r>
              <a:rPr lang="zh-CN" sz="3200" b="0" i="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立马</a:t>
            </a:r>
            <a:r>
              <a:rPr sz="3200" b="0" i="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结束</a:t>
            </a:r>
            <a:r>
              <a:rPr lang="zh-CN" sz="3200" b="0" i="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当前这次</a:t>
            </a:r>
            <a:r>
              <a:rPr sz="3200" b="0" i="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循环，循环内</a:t>
            </a:r>
            <a:r>
              <a:rPr lang="zh-CN" sz="3200" b="0" i="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余下的</a:t>
            </a:r>
            <a:r>
              <a:rPr sz="3200" b="0" i="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语句会直接</a:t>
            </a:r>
            <a:r>
              <a:rPr lang="zh-CN" sz="3200" b="0" i="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被</a:t>
            </a:r>
            <a:r>
              <a:rPr sz="3200" b="0" i="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跳过，然后开始下次</a:t>
            </a:r>
            <a:r>
              <a:rPr lang="zh-CN" sz="3200" b="0" i="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3200" b="0" i="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循环。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2239010" y="1285240"/>
            <a:ext cx="6777990" cy="2155825"/>
            <a:chOff x="3526" y="2024"/>
            <a:chExt cx="10674" cy="3395"/>
          </a:xfrm>
        </p:grpSpPr>
        <p:pic>
          <p:nvPicPr>
            <p:cNvPr id="100" name="图片 99"/>
            <p:cNvPicPr/>
            <p:nvPr/>
          </p:nvPicPr>
          <p:blipFill>
            <a:blip r:embed="rId2"/>
            <a:srcRect t="15511" b="41087"/>
            <a:stretch>
              <a:fillRect/>
            </a:stretch>
          </p:blipFill>
          <p:spPr>
            <a:xfrm>
              <a:off x="3526" y="2024"/>
              <a:ext cx="10675" cy="310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下弧形箭头 2"/>
            <p:cNvSpPr/>
            <p:nvPr/>
          </p:nvSpPr>
          <p:spPr>
            <a:xfrm>
              <a:off x="8747" y="3583"/>
              <a:ext cx="3359" cy="1837"/>
            </a:xfrm>
            <a:prstGeom prst="curvedUp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040304" y="413180"/>
            <a:ext cx="5568619" cy="615553"/>
          </a:xfrm>
          <a:prstGeom prst="rect">
            <a:avLst/>
          </a:prstGeom>
          <a:noFill/>
          <a:ln>
            <a:noFill/>
          </a:ln>
        </p:spPr>
        <p:txBody>
          <a:bodyPr vert="horz" wrap="square" lIns="121920" tIns="60960" rIns="121920" bIns="60960" numCol="1" anchor="t" anchorCtr="0" compatLnSpc="1">
            <a:spAutoFit/>
          </a:bodyPr>
          <a:lstStyle/>
          <a:p>
            <a:r>
              <a:rPr lang="en-US" altLang="zh-CN" sz="32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continue</a:t>
            </a:r>
            <a:endParaRPr lang="zh-CN" altLang="en-US" sz="32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39350" y="637694"/>
            <a:ext cx="480053" cy="480053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sz="24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911424" y="1188424"/>
            <a:ext cx="1008396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473725" y="824531"/>
            <a:ext cx="408404" cy="4084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724" y="1315096"/>
            <a:ext cx="5715001" cy="3268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640" y="1306841"/>
            <a:ext cx="5396626" cy="357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9E4E452-9015-BB10-BC7A-B2CE544CE82B}"/>
              </a:ext>
            </a:extLst>
          </p:cNvPr>
          <p:cNvSpPr txBox="1"/>
          <p:nvPr/>
        </p:nvSpPr>
        <p:spPr>
          <a:xfrm>
            <a:off x="3391139" y="4983319"/>
            <a:ext cx="57150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在循环中，当</a:t>
            </a:r>
            <a:r>
              <a:rPr lang="en-US" altLang="zh-CN" sz="2800" dirty="0">
                <a:solidFill>
                  <a:srgbClr val="FF0000"/>
                </a:solidFill>
              </a:rPr>
              <a:t>continue</a:t>
            </a:r>
            <a:r>
              <a:rPr lang="zh-CN" altLang="en-US" sz="2800" dirty="0">
                <a:solidFill>
                  <a:srgbClr val="FF0000"/>
                </a:solidFill>
              </a:rPr>
              <a:t>被执行的时候，</a:t>
            </a:r>
            <a:r>
              <a:rPr lang="en-US" altLang="zh-CN" sz="2800" dirty="0">
                <a:solidFill>
                  <a:srgbClr val="FF0000"/>
                </a:solidFill>
              </a:rPr>
              <a:t>continue</a:t>
            </a:r>
            <a:r>
              <a:rPr lang="zh-CN" altLang="en-US" sz="2800" dirty="0">
                <a:solidFill>
                  <a:srgbClr val="FF0000"/>
                </a:solidFill>
              </a:rPr>
              <a:t>之后的代码将被跳过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040304" y="413180"/>
            <a:ext cx="5568619" cy="615553"/>
          </a:xfrm>
          <a:prstGeom prst="rect">
            <a:avLst/>
          </a:prstGeom>
          <a:noFill/>
          <a:ln>
            <a:noFill/>
          </a:ln>
        </p:spPr>
        <p:txBody>
          <a:bodyPr vert="horz" wrap="square" lIns="121920" tIns="60960" rIns="121920" bIns="60960" numCol="1" anchor="t" anchorCtr="0" compatLnSpc="1">
            <a:spAutoFit/>
          </a:bodyPr>
          <a:lstStyle/>
          <a:p>
            <a:r>
              <a:rPr lang="en-US" altLang="zh-CN" sz="32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continue</a:t>
            </a:r>
            <a:endParaRPr lang="zh-CN" altLang="en-US" sz="32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39350" y="637694"/>
            <a:ext cx="480053" cy="480053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sz="24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911424" y="1188424"/>
            <a:ext cx="1008396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473725" y="824531"/>
            <a:ext cx="408404" cy="4084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70" y="1415803"/>
            <a:ext cx="5532800" cy="3523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782" y="1415803"/>
            <a:ext cx="5760279" cy="33665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27156E4-00A2-C9D4-4F82-F9ED71B1BFDB}"/>
              </a:ext>
            </a:extLst>
          </p:cNvPr>
          <p:cNvSpPr txBox="1"/>
          <p:nvPr/>
        </p:nvSpPr>
        <p:spPr>
          <a:xfrm>
            <a:off x="238403" y="5237562"/>
            <a:ext cx="57150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因为</a:t>
            </a:r>
            <a:r>
              <a:rPr lang="en-US" altLang="zh-CN" sz="2800" dirty="0">
                <a:solidFill>
                  <a:srgbClr val="FF0000"/>
                </a:solidFill>
              </a:rPr>
              <a:t>a+=1</a:t>
            </a:r>
            <a:r>
              <a:rPr lang="zh-CN" altLang="en-US" sz="2800" dirty="0">
                <a:solidFill>
                  <a:srgbClr val="FF0000"/>
                </a:solidFill>
              </a:rPr>
              <a:t>被</a:t>
            </a:r>
            <a:r>
              <a:rPr lang="en-US" altLang="zh-CN" sz="2800" dirty="0">
                <a:solidFill>
                  <a:srgbClr val="FF0000"/>
                </a:solidFill>
              </a:rPr>
              <a:t>continue</a:t>
            </a:r>
            <a:r>
              <a:rPr lang="zh-CN" altLang="en-US" sz="2800" dirty="0">
                <a:solidFill>
                  <a:srgbClr val="FF0000"/>
                </a:solidFill>
              </a:rPr>
              <a:t>跳过了，</a:t>
            </a:r>
            <a:r>
              <a:rPr lang="en-US" altLang="zh-CN" sz="2800" dirty="0">
                <a:solidFill>
                  <a:srgbClr val="FF0000"/>
                </a:solidFill>
              </a:rPr>
              <a:t>a</a:t>
            </a:r>
            <a:r>
              <a:rPr lang="zh-CN" altLang="en-US" sz="2800" dirty="0">
                <a:solidFill>
                  <a:srgbClr val="FF0000"/>
                </a:solidFill>
              </a:rPr>
              <a:t>的数字永远都不会变，会进入死循环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4F1E495-5C67-7C2E-AC91-DE915ABCFAA6}"/>
              </a:ext>
            </a:extLst>
          </p:cNvPr>
          <p:cNvSpPr txBox="1"/>
          <p:nvPr/>
        </p:nvSpPr>
        <p:spPr>
          <a:xfrm>
            <a:off x="6096000" y="5237562"/>
            <a:ext cx="57150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continue</a:t>
            </a:r>
            <a:r>
              <a:rPr lang="zh-CN" altLang="en-US" sz="2800" dirty="0">
                <a:solidFill>
                  <a:srgbClr val="FF0000"/>
                </a:solidFill>
              </a:rPr>
              <a:t>没有跳过任何东西，所以此时的</a:t>
            </a:r>
            <a:r>
              <a:rPr lang="en-US" altLang="zh-CN" sz="2800" dirty="0">
                <a:solidFill>
                  <a:srgbClr val="FF0000"/>
                </a:solidFill>
              </a:rPr>
              <a:t>continue</a:t>
            </a:r>
            <a:r>
              <a:rPr lang="zh-CN" altLang="en-US" sz="2800" dirty="0">
                <a:solidFill>
                  <a:srgbClr val="FF0000"/>
                </a:solidFill>
              </a:rPr>
              <a:t>没有意义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040304" y="413180"/>
            <a:ext cx="5568619" cy="614045"/>
          </a:xfrm>
          <a:prstGeom prst="rect">
            <a:avLst/>
          </a:prstGeom>
          <a:noFill/>
          <a:ln>
            <a:noFill/>
          </a:ln>
        </p:spPr>
        <p:txBody>
          <a:bodyPr vert="horz" wrap="square" lIns="121920" tIns="60960" rIns="121920" bIns="60960" numCol="1" anchor="t" anchorCtr="0" compatLnSpc="1">
            <a:spAutoFit/>
          </a:bodyPr>
          <a:lstStyle/>
          <a:p>
            <a:r>
              <a:rPr lang="zh-CN" altLang="en-US" sz="32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练习</a:t>
            </a:r>
            <a:r>
              <a:rPr lang="en-US" altLang="zh-CN" sz="32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1</a:t>
            </a:r>
          </a:p>
        </p:txBody>
      </p:sp>
      <p:sp>
        <p:nvSpPr>
          <p:cNvPr id="5" name="矩形 4"/>
          <p:cNvSpPr/>
          <p:nvPr/>
        </p:nvSpPr>
        <p:spPr>
          <a:xfrm>
            <a:off x="239350" y="637694"/>
            <a:ext cx="480053" cy="480053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sz="24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911424" y="1188424"/>
            <a:ext cx="1008396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473725" y="824531"/>
            <a:ext cx="408404" cy="4084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3553" y="1240790"/>
            <a:ext cx="6096000" cy="4848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zh-CN" altLang="zh-CN" sz="2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小明一共有</a:t>
            </a:r>
            <a:r>
              <a:rPr lang="en-US" altLang="zh-CN" sz="2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zh-CN" sz="2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根香蕉，他想要把它们都吃完。</a:t>
            </a:r>
          </a:p>
          <a:p>
            <a:pPr algn="just">
              <a:lnSpc>
                <a:spcPct val="170000"/>
              </a:lnSpc>
            </a:pPr>
            <a:r>
              <a:rPr lang="zh-CN" altLang="zh-CN" sz="2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但是他在吃完第</a:t>
            </a:r>
            <a:r>
              <a:rPr lang="en-US" altLang="zh-CN" sz="2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zh-CN" sz="2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根时，就感觉自己吃不下香蕉了。</a:t>
            </a:r>
          </a:p>
          <a:p>
            <a:pPr algn="just">
              <a:lnSpc>
                <a:spcPct val="170000"/>
              </a:lnSpc>
            </a:pPr>
            <a:r>
              <a:rPr lang="zh-CN" altLang="zh-CN" sz="2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于是他就不吃香蕉，去看电视去了。</a:t>
            </a:r>
          </a:p>
          <a:p>
            <a:pPr algn="just">
              <a:lnSpc>
                <a:spcPct val="170000"/>
              </a:lnSpc>
            </a:pPr>
            <a:r>
              <a:rPr lang="zh-CN" altLang="zh-CN" sz="2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2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</a:t>
            </a:r>
            <a:r>
              <a:rPr lang="zh-CN" altLang="zh-CN" sz="2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break</a:t>
            </a:r>
            <a:r>
              <a:rPr lang="zh-CN" altLang="en-US" sz="2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</a:t>
            </a:r>
            <a:r>
              <a:rPr lang="zh-CN" altLang="zh-CN" sz="2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模拟这个场景。运行效果如图：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810" y="1466850"/>
            <a:ext cx="4850130" cy="4598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040304" y="413180"/>
            <a:ext cx="5568619" cy="614045"/>
          </a:xfrm>
          <a:prstGeom prst="rect">
            <a:avLst/>
          </a:prstGeom>
          <a:noFill/>
          <a:ln>
            <a:noFill/>
          </a:ln>
        </p:spPr>
        <p:txBody>
          <a:bodyPr vert="horz" wrap="square" lIns="121920" tIns="60960" rIns="121920" bIns="60960" numCol="1" anchor="t" anchorCtr="0" compatLnSpc="1">
            <a:spAutoFit/>
          </a:bodyPr>
          <a:lstStyle/>
          <a:p>
            <a:r>
              <a:rPr lang="zh-CN" altLang="en-US" sz="32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练习</a:t>
            </a:r>
            <a:r>
              <a:rPr lang="en-US" altLang="zh-CN" sz="32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1</a:t>
            </a:r>
            <a:r>
              <a:rPr lang="zh-CN" altLang="en-US" sz="32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答案</a:t>
            </a:r>
          </a:p>
        </p:txBody>
      </p:sp>
      <p:sp>
        <p:nvSpPr>
          <p:cNvPr id="5" name="矩形 4"/>
          <p:cNvSpPr/>
          <p:nvPr/>
        </p:nvSpPr>
        <p:spPr>
          <a:xfrm>
            <a:off x="239350" y="637694"/>
            <a:ext cx="480053" cy="480053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sz="24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911424" y="1188424"/>
            <a:ext cx="1008396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473725" y="824531"/>
            <a:ext cx="408404" cy="4084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9455" y="1558290"/>
            <a:ext cx="1057465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4000" b="1">
                <a:sym typeface="+mn-ea"/>
              </a:rPr>
              <a:t>a=1</a:t>
            </a:r>
            <a:endParaRPr lang="zh-CN" altLang="en-US" sz="4000" b="1"/>
          </a:p>
          <a:p>
            <a:r>
              <a:rPr lang="zh-CN" altLang="en-US" sz="4000" b="1">
                <a:sym typeface="+mn-ea"/>
              </a:rPr>
              <a:t>while a&lt;=10:</a:t>
            </a:r>
            <a:endParaRPr lang="zh-CN" altLang="en-US" sz="4000" b="1"/>
          </a:p>
          <a:p>
            <a:r>
              <a:rPr lang="zh-CN" altLang="en-US" sz="4000" b="1">
                <a:sym typeface="+mn-ea"/>
              </a:rPr>
              <a:t>    if a&gt;6:</a:t>
            </a:r>
            <a:endParaRPr lang="zh-CN" altLang="en-US" sz="4000" b="1"/>
          </a:p>
          <a:p>
            <a:r>
              <a:rPr lang="zh-CN" altLang="en-US" sz="4000" b="1">
                <a:sym typeface="+mn-ea"/>
              </a:rPr>
              <a:t>        print("小明吃饱了，去看电视了")</a:t>
            </a:r>
            <a:endParaRPr lang="zh-CN" altLang="en-US" sz="4000" b="1"/>
          </a:p>
          <a:p>
            <a:r>
              <a:rPr lang="zh-CN" altLang="en-US" sz="4000" b="1">
                <a:sym typeface="+mn-ea"/>
              </a:rPr>
              <a:t>        break</a:t>
            </a:r>
            <a:endParaRPr lang="zh-CN" altLang="en-US" sz="4000" b="1"/>
          </a:p>
          <a:p>
            <a:r>
              <a:rPr lang="zh-CN" altLang="en-US" sz="4000" b="1">
                <a:sym typeface="+mn-ea"/>
              </a:rPr>
              <a:t>    print("小明吃下第" + str(a) + "根香蕉")</a:t>
            </a:r>
            <a:endParaRPr lang="zh-CN" altLang="en-US" sz="4000" b="1"/>
          </a:p>
          <a:p>
            <a:r>
              <a:rPr lang="zh-CN" altLang="en-US" sz="4000" b="1">
                <a:sym typeface="+mn-ea"/>
              </a:rPr>
              <a:t>    a=a+1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953778" y="502829"/>
            <a:ext cx="5568619" cy="614045"/>
          </a:xfrm>
          <a:prstGeom prst="rect">
            <a:avLst/>
          </a:prstGeom>
          <a:noFill/>
          <a:ln>
            <a:noFill/>
          </a:ln>
        </p:spPr>
        <p:txBody>
          <a:bodyPr vert="horz" wrap="square" lIns="121920" tIns="60960" rIns="121920" bIns="60960" numCol="1" anchor="t" anchorCtr="0" compatLnSpc="1">
            <a:spAutoFit/>
          </a:bodyPr>
          <a:lstStyle/>
          <a:p>
            <a:r>
              <a:rPr lang="zh-CN" altLang="en-US" sz="32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练习</a:t>
            </a:r>
            <a:r>
              <a:rPr lang="en-US" altLang="zh-CN" sz="32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2</a:t>
            </a:r>
          </a:p>
        </p:txBody>
      </p:sp>
      <p:sp>
        <p:nvSpPr>
          <p:cNvPr id="5" name="矩形 4"/>
          <p:cNvSpPr/>
          <p:nvPr/>
        </p:nvSpPr>
        <p:spPr>
          <a:xfrm>
            <a:off x="239350" y="637694"/>
            <a:ext cx="480053" cy="480053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sz="24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911424" y="1188424"/>
            <a:ext cx="1008396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473725" y="824531"/>
            <a:ext cx="408404" cy="4084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89255" y="1442085"/>
            <a:ext cx="5376545" cy="429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小王觉得自己长的有点矮，所以他决定这个星期每天早上都要喝一瓶牛奶。</a:t>
            </a:r>
          </a:p>
          <a:p>
            <a:pPr algn="just">
              <a:lnSpc>
                <a:spcPct val="150000"/>
              </a:lnSpc>
            </a:pPr>
            <a:r>
              <a:rPr lang="zh-CN" altLang="zh-CN" sz="2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但是他在星期三和星期六忘了喝牛奶了</a:t>
            </a:r>
            <a:r>
              <a:rPr lang="en-US" altLang="zh-CN" sz="2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zh-CN" sz="2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星期日用星期</a:t>
            </a:r>
            <a:r>
              <a:rPr lang="en-US" altLang="zh-CN" sz="2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zh-CN" altLang="zh-CN" sz="2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替代</a:t>
            </a:r>
            <a:r>
              <a:rPr lang="en-US" altLang="zh-CN" sz="2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altLang="en-US" sz="2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zh-CN" sz="2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2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2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</a:t>
            </a:r>
            <a:r>
              <a:rPr lang="zh-CN" altLang="zh-CN" sz="2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continue</a:t>
            </a:r>
            <a:r>
              <a:rPr lang="zh-CN" altLang="zh-CN" sz="2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</a:t>
            </a:r>
            <a:r>
              <a:rPr lang="zh-CN" altLang="zh-CN" sz="2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模拟这个场景。运行效果如图：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580" y="1928495"/>
            <a:ext cx="5200650" cy="330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69595" y="118745"/>
            <a:ext cx="11411585" cy="60007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4800" b="1"/>
              <a:t>a=0</a:t>
            </a:r>
          </a:p>
          <a:p>
            <a:r>
              <a:rPr lang="zh-CN" altLang="en-US" sz="4800" b="1"/>
              <a:t>while a&lt;7:</a:t>
            </a:r>
          </a:p>
          <a:p>
            <a:r>
              <a:rPr lang="zh-CN" altLang="en-US" sz="4800" b="1"/>
              <a:t>    a = a + 1</a:t>
            </a:r>
          </a:p>
          <a:p>
            <a:r>
              <a:rPr lang="zh-CN" altLang="en-US" sz="4800" b="1"/>
              <a:t>    if a==3:</a:t>
            </a:r>
          </a:p>
          <a:p>
            <a:r>
              <a:rPr lang="zh-CN" altLang="en-US" sz="4800" b="1"/>
              <a:t>        continue</a:t>
            </a:r>
          </a:p>
          <a:p>
            <a:r>
              <a:rPr lang="zh-CN" altLang="en-US" sz="4800" b="1"/>
              <a:t>    if a==6:</a:t>
            </a:r>
          </a:p>
          <a:p>
            <a:r>
              <a:rPr lang="zh-CN" altLang="en-US" sz="4800" b="1"/>
              <a:t>        continue</a:t>
            </a:r>
          </a:p>
          <a:p>
            <a:r>
              <a:rPr lang="zh-CN" altLang="en-US" sz="4800" b="1"/>
              <a:t>    print("小王喝了一瓶奶，在星期", a)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957119" y="493825"/>
            <a:ext cx="5568619" cy="614045"/>
          </a:xfrm>
          <a:prstGeom prst="rect">
            <a:avLst/>
          </a:prstGeom>
          <a:noFill/>
          <a:ln>
            <a:noFill/>
          </a:ln>
        </p:spPr>
        <p:txBody>
          <a:bodyPr vert="horz" wrap="square" lIns="121920" tIns="60960" rIns="121920" bIns="60960" numCol="1" anchor="t" anchorCtr="0" compatLnSpc="1">
            <a:spAutoFit/>
          </a:bodyPr>
          <a:lstStyle/>
          <a:p>
            <a:r>
              <a:rPr lang="zh-CN" altLang="en-US" sz="32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练习</a:t>
            </a:r>
            <a:r>
              <a:rPr lang="en-US" altLang="zh-CN" sz="32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3</a:t>
            </a:r>
          </a:p>
        </p:txBody>
      </p:sp>
      <p:sp>
        <p:nvSpPr>
          <p:cNvPr id="5" name="矩形 4"/>
          <p:cNvSpPr/>
          <p:nvPr/>
        </p:nvSpPr>
        <p:spPr>
          <a:xfrm>
            <a:off x="239350" y="637694"/>
            <a:ext cx="480053" cy="480053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sz="24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911424" y="1188424"/>
            <a:ext cx="1008396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473725" y="824531"/>
            <a:ext cx="408404" cy="4084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95255" y="1310458"/>
            <a:ext cx="6096000" cy="5515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zh-CN" altLang="zh-CN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小明和小王约定了这个月从</a:t>
            </a:r>
            <a:r>
              <a:rPr lang="en-US" altLang="zh-CN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zh-CN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号开始放学都去公园打乒乓球。</a:t>
            </a:r>
          </a:p>
          <a:p>
            <a:pPr algn="just">
              <a:lnSpc>
                <a:spcPct val="140000"/>
              </a:lnSpc>
            </a:pPr>
            <a:r>
              <a:rPr lang="zh-CN" altLang="zh-CN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但小明在</a:t>
            </a:r>
            <a:r>
              <a:rPr lang="en-US" altLang="zh-CN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15</a:t>
            </a:r>
            <a:r>
              <a:rPr lang="zh-CN" altLang="zh-CN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号，</a:t>
            </a:r>
            <a:r>
              <a:rPr lang="en-US" altLang="zh-CN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18</a:t>
            </a:r>
            <a:r>
              <a:rPr lang="zh-CN" altLang="zh-CN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号，</a:t>
            </a:r>
            <a:r>
              <a:rPr lang="en-US" altLang="zh-CN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</a:t>
            </a:r>
            <a:r>
              <a:rPr lang="zh-CN" altLang="zh-CN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号这三天和家人出去玩了，没有赴约。</a:t>
            </a:r>
          </a:p>
          <a:p>
            <a:pPr algn="just">
              <a:lnSpc>
                <a:spcPct val="140000"/>
              </a:lnSpc>
            </a:pPr>
            <a:r>
              <a:rPr lang="zh-CN" altLang="zh-CN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而小王则在</a:t>
            </a:r>
            <a:r>
              <a:rPr lang="en-US" altLang="zh-CN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25</a:t>
            </a:r>
            <a:r>
              <a:rPr lang="zh-CN" altLang="zh-CN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号后要请假</a:t>
            </a:r>
            <a:r>
              <a:rPr lang="en-US" altLang="zh-CN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zh-CN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天参加乒乓球少年组比赛，也没法赴约了。</a:t>
            </a:r>
          </a:p>
          <a:p>
            <a:pPr algn="just">
              <a:lnSpc>
                <a:spcPct val="140000"/>
              </a:lnSpc>
            </a:pPr>
            <a:r>
              <a:rPr lang="zh-CN" altLang="zh-CN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</a:t>
            </a:r>
            <a:r>
              <a:rPr lang="zh-CN" altLang="zh-CN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break</a:t>
            </a:r>
            <a:r>
              <a:rPr lang="zh-CN" altLang="zh-CN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continue</a:t>
            </a:r>
            <a:r>
              <a:rPr lang="zh-CN" altLang="zh-CN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</a:t>
            </a:r>
            <a:r>
              <a:rPr lang="zh-CN" altLang="zh-CN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模拟这个场景。（这个月</a:t>
            </a:r>
            <a:r>
              <a:rPr lang="en-US" altLang="zh-CN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</a:t>
            </a:r>
            <a:r>
              <a:rPr lang="zh-CN" altLang="zh-CN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天）运行效果如下图：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797" y="1227908"/>
            <a:ext cx="4973693" cy="5528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50595" y="1151890"/>
            <a:ext cx="609600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a=10</a:t>
            </a:r>
          </a:p>
          <a:p>
            <a:r>
              <a:rPr lang="zh-CN" altLang="en-US"/>
              <a:t>while a&lt;=30:</a:t>
            </a:r>
          </a:p>
          <a:p>
            <a:r>
              <a:rPr lang="zh-CN" altLang="en-US"/>
              <a:t>    if a==26:</a:t>
            </a:r>
          </a:p>
          <a:p>
            <a:r>
              <a:rPr lang="zh-CN" altLang="en-US"/>
              <a:t>        print("六月26到30号，小王去参加乒乓球少年杯")</a:t>
            </a:r>
          </a:p>
          <a:p>
            <a:r>
              <a:rPr lang="zh-CN" altLang="en-US"/>
              <a:t>        break</a:t>
            </a:r>
          </a:p>
          <a:p>
            <a:r>
              <a:rPr lang="zh-CN" altLang="en-US"/>
              <a:t>    print("六月" + str(a) + "号，小明和小王在公园打乒乓球")</a:t>
            </a:r>
          </a:p>
          <a:p>
            <a:r>
              <a:rPr lang="zh-CN" altLang="en-US"/>
              <a:t>    a = a + 1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zY5YWI1ZDNiOGViNGU3MzdkZDM0NjM2MDkyNDlhYTgifQ=="/>
  <p:tag name="KSO_WPP_MARK_KEY" val="f7e6a017-5dc6-479d-a84e-3df0451799b7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510</Words>
  <Application>Microsoft Office PowerPoint</Application>
  <PresentationFormat>宽屏</PresentationFormat>
  <Paragraphs>56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HandelGotDLig</vt:lpstr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黄 爱瑜</dc:creator>
  <cp:lastModifiedBy>hp</cp:lastModifiedBy>
  <cp:revision>80</cp:revision>
  <dcterms:created xsi:type="dcterms:W3CDTF">2022-07-12T02:47:00Z</dcterms:created>
  <dcterms:modified xsi:type="dcterms:W3CDTF">2023-07-01T06:25:24Z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E9F52540A86548D589629A4DC2B4A75B</vt:lpwstr>
  </property>
  <property fmtid="{D5CDD505-2E9C-101B-9397-08002B2CF9AE}" pid="3" name="KSOProductBuildVer">
    <vt:lpwstr>2052-11.1.0.13703</vt:lpwstr>
  </property>
</Properties>
</file>