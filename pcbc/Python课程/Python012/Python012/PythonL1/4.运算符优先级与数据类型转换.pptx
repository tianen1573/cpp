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528" r:id="rId2"/>
    <p:sldId id="515" r:id="rId3"/>
    <p:sldId id="508" r:id="rId4"/>
    <p:sldId id="516" r:id="rId5"/>
    <p:sldId id="517" r:id="rId6"/>
    <p:sldId id="518" r:id="rId7"/>
    <p:sldId id="519" r:id="rId8"/>
    <p:sldId id="520" r:id="rId9"/>
    <p:sldId id="521" r:id="rId10"/>
    <p:sldId id="522" r:id="rId11"/>
    <p:sldId id="523" r:id="rId12"/>
    <p:sldId id="524" r:id="rId13"/>
    <p:sldId id="510" r:id="rId14"/>
    <p:sldId id="525" r:id="rId15"/>
    <p:sldId id="527" r:id="rId16"/>
  </p:sldIdLst>
  <p:sldSz cx="9144000" cy="5143500" type="screen16x9"/>
  <p:notesSz cx="6797675" cy="9925050"/>
  <p:custDataLst>
    <p:tags r:id="rId18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59">
          <p15:clr>
            <a:srgbClr val="A4A3A4"/>
          </p15:clr>
        </p15:guide>
        <p15:guide id="2" pos="28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FBFBF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59"/>
        <p:guide pos="28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  <a:t>2023/5/6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87524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运算符优先级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运算符优先级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83260" y="982980"/>
          <a:ext cx="5109210" cy="3398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56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2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8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运算符</a:t>
                      </a:r>
                      <a:endParaRPr lang="en-US" altLang="en-US" sz="1400" b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" marR="22859" marT="22859" marB="2285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F3F3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描述</a:t>
                      </a:r>
                      <a:endParaRPr lang="en-US" altLang="en-US" sz="1400" b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2859" marR="22859" marT="22859" marB="2285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**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幂 (指数) </a:t>
                      </a:r>
                      <a:r>
                        <a:rPr lang="en-US" sz="1400" b="1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最高优先级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算数运算符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*   /   %   //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乘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</a:t>
                      </a: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除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、取</a:t>
                      </a: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余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、整除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  -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加法减法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DEA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&lt;  &gt;  =  &lt;=  &gt;=  ==  !=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比较运算符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   not in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成员运算符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= %= /= //= -= += *= **=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赋值运算符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81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not  and  or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400" b="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逻辑运算符</a:t>
                      </a:r>
                      <a:endParaRPr lang="en-US" altLang="en-US" sz="14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8100" marR="38100" marT="53339" marB="53339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755650" y="4624705"/>
            <a:ext cx="5720715" cy="2755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1200" b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868035" y="982980"/>
            <a:ext cx="28733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所有运算符的优先级排名，</a:t>
            </a:r>
          </a:p>
          <a:p>
            <a:r>
              <a:rPr lang="zh-CN" altLang="en-US" sz="1600" dirty="0"/>
              <a:t>从上往下依次变低。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61670" y="4443730"/>
            <a:ext cx="5080000" cy="30670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zh-CN" b="1">
                <a:ea typeface="宋体" panose="02010600030101010101" pitchFamily="2" charset="-122"/>
              </a:rPr>
              <a:t>ps.逻辑运算符三者的优先级也有先后之分：not &gt; and &gt; or</a:t>
            </a:r>
            <a:endParaRPr lang="zh-CN" altLang="en-US" b="1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07315" y="51435"/>
            <a:ext cx="8626475" cy="4708533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优先级练习：</a:t>
            </a:r>
            <a:endParaRPr lang="zh-CN" sz="2000" b="0" dirty="0">
              <a:solidFill>
                <a:srgbClr val="444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1）</a:t>
            </a:r>
            <a:r>
              <a:rPr lang="en-US" sz="1800" b="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3//1 &gt; 1 or 3 &lt; 4 or 4 &gt; 5 and 2 &gt; 1 and 9 &gt; 8 or 7 &lt; 6*1.1</a:t>
            </a:r>
            <a:endParaRPr lang="zh-CN" sz="1800" b="0" dirty="0">
              <a:solidFill>
                <a:srgbClr val="444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algn="l">
              <a:lnSpc>
                <a:spcPct val="2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sz="18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sz="1800" b="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not 2+5 &gt; 1 and 3 &lt; 4 or 4 &gt; 5 and 2 &gt; 1 and 9 &gt; 8 or 7 &lt; 60//11</a:t>
            </a:r>
          </a:p>
          <a:p>
            <a:pPr>
              <a:lnSpc>
                <a:spcPct val="240000"/>
              </a:lnSpc>
            </a:pPr>
            <a:r>
              <a:rPr lang="en-US" sz="1800" b="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sz="18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sz="1800" b="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 </a:t>
            </a:r>
            <a:r>
              <a:rPr lang="en-US" sz="18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='a'*2 in '</a:t>
            </a:r>
            <a:r>
              <a:rPr lang="en-US" sz="1800" dirty="0" err="1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abac</a:t>
            </a:r>
            <a:r>
              <a:rPr lang="en-US" sz="18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’ </a:t>
            </a:r>
            <a:endParaRPr lang="en-US" sz="1800" b="0" dirty="0">
              <a:solidFill>
                <a:srgbClr val="444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240000"/>
              </a:lnSpc>
            </a:pPr>
            <a:r>
              <a:rPr lang="en-US" sz="1800" b="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print(a)</a:t>
            </a:r>
          </a:p>
          <a:p>
            <a:pPr>
              <a:lnSpc>
                <a:spcPct val="240000"/>
              </a:lnSpc>
            </a:pPr>
            <a:r>
              <a:rPr lang="en-US" sz="1800" b="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sz="18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sz="18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85%10 != 5 or '1'not in '123' and not 5 != False </a:t>
            </a:r>
            <a:endParaRPr lang="en-US" sz="1800" b="0" dirty="0">
              <a:solidFill>
                <a:srgbClr val="44444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240000"/>
              </a:lnSpc>
            </a:pPr>
            <a:r>
              <a:rPr lang="en-US" altLang="zh-CN" sz="18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5</a:t>
            </a:r>
            <a:r>
              <a:rPr lang="zh-CN" sz="18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sz="1800" dirty="0">
                <a:solidFill>
                  <a:srgbClr val="4444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'5' in '151' and not 0 and 1!=1**5 or not 5&gt;=2**2 or 5//1&lt;1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CDC322A-F7FC-8E65-04B9-E8CFAC7F1815}"/>
              </a:ext>
            </a:extLst>
          </p:cNvPr>
          <p:cNvSpPr txBox="1"/>
          <p:nvPr/>
        </p:nvSpPr>
        <p:spPr>
          <a:xfrm>
            <a:off x="6948264" y="105029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True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739227-BF4C-AA77-3020-AB9D2A31B63B}"/>
              </a:ext>
            </a:extLst>
          </p:cNvPr>
          <p:cNvSpPr txBox="1"/>
          <p:nvPr/>
        </p:nvSpPr>
        <p:spPr>
          <a:xfrm>
            <a:off x="7668344" y="170765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5120EF-9CDE-5E9D-D1DF-46114900752D}"/>
              </a:ext>
            </a:extLst>
          </p:cNvPr>
          <p:cNvSpPr txBox="1"/>
          <p:nvPr/>
        </p:nvSpPr>
        <p:spPr>
          <a:xfrm>
            <a:off x="2843808" y="285978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EB66B1D-31BD-3E12-22CD-4406A5B7C60C}"/>
              </a:ext>
            </a:extLst>
          </p:cNvPr>
          <p:cNvSpPr txBox="1"/>
          <p:nvPr/>
        </p:nvSpPr>
        <p:spPr>
          <a:xfrm>
            <a:off x="6660232" y="3703621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2736638-AB03-17D5-1C66-48B1389925E2}"/>
              </a:ext>
            </a:extLst>
          </p:cNvPr>
          <p:cNvSpPr txBox="1"/>
          <p:nvPr/>
        </p:nvSpPr>
        <p:spPr>
          <a:xfrm>
            <a:off x="7668344" y="4349986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False</a:t>
            </a:r>
            <a:endParaRPr lang="zh-CN" altLang="en-US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数据类型转换</a:t>
            </a: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pPr algn="l">
              <a:buClrTx/>
              <a:buSzTx/>
              <a:buFontTx/>
            </a:pPr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403"/>
    </mc:Choice>
    <mc:Fallback xmlns=""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Python</a:t>
            </a:r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数据类型</a:t>
            </a:r>
            <a:endParaRPr lang="en-US" alt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683260" y="1141095"/>
            <a:ext cx="788035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000" b="0" dirty="0">
                <a:ea typeface="宋体" panose="02010600030101010101" pitchFamily="2" charset="-122"/>
              </a:rPr>
              <a:t>在编程中，数据类型是一个重要的概念。</a:t>
            </a:r>
          </a:p>
          <a:p>
            <a:pPr indent="0"/>
            <a:r>
              <a:rPr lang="zh-CN" sz="2000" b="0" dirty="0">
                <a:ea typeface="宋体" panose="02010600030101010101" pitchFamily="2" charset="-122"/>
              </a:rPr>
              <a:t>变量可以存储不同类型的数据</a:t>
            </a:r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(</a:t>
            </a:r>
            <a:r>
              <a:rPr lang="zh-CN" sz="2000" b="0" dirty="0">
                <a:ea typeface="宋体" panose="02010600030101010101" pitchFamily="2" charset="-122"/>
              </a:rPr>
              <a:t>值</a:t>
            </a:r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)</a:t>
            </a:r>
            <a:r>
              <a:rPr lang="zh-CN" sz="2000" b="0" dirty="0">
                <a:ea typeface="宋体" panose="02010600030101010101" pitchFamily="2" charset="-122"/>
              </a:rPr>
              <a:t>，不同类型的数据可以执行不同的操作。</a:t>
            </a:r>
          </a:p>
          <a:p>
            <a:pPr indent="0"/>
            <a:r>
              <a:rPr lang="zh-CN" sz="2000" b="0" dirty="0">
                <a:ea typeface="宋体" panose="02010600030101010101" pitchFamily="2" charset="-122"/>
              </a:rPr>
              <a:t>我们之前学过的数据类型有</a:t>
            </a:r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:</a:t>
            </a:r>
            <a:endParaRPr lang="zh-CN" sz="2000" b="0" dirty="0">
              <a:ea typeface="宋体" panose="02010600030101010101" pitchFamily="2" charset="-122"/>
            </a:endParaRPr>
          </a:p>
          <a:p>
            <a:pPr indent="0"/>
            <a:r>
              <a:rPr lang="zh-CN" sz="2000" b="0" dirty="0">
                <a:ea typeface="宋体" panose="02010600030101010101" pitchFamily="2" charset="-122"/>
              </a:rPr>
              <a:t>字符串</a:t>
            </a:r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: str</a:t>
            </a:r>
            <a:endParaRPr lang="zh-CN" sz="2000" b="0" dirty="0">
              <a:ea typeface="宋体" panose="02010600030101010101" pitchFamily="2" charset="-122"/>
            </a:endParaRPr>
          </a:p>
          <a:p>
            <a:pPr indent="0"/>
            <a:r>
              <a:rPr lang="zh-CN" sz="2000" b="0" dirty="0">
                <a:ea typeface="宋体" panose="02010600030101010101" pitchFamily="2" charset="-122"/>
              </a:rPr>
              <a:t>整数</a:t>
            </a:r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:int</a:t>
            </a:r>
            <a:endParaRPr lang="zh-CN" sz="2000" b="0" dirty="0">
              <a:ea typeface="宋体" panose="02010600030101010101" pitchFamily="2" charset="-122"/>
            </a:endParaRPr>
          </a:p>
          <a:p>
            <a:pPr indent="0"/>
            <a:r>
              <a:rPr lang="zh-CN" sz="2000" b="0" dirty="0">
                <a:ea typeface="宋体" panose="02010600030101010101" pitchFamily="2" charset="-122"/>
              </a:rPr>
              <a:t>浮点数</a:t>
            </a:r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:float</a:t>
            </a:r>
            <a:endParaRPr lang="zh-CN" sz="2000" b="0" dirty="0">
              <a:ea typeface="宋体" panose="02010600030101010101" pitchFamily="2" charset="-122"/>
            </a:endParaRPr>
          </a:p>
          <a:p>
            <a:pPr indent="0"/>
            <a:r>
              <a:rPr lang="zh-CN" sz="2000" b="0" dirty="0">
                <a:ea typeface="宋体" panose="02010600030101010101" pitchFamily="2" charset="-122"/>
              </a:rPr>
              <a:t>布尔值</a:t>
            </a:r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(</a:t>
            </a:r>
            <a:r>
              <a:rPr lang="en-US" sz="2000" b="0" dirty="0" err="1">
                <a:latin typeface="微软雅黑" panose="020B0503020204020204" pitchFamily="34" charset="-122"/>
                <a:ea typeface="宋体" panose="02010600030101010101" pitchFamily="2" charset="-122"/>
              </a:rPr>
              <a:t>True,False</a:t>
            </a:r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):bool</a:t>
            </a:r>
            <a:endParaRPr lang="zh-CN" sz="2000" b="0" dirty="0">
              <a:ea typeface="宋体" panose="02010600030101010101" pitchFamily="2" charset="-122"/>
            </a:endParaRPr>
          </a:p>
          <a:p>
            <a:pPr indent="0"/>
            <a:r>
              <a:rPr lang="zh-CN" sz="2000" b="0" dirty="0">
                <a:ea typeface="宋体" panose="02010600030101010101" pitchFamily="2" charset="-122"/>
              </a:rPr>
              <a:t>它们之间可以通过</a:t>
            </a:r>
            <a:r>
              <a:rPr lang="zh-CN" sz="2000" b="1" dirty="0">
                <a:solidFill>
                  <a:srgbClr val="FF0000"/>
                </a:solidFill>
                <a:ea typeface="宋体" panose="02010600030101010101" pitchFamily="2" charset="-122"/>
              </a:rPr>
              <a:t>数据类型转换函数</a:t>
            </a:r>
            <a:r>
              <a:rPr lang="zh-CN" sz="2000" b="0" dirty="0">
                <a:ea typeface="宋体" panose="02010600030101010101" pitchFamily="2" charset="-122"/>
              </a:rPr>
              <a:t>进行转换。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type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函数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1670" y="924560"/>
            <a:ext cx="71247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1800" b="0" dirty="0">
                <a:ea typeface="宋体" panose="02010600030101010101" pitchFamily="2" charset="-122"/>
              </a:rPr>
              <a:t>首先要先学习如何去使用</a:t>
            </a:r>
            <a:r>
              <a:rPr lang="en-US" sz="1800" b="0" dirty="0">
                <a:solidFill>
                  <a:srgbClr val="FF0000"/>
                </a:solidFill>
                <a:latin typeface="微软雅黑" panose="020B0503020204020204" pitchFamily="34" charset="-122"/>
                <a:ea typeface="宋体" panose="02010600030101010101" pitchFamily="2" charset="-122"/>
              </a:rPr>
              <a:t>type()</a:t>
            </a:r>
            <a:r>
              <a:rPr lang="zh-CN" sz="1800" b="0" dirty="0">
                <a:solidFill>
                  <a:srgbClr val="FF0000"/>
                </a:solidFill>
                <a:ea typeface="宋体" panose="02010600030101010101" pitchFamily="2" charset="-122"/>
              </a:rPr>
              <a:t>函数</a:t>
            </a:r>
            <a:r>
              <a:rPr lang="zh-CN" sz="1800" b="0" dirty="0">
                <a:ea typeface="宋体" panose="02010600030101010101" pitchFamily="2" charset="-122"/>
              </a:rPr>
              <a:t>分辨数据类型</a:t>
            </a:r>
            <a:endParaRPr lang="zh-CN" altLang="en-US" sz="1800" dirty="0"/>
          </a:p>
        </p:txBody>
      </p:sp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755650" y="1347470"/>
            <a:ext cx="3544570" cy="313245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661670" y="4156075"/>
            <a:ext cx="6704965" cy="7683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endParaRPr lang="en-US" b="0">
              <a:latin typeface="Calibri" panose="020F05020202040302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b="0">
                <a:latin typeface="Calibri" panose="020F05020202040302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lang="zh-CN" sz="1600" b="0">
              <a:ea typeface="宋体" panose="02010600030101010101" pitchFamily="2" charset="-122"/>
            </a:endParaRPr>
          </a:p>
          <a:p>
            <a:pPr indent="0"/>
            <a:r>
              <a:rPr lang="zh-CN" sz="1600" b="0">
                <a:ea typeface="宋体" panose="02010600030101010101" pitchFamily="2" charset="-122"/>
              </a:rPr>
              <a:t>利用内置函数</a:t>
            </a:r>
            <a:r>
              <a:rPr lang="en-US" sz="1600" b="0">
                <a:latin typeface="微软雅黑" panose="020B0503020204020204" pitchFamily="34" charset="-122"/>
                <a:ea typeface="宋体" panose="02010600030101010101" pitchFamily="2" charset="-122"/>
              </a:rPr>
              <a:t>type()</a:t>
            </a:r>
            <a:r>
              <a:rPr lang="zh-CN" sz="1600" b="0">
                <a:ea typeface="宋体" panose="02010600030101010101" pitchFamily="2" charset="-122"/>
              </a:rPr>
              <a:t>查看</a:t>
            </a:r>
            <a:r>
              <a:rPr lang="en-US" sz="1600" b="0">
                <a:latin typeface="微软雅黑" panose="020B0503020204020204" pitchFamily="34" charset="-122"/>
                <a:ea typeface="宋体" panose="02010600030101010101" pitchFamily="2" charset="-122"/>
              </a:rPr>
              <a:t>a</a:t>
            </a:r>
            <a:r>
              <a:rPr lang="zh-CN" sz="1600" b="0">
                <a:ea typeface="宋体" panose="02010600030101010101" pitchFamily="2" charset="-122"/>
              </a:rPr>
              <a:t>、</a:t>
            </a:r>
            <a:r>
              <a:rPr lang="en-US" sz="1600" b="0">
                <a:latin typeface="微软雅黑" panose="020B0503020204020204" pitchFamily="34" charset="-122"/>
                <a:ea typeface="宋体" panose="02010600030101010101" pitchFamily="2" charset="-122"/>
              </a:rPr>
              <a:t>b</a:t>
            </a:r>
            <a:r>
              <a:rPr lang="zh-CN" sz="1600" b="0">
                <a:ea typeface="宋体" panose="02010600030101010101" pitchFamily="2" charset="-122"/>
              </a:rPr>
              <a:t>、c、d四个变量储存的值的数值类型。</a:t>
            </a:r>
            <a:endParaRPr lang="zh-CN" altLang="en-US" sz="1600" b="0"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076190" y="1851660"/>
            <a:ext cx="3094355" cy="16300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000" b="0" dirty="0">
                <a:ea typeface="宋体" panose="02010600030101010101" pitchFamily="2" charset="-122"/>
              </a:rPr>
              <a:t>结果如下：</a:t>
            </a:r>
            <a:endParaRPr lang="en-US" sz="2000" b="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0"/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1	&lt;class 'int'&gt;</a:t>
            </a:r>
          </a:p>
          <a:p>
            <a:pPr indent="0"/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1.0	&lt;class 'float'&gt;</a:t>
            </a:r>
          </a:p>
          <a:p>
            <a:pPr indent="0"/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1	&lt;class 'str'&gt;</a:t>
            </a:r>
          </a:p>
          <a:p>
            <a:pPr indent="0"/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True	&lt;class 'bool'&gt;</a:t>
            </a:r>
            <a:endParaRPr lang="en-US" altLang="en-US" sz="2000" b="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8299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数据类型转换函数</a:t>
            </a:r>
          </a:p>
          <a:p>
            <a:endParaRPr lang="zh-CN" altLang="en-US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76910" y="1059815"/>
            <a:ext cx="7790180" cy="1938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</a:pPr>
            <a:r>
              <a:rPr lang="zh-CN" sz="2000" b="0" dirty="0">
                <a:ea typeface="宋体" panose="02010600030101010101" pitchFamily="2" charset="-122"/>
              </a:rPr>
              <a:t>知道如何去查看数值类型后，接下来就是了解如何去转换我们的数值类型。</a:t>
            </a:r>
            <a:r>
              <a:rPr lang="en-US" altLang="zh-CN" sz="2000" b="0" dirty="0">
                <a:ea typeface="宋体" panose="02010600030101010101" pitchFamily="2" charset="-122"/>
              </a:rPr>
              <a:t>	</a:t>
            </a:r>
            <a:endParaRPr lang="zh-CN" sz="2000" b="0" dirty="0">
              <a:ea typeface="宋体" panose="02010600030101010101" pitchFamily="2" charset="-122"/>
            </a:endParaRPr>
          </a:p>
          <a:p>
            <a:pPr indent="0">
              <a:lnSpc>
                <a:spcPct val="150000"/>
              </a:lnSpc>
            </a:pPr>
            <a:r>
              <a:rPr lang="zh-CN" sz="2000" b="0" dirty="0">
                <a:ea typeface="宋体" panose="02010600030101010101" pitchFamily="2" charset="-122"/>
              </a:rPr>
              <a:t>转换为字符串</a:t>
            </a:r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str() 		</a:t>
            </a:r>
            <a:r>
              <a:rPr lang="zh-CN" sz="2000" b="0" dirty="0">
                <a:ea typeface="宋体" panose="02010600030101010101" pitchFamily="2" charset="-122"/>
              </a:rPr>
              <a:t>转化为整数</a:t>
            </a:r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:int()</a:t>
            </a:r>
            <a:endParaRPr lang="zh-CN" sz="2000" b="0" dirty="0">
              <a:ea typeface="宋体" panose="02010600030101010101" pitchFamily="2" charset="-122"/>
            </a:endParaRPr>
          </a:p>
          <a:p>
            <a:pPr indent="0">
              <a:lnSpc>
                <a:spcPct val="150000"/>
              </a:lnSpc>
            </a:pPr>
            <a:r>
              <a:rPr lang="zh-CN" sz="2000" b="0" dirty="0">
                <a:ea typeface="宋体" panose="02010600030101010101" pitchFamily="2" charset="-122"/>
              </a:rPr>
              <a:t>转化为浮点数</a:t>
            </a:r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:float()      	</a:t>
            </a:r>
            <a:r>
              <a:rPr lang="zh-CN" sz="2000" b="0" dirty="0">
                <a:ea typeface="宋体" panose="02010600030101010101" pitchFamily="2" charset="-122"/>
              </a:rPr>
              <a:t>转换为布尔值</a:t>
            </a:r>
            <a:r>
              <a:rPr lang="en-US" sz="2000" b="0" dirty="0">
                <a:latin typeface="微软雅黑" panose="020B0503020204020204" pitchFamily="34" charset="-122"/>
                <a:ea typeface="宋体" panose="02010600030101010101" pitchFamily="2" charset="-122"/>
              </a:rPr>
              <a:t>:bool()</a:t>
            </a:r>
            <a:endParaRPr lang="en-US" altLang="en-US" sz="2000" b="0" dirty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str()</a:t>
            </a:r>
            <a:r>
              <a:rPr lang="zh-CN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字符串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70" y="946785"/>
            <a:ext cx="3482975" cy="415798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4427855" y="1059815"/>
            <a:ext cx="2588895" cy="3692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1800" b="0">
                <a:ea typeface="宋体" panose="02010600030101010101" pitchFamily="2" charset="-122"/>
              </a:rPr>
              <a:t>我们使用</a:t>
            </a:r>
            <a:r>
              <a:rPr lang="en-US" sz="1800" b="0">
                <a:latin typeface="微软雅黑" panose="020B0503020204020204" pitchFamily="34" charset="-122"/>
                <a:ea typeface="宋体" panose="02010600030101010101" pitchFamily="2" charset="-122"/>
              </a:rPr>
              <a:t>str()</a:t>
            </a:r>
            <a:r>
              <a:rPr lang="zh-CN" sz="1800" b="0">
                <a:ea typeface="宋体" panose="02010600030101010101" pitchFamily="2" charset="-122"/>
              </a:rPr>
              <a:t>函数，可以将其他的数据类型转换为字符串类型。</a:t>
            </a:r>
          </a:p>
          <a:p>
            <a:pPr indent="0"/>
            <a:endParaRPr lang="zh-CN" sz="1800" b="0">
              <a:ea typeface="宋体" panose="02010600030101010101" pitchFamily="2" charset="-122"/>
            </a:endParaRPr>
          </a:p>
          <a:p>
            <a:pPr indent="0"/>
            <a:r>
              <a:rPr lang="zh-CN" sz="1800" b="0">
                <a:ea typeface="宋体" panose="02010600030101010101" pitchFamily="2" charset="-122"/>
              </a:rPr>
              <a:t>像上图这样，转换成字符串，可以想象成把原来变量中的值加上“”，这样就变成字符串类型了。</a:t>
            </a:r>
          </a:p>
          <a:p>
            <a:pPr indent="0"/>
            <a:endParaRPr lang="zh-CN" sz="1800" b="0">
              <a:ea typeface="宋体" panose="02010600030101010101" pitchFamily="2" charset="-122"/>
            </a:endParaRPr>
          </a:p>
          <a:p>
            <a:pPr indent="0"/>
            <a:r>
              <a:rPr lang="zh-CN" sz="1800" b="0">
                <a:ea typeface="宋体" panose="02010600030101010101" pitchFamily="2" charset="-122"/>
              </a:rPr>
              <a:t>st</a:t>
            </a:r>
            <a:r>
              <a:rPr lang="en-US" sz="1800" b="0">
                <a:latin typeface="微软雅黑" panose="020B0503020204020204" pitchFamily="34" charset="-122"/>
                <a:ea typeface="宋体" panose="02010600030101010101" pitchFamily="2" charset="-122"/>
              </a:rPr>
              <a:t>r()</a:t>
            </a:r>
            <a:r>
              <a:rPr lang="zh-CN" sz="1800" b="0">
                <a:ea typeface="宋体" panose="02010600030101010101" pitchFamily="2" charset="-122"/>
              </a:rPr>
              <a:t>转换没有什么禁忌，什么数据类型都可以正常的转换。</a:t>
            </a:r>
            <a:endParaRPr lang="zh-CN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int()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整型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" y="771525"/>
            <a:ext cx="2902585" cy="425640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3923665" y="1131570"/>
            <a:ext cx="3997960" cy="2584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1800" b="0">
                <a:ea typeface="宋体" panose="02010600030101010101" pitchFamily="2" charset="-122"/>
              </a:rPr>
              <a:t>首先，int()只能转换字符串、布尔值和数字。</a:t>
            </a:r>
          </a:p>
          <a:p>
            <a:pPr indent="0"/>
            <a:endParaRPr lang="zh-CN" sz="1800" b="0">
              <a:ea typeface="宋体" panose="02010600030101010101" pitchFamily="2" charset="-122"/>
            </a:endParaRPr>
          </a:p>
          <a:p>
            <a:pPr indent="0"/>
            <a:r>
              <a:rPr lang="zh-CN" sz="1800" b="0">
                <a:ea typeface="宋体" panose="02010600030101010101" pitchFamily="2" charset="-122"/>
              </a:rPr>
              <a:t>而如果要转换字符串，它的值就只能是纯数字，不能带任何其他东西，包括小数点和算数符号。</a:t>
            </a:r>
          </a:p>
          <a:p>
            <a:pPr indent="0"/>
            <a:endParaRPr lang="zh-CN" sz="1800" b="0">
              <a:ea typeface="宋体" panose="02010600030101010101" pitchFamily="2" charset="-122"/>
            </a:endParaRPr>
          </a:p>
          <a:p>
            <a:pPr indent="0"/>
            <a:r>
              <a:rPr lang="zh-CN" sz="1800" b="0">
                <a:ea typeface="宋体" panose="02010600030101010101" pitchFamily="2" charset="-122"/>
              </a:rPr>
              <a:t>而布尔值则需要注意，True会转变成1，False会转变成0。</a:t>
            </a:r>
            <a:endParaRPr lang="zh-CN" altLang="en-US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float()</a:t>
            </a:r>
            <a:r>
              <a:rPr lang="zh-CN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浮点数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8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70" y="800100"/>
            <a:ext cx="2930525" cy="42646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3851910" y="1275715"/>
            <a:ext cx="4304665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1800" b="0">
                <a:ea typeface="宋体" panose="02010600030101010101" pitchFamily="2" charset="-122"/>
              </a:rPr>
              <a:t>转变为float浮点数和整数差不多，区别是在字符串转换时的要求没有那么严格。</a:t>
            </a:r>
          </a:p>
          <a:p>
            <a:pPr indent="0"/>
            <a:endParaRPr lang="zh-CN" sz="1800" b="0">
              <a:ea typeface="宋体" panose="02010600030101010101" pitchFamily="2" charset="-122"/>
            </a:endParaRPr>
          </a:p>
          <a:p>
            <a:pPr indent="0"/>
            <a:r>
              <a:rPr lang="zh-CN" sz="1800" b="0">
                <a:ea typeface="宋体" panose="02010600030101010101" pitchFamily="2" charset="-122"/>
              </a:rPr>
              <a:t>只要是数字就可以，小数点没有要求，但是对于其他的符号，也是不能有的。</a:t>
            </a:r>
            <a:endParaRPr lang="zh-CN" altLang="en-US" sz="1800" b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bool()</a:t>
            </a:r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布尔型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2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70" y="771525"/>
            <a:ext cx="2984500" cy="428053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3707765" y="982980"/>
            <a:ext cx="4653915" cy="31381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1800" b="0" dirty="0">
                <a:ea typeface="宋体" panose="02010600030101010101" pitchFamily="2" charset="-122"/>
              </a:rPr>
              <a:t>而转变成bool值呢，则讲究的东西可能就比较多了，首先先看数字。不同的数字转变成bool值，对应的是False 还是 True，这个需要记忆。</a:t>
            </a:r>
          </a:p>
          <a:p>
            <a:pPr indent="0"/>
            <a:endParaRPr lang="zh-CN" sz="1800" b="0" dirty="0">
              <a:ea typeface="宋体" panose="02010600030101010101" pitchFamily="2" charset="-122"/>
            </a:endParaRPr>
          </a:p>
          <a:p>
            <a:pPr indent="0"/>
            <a:r>
              <a:rPr lang="zh-CN" sz="1800" b="0" dirty="0">
                <a:ea typeface="宋体" panose="02010600030101010101" pitchFamily="2" charset="-122"/>
              </a:rPr>
              <a:t>我们先思考一下bool转数字时的规律，倒退一下。</a:t>
            </a:r>
            <a:endParaRPr lang="en-US" sz="1800" b="0" dirty="0"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0"/>
            <a:r>
              <a:rPr lang="en-US" sz="1800" b="0" dirty="0">
                <a:latin typeface="微软雅黑" panose="020B0503020204020204" pitchFamily="34" charset="-122"/>
                <a:ea typeface="宋体" panose="02010600030101010101" pitchFamily="2" charset="-122"/>
              </a:rPr>
              <a:t>0 </a:t>
            </a:r>
            <a:r>
              <a:rPr lang="zh-CN" sz="1800" b="0" dirty="0">
                <a:ea typeface="宋体" panose="02010600030101010101" pitchFamily="2" charset="-122"/>
              </a:rPr>
              <a:t>转变成</a:t>
            </a:r>
            <a:r>
              <a:rPr lang="en-US" sz="1800" b="0" dirty="0">
                <a:latin typeface="微软雅黑" panose="020B0503020204020204" pitchFamily="34" charset="-122"/>
                <a:ea typeface="宋体" panose="02010600030101010101" pitchFamily="2" charset="-122"/>
              </a:rPr>
              <a:t> False , </a:t>
            </a:r>
            <a:r>
              <a:rPr lang="zh-CN" sz="1800" b="0" dirty="0">
                <a:ea typeface="宋体" panose="02010600030101010101" pitchFamily="2" charset="-122"/>
              </a:rPr>
              <a:t>而其他数字则转变成</a:t>
            </a:r>
            <a:r>
              <a:rPr lang="en-US" sz="1800" b="0" dirty="0">
                <a:latin typeface="微软雅黑" panose="020B0503020204020204" pitchFamily="34" charset="-122"/>
                <a:ea typeface="宋体" panose="02010600030101010101" pitchFamily="2" charset="-122"/>
              </a:rPr>
              <a:t> </a:t>
            </a:r>
            <a:r>
              <a:rPr lang="zh-CN" sz="1800" b="0" dirty="0">
                <a:ea typeface="宋体" panose="02010600030101010101" pitchFamily="2" charset="-122"/>
              </a:rPr>
              <a:t>True。</a:t>
            </a:r>
          </a:p>
          <a:p>
            <a:pPr indent="0"/>
            <a:endParaRPr lang="zh-CN" sz="1800" b="0" dirty="0">
              <a:ea typeface="宋体" panose="02010600030101010101" pitchFamily="2" charset="-122"/>
            </a:endParaRPr>
          </a:p>
          <a:p>
            <a:pPr indent="0"/>
            <a:r>
              <a:rPr lang="zh-CN" sz="1800" b="0" dirty="0">
                <a:ea typeface="宋体" panose="02010600030101010101" pitchFamily="2" charset="-122"/>
              </a:rPr>
              <a:t>而我们的字符串呢，空字符串转换为False，其他字符串都是True。</a:t>
            </a:r>
            <a:endParaRPr lang="zh-CN" altLang="en-US" sz="1800" b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总结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76910" y="1029335"/>
          <a:ext cx="5875655" cy="2031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37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7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38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函数</a:t>
                      </a:r>
                      <a:endParaRPr lang="en-US" altLang="en-US" sz="1800" b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23E4F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800" b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描述</a:t>
                      </a:r>
                      <a:endParaRPr lang="en-US" altLang="en-US" sz="1800" b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23E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int(x)</a:t>
                      </a:r>
                      <a:endParaRPr lang="en-US" altLang="en-US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将字符串、数字、布尔值转换为整数</a:t>
                      </a:r>
                      <a:endParaRPr lang="en-US" altLang="en-US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23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float(x)</a:t>
                      </a:r>
                      <a:endParaRPr lang="en-US" altLang="en-US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将字符串、数字、布尔值转换为浮点数</a:t>
                      </a:r>
                      <a:endParaRPr lang="en-US" altLang="en-US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50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bool(x)</a:t>
                      </a:r>
                      <a:endParaRPr lang="en-US" altLang="en-US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将任何数据类型转换为布尔值</a:t>
                      </a:r>
                      <a:endParaRPr lang="en-US" altLang="en-US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87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str(x)</a:t>
                      </a:r>
                      <a:endParaRPr lang="en-US" altLang="en-US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8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将任何数据类型转换为字符串</a:t>
                      </a:r>
                      <a:endParaRPr lang="en-US" altLang="en-US" sz="18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DED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83260" y="3220085"/>
            <a:ext cx="7778750" cy="11988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altLang="en-US" sz="1800" dirty="0">
                <a:ea typeface="宋体" panose="02010600030101010101" pitchFamily="2" charset="-122"/>
              </a:rPr>
              <a:t>注：</a:t>
            </a:r>
            <a:r>
              <a:rPr lang="zh-CN" sz="1800" b="0" dirty="0">
                <a:ea typeface="宋体" panose="02010600030101010101" pitchFamily="2" charset="-122"/>
              </a:rPr>
              <a:t>如果int(x)中的x为字符串，只能是纯数字的字符串</a:t>
            </a:r>
            <a:r>
              <a:rPr 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sz="1800" b="0" dirty="0">
                <a:latin typeface="Calibri Light" panose="020F0302020204030204" charset="0"/>
                <a:ea typeface="宋体" panose="02010600030101010101" pitchFamily="2" charset="-122"/>
              </a:rPr>
              <a:t>‘1’</a:t>
            </a:r>
            <a:r>
              <a:rPr lang="zh-CN" sz="1800" b="0" dirty="0">
                <a:ea typeface="宋体" panose="02010600030101010101" pitchFamily="2" charset="-122"/>
              </a:rPr>
              <a:t>、</a:t>
            </a:r>
            <a:r>
              <a:rPr lang="en-US" sz="1800" b="0" dirty="0">
                <a:latin typeface="Calibri Light" panose="020F0302020204030204" charset="0"/>
                <a:ea typeface="宋体" panose="02010600030101010101" pitchFamily="2" charset="-122"/>
              </a:rPr>
              <a:t>‘-2’</a:t>
            </a:r>
            <a:r>
              <a:rPr 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sz="1800" b="0" dirty="0">
                <a:ea typeface="宋体" panose="02010600030101010101" pitchFamily="2" charset="-122"/>
              </a:rPr>
              <a:t>，不能带有其他字符，如小数点</a:t>
            </a:r>
            <a:r>
              <a:rPr 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.(</a:t>
            </a:r>
            <a:r>
              <a:rPr lang="en-US" sz="1800" b="0" dirty="0">
                <a:latin typeface="Calibri Light" panose="020F0302020204030204" charset="0"/>
                <a:ea typeface="宋体" panose="02010600030101010101" pitchFamily="2" charset="-122"/>
              </a:rPr>
              <a:t>‘-1.2’</a:t>
            </a:r>
            <a:r>
              <a:rPr lang="zh-CN" sz="1800" b="0" dirty="0">
                <a:ea typeface="宋体" panose="02010600030101010101" pitchFamily="2" charset="-122"/>
              </a:rPr>
              <a:t>、</a:t>
            </a:r>
            <a:r>
              <a:rPr lang="en-US" sz="1800" b="0" dirty="0">
                <a:latin typeface="Calibri Light" panose="020F0302020204030204" charset="0"/>
                <a:ea typeface="宋体" panose="02010600030101010101" pitchFamily="2" charset="-122"/>
              </a:rPr>
              <a:t>‘5.1’</a:t>
            </a:r>
            <a:r>
              <a:rPr lang="en-US" sz="1800" b="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sz="1800" b="0" dirty="0">
                <a:ea typeface="宋体" panose="02010600030101010101" pitchFamily="2" charset="-122"/>
              </a:rPr>
              <a:t>和其他符号字母。</a:t>
            </a:r>
          </a:p>
          <a:p>
            <a:pPr indent="0"/>
            <a:endParaRPr lang="en-US" sz="1800" b="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/>
            <a:r>
              <a:rPr lang="zh-CN" sz="1800" b="0" dirty="0">
                <a:ea typeface="宋体" panose="02010600030101010101" pitchFamily="2" charset="-122"/>
              </a:rPr>
              <a:t>0、0.0、空字符串转换成布尔值是Fasle，其他值都是True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972185" y="627380"/>
          <a:ext cx="639953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9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9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>
                          <a:solidFill>
                            <a:schemeClr val="dk1"/>
                          </a:solidFill>
                        </a:rPr>
                        <a:t>int(x)</a:t>
                      </a:r>
                      <a:endParaRPr lang="zh-CN" altLang="en-US" sz="1600" b="0">
                        <a:solidFill>
                          <a:schemeClr val="dk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>
                          <a:solidFill>
                            <a:schemeClr val="dk1"/>
                          </a:solidFill>
                        </a:rPr>
                        <a:t>将</a:t>
                      </a:r>
                      <a:r>
                        <a:rPr lang="en-US" altLang="zh-CN" sz="1600" b="0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lang="zh-CN" altLang="en-US" sz="1600" b="0">
                          <a:solidFill>
                            <a:schemeClr val="dk1"/>
                          </a:solidFill>
                        </a:rPr>
                        <a:t>转换为整形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/>
                        <a:t>float(x)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将</a:t>
                      </a:r>
                      <a:r>
                        <a:rPr lang="en-US" altLang="zh-CN" sz="1600">
                          <a:sym typeface="+mn-ea"/>
                        </a:rPr>
                        <a:t>x</a:t>
                      </a:r>
                      <a:r>
                        <a:rPr lang="zh-CN" altLang="en-US" sz="1600">
                          <a:sym typeface="+mn-ea"/>
                        </a:rPr>
                        <a:t>转换为实形</a:t>
                      </a:r>
                      <a:endParaRPr lang="zh-CN" altLang="en-US" sz="1600" b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/>
                        <a:t>str(x)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1600">
                          <a:sym typeface="+mn-ea"/>
                        </a:rPr>
                        <a:t>将</a:t>
                      </a:r>
                      <a:r>
                        <a:rPr lang="en-US" altLang="zh-CN" sz="1600">
                          <a:sym typeface="+mn-ea"/>
                        </a:rPr>
                        <a:t>x</a:t>
                      </a:r>
                      <a:r>
                        <a:rPr lang="zh-CN" altLang="en-US" sz="1600">
                          <a:sym typeface="+mn-ea"/>
                        </a:rPr>
                        <a:t>转换为字符串</a:t>
                      </a:r>
                      <a:endParaRPr lang="zh-CN" altLang="en-US" sz="1600" b="0"/>
                    </a:p>
                  </a:txBody>
                  <a:tcPr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539750" y="195580"/>
            <a:ext cx="220091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2.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数据类型转换函数</a:t>
            </a:r>
            <a:endParaRPr lang="zh-CN" altLang="en-US" sz="1800"/>
          </a:p>
        </p:txBody>
      </p:sp>
      <p:sp>
        <p:nvSpPr>
          <p:cNvPr id="5" name="文本框 4"/>
          <p:cNvSpPr txBox="1"/>
          <p:nvPr/>
        </p:nvSpPr>
        <p:spPr>
          <a:xfrm>
            <a:off x="972185" y="1923415"/>
            <a:ext cx="79573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int(x)</a:t>
            </a:r>
            <a:r>
              <a:rPr lang="zh-CN" altLang="en-US" dirty="0"/>
              <a:t>中的</a:t>
            </a:r>
            <a:r>
              <a:rPr lang="en-US" altLang="zh-CN" dirty="0"/>
              <a:t>x</a:t>
            </a:r>
            <a:r>
              <a:rPr lang="zh-CN" altLang="en-US" dirty="0"/>
              <a:t>只能为：</a:t>
            </a:r>
            <a:r>
              <a:rPr lang="en-US" altLang="zh-CN" dirty="0"/>
              <a:t>1.</a:t>
            </a:r>
            <a:r>
              <a:rPr lang="zh-CN" altLang="en-US" dirty="0"/>
              <a:t>只有整数的字符串（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-8</a:t>
            </a:r>
            <a:r>
              <a:rPr lang="zh-CN" altLang="en-US" dirty="0"/>
              <a:t>）</a:t>
            </a:r>
            <a:r>
              <a:rPr lang="en-US" altLang="zh-CN" dirty="0"/>
              <a:t>2.</a:t>
            </a:r>
            <a:r>
              <a:rPr lang="zh-CN" altLang="en-US" dirty="0"/>
              <a:t>布尔型（</a:t>
            </a:r>
            <a:r>
              <a:rPr lang="en-US" altLang="zh-CN" dirty="0"/>
              <a:t>True</a:t>
            </a:r>
            <a:r>
              <a:rPr lang="zh-CN" altLang="en-US" dirty="0"/>
              <a:t>，</a:t>
            </a:r>
            <a:r>
              <a:rPr lang="en-US" altLang="zh-CN" dirty="0"/>
              <a:t>False</a:t>
            </a:r>
            <a:r>
              <a:rPr lang="zh-CN" altLang="en-US" dirty="0"/>
              <a:t>）</a:t>
            </a:r>
            <a:r>
              <a:rPr lang="en-US" altLang="zh-CN" dirty="0"/>
              <a:t>3.</a:t>
            </a:r>
            <a:r>
              <a:rPr lang="zh-CN" altLang="en-US" dirty="0"/>
              <a:t>实形（</a:t>
            </a:r>
            <a:r>
              <a:rPr lang="en-US" altLang="zh-CN" dirty="0"/>
              <a:t>3.14</a:t>
            </a:r>
            <a:r>
              <a:rPr lang="zh-CN" altLang="en-US" dirty="0"/>
              <a:t>，</a:t>
            </a:r>
            <a:r>
              <a:rPr lang="en-US" altLang="zh-CN" dirty="0"/>
              <a:t>-5.2</a:t>
            </a:r>
            <a:r>
              <a:rPr lang="zh-CN" altLang="en-US" dirty="0"/>
              <a:t>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72185" y="2427605"/>
            <a:ext cx="7758599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dirty="0">
                <a:sym typeface="+mn-ea"/>
              </a:rPr>
              <a:t>float(x)</a:t>
            </a:r>
            <a:r>
              <a:rPr lang="zh-CN" altLang="en-US" dirty="0">
                <a:sym typeface="+mn-ea"/>
              </a:rPr>
              <a:t>中的</a:t>
            </a:r>
            <a:r>
              <a:rPr lang="en-US" altLang="zh-CN" dirty="0">
                <a:sym typeface="+mn-ea"/>
              </a:rPr>
              <a:t>x</a:t>
            </a:r>
            <a:r>
              <a:rPr lang="zh-CN" altLang="en-US" dirty="0">
                <a:sym typeface="+mn-ea"/>
              </a:rPr>
              <a:t>只能为：</a:t>
            </a:r>
            <a:r>
              <a:rPr lang="en-US" altLang="zh-CN" dirty="0">
                <a:sym typeface="+mn-ea"/>
              </a:rPr>
              <a:t>1.</a:t>
            </a:r>
            <a:r>
              <a:rPr lang="zh-CN" altLang="en-US" dirty="0">
                <a:sym typeface="+mn-ea"/>
              </a:rPr>
              <a:t>只有数字的字符串（</a:t>
            </a:r>
            <a:r>
              <a:rPr lang="en-US" altLang="zh-CN" dirty="0">
                <a:sym typeface="+mn-ea"/>
              </a:rPr>
              <a:t>1.5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-8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2.</a:t>
            </a:r>
            <a:r>
              <a:rPr lang="zh-CN" altLang="en-US" dirty="0">
                <a:sym typeface="+mn-ea"/>
              </a:rPr>
              <a:t>布尔型（</a:t>
            </a:r>
            <a:r>
              <a:rPr lang="en-US" altLang="zh-CN" dirty="0">
                <a:sym typeface="+mn-ea"/>
              </a:rPr>
              <a:t>True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False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dirty="0">
                <a:sym typeface="+mn-ea"/>
              </a:rPr>
              <a:t>3.</a:t>
            </a:r>
            <a:r>
              <a:rPr lang="zh-CN" altLang="en-US" dirty="0">
                <a:sym typeface="+mn-ea"/>
              </a:rPr>
              <a:t>整形（</a:t>
            </a:r>
            <a:r>
              <a:rPr lang="en-US" altLang="zh-CN" dirty="0">
                <a:sym typeface="+mn-ea"/>
              </a:rPr>
              <a:t>3</a:t>
            </a:r>
            <a:r>
              <a:rPr lang="zh-CN" altLang="en-US" dirty="0">
                <a:sym typeface="+mn-ea"/>
              </a:rPr>
              <a:t>，</a:t>
            </a:r>
            <a:r>
              <a:rPr lang="en-US" altLang="zh-CN" dirty="0">
                <a:sym typeface="+mn-ea"/>
              </a:rPr>
              <a:t>-5</a:t>
            </a:r>
            <a:r>
              <a:rPr lang="zh-CN" altLang="en-US" dirty="0">
                <a:sym typeface="+mn-ea"/>
              </a:rPr>
              <a:t>）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72185" y="2931795"/>
            <a:ext cx="3364230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dirty="0">
                <a:sym typeface="+mn-ea"/>
              </a:rPr>
              <a:t>str(x)</a:t>
            </a:r>
            <a:r>
              <a:rPr lang="zh-CN" altLang="en-US" dirty="0">
                <a:sym typeface="+mn-ea"/>
              </a:rPr>
              <a:t>中的</a:t>
            </a:r>
            <a:r>
              <a:rPr lang="en-US" altLang="zh-CN" dirty="0">
                <a:sym typeface="+mn-ea"/>
              </a:rPr>
              <a:t>x</a:t>
            </a:r>
            <a:r>
              <a:rPr lang="zh-CN" altLang="en-US" dirty="0">
                <a:sym typeface="+mn-ea"/>
              </a:rPr>
              <a:t>可以为任何的</a:t>
            </a:r>
            <a:r>
              <a:rPr lang="en-US" altLang="zh-CN" dirty="0">
                <a:sym typeface="+mn-ea"/>
              </a:rPr>
              <a:t>Python</a:t>
            </a:r>
            <a:r>
              <a:rPr lang="zh-CN" altLang="en-US" dirty="0">
                <a:sym typeface="+mn-ea"/>
              </a:rPr>
              <a:t>数据类型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72185" y="3435985"/>
            <a:ext cx="684149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/>
              <a:t>当然，</a:t>
            </a:r>
            <a:r>
              <a:rPr lang="en-US" altLang="zh-CN"/>
              <a:t>int</a:t>
            </a:r>
            <a:r>
              <a:rPr lang="zh-CN" altLang="en-US"/>
              <a:t>和</a:t>
            </a:r>
            <a:r>
              <a:rPr lang="en-US" altLang="zh-CN"/>
              <a:t>float</a:t>
            </a:r>
            <a:r>
              <a:rPr lang="zh-CN" altLang="en-US"/>
              <a:t>中的</a:t>
            </a:r>
            <a:r>
              <a:rPr lang="en-US" altLang="zh-CN"/>
              <a:t>x</a:t>
            </a:r>
            <a:r>
              <a:rPr lang="zh-CN" altLang="en-US"/>
              <a:t>也可以为它们本身的数据类型，但这个用的不多，也就不多讲了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972185" y="3940175"/>
            <a:ext cx="4263390" cy="1168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那么对于布尔型转换成</a:t>
            </a:r>
            <a:r>
              <a:rPr lang="en-US" altLang="zh-CN"/>
              <a:t>int</a:t>
            </a:r>
            <a:r>
              <a:rPr lang="zh-CN" altLang="en-US"/>
              <a:t>或者</a:t>
            </a:r>
            <a:r>
              <a:rPr lang="en-US" altLang="zh-CN"/>
              <a:t>float</a:t>
            </a:r>
            <a:r>
              <a:rPr lang="zh-CN" altLang="en-US"/>
              <a:t>，值得注意的是：</a:t>
            </a:r>
            <a:endParaRPr lang="en-US" altLang="en-US"/>
          </a:p>
          <a:p>
            <a:r>
              <a:rPr lang="en-US" altLang="en-US"/>
              <a:t>int(True) == 1</a:t>
            </a:r>
          </a:p>
          <a:p>
            <a:r>
              <a:rPr lang="en-US" altLang="en-US"/>
              <a:t>int(False) == 0</a:t>
            </a:r>
          </a:p>
          <a:p>
            <a:r>
              <a:rPr lang="en-US" altLang="en-US"/>
              <a:t>float(True) == 1.0</a:t>
            </a:r>
          </a:p>
          <a:p>
            <a:r>
              <a:rPr lang="en-US" altLang="en-US"/>
              <a:t>float(False) == 0.0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6197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1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661670" y="982980"/>
            <a:ext cx="7504430" cy="37445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20000"/>
              </a:lnSpc>
            </a:pPr>
            <a:r>
              <a:rPr lang="zh-CN" sz="1800" b="1">
                <a:ea typeface="宋体" panose="02010600030101010101" pitchFamily="2" charset="-122"/>
              </a:rPr>
              <a:t>程序题</a:t>
            </a:r>
            <a:r>
              <a:rPr lang="en-US" sz="1800" b="1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sz="1800" b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indent="0">
              <a:lnSpc>
                <a:spcPct val="120000"/>
              </a:lnSpc>
            </a:pPr>
            <a:r>
              <a:rPr lang="zh-CN" sz="1800" b="0">
                <a:solidFill>
                  <a:srgbClr val="000000"/>
                </a:solidFill>
                <a:ea typeface="宋体" panose="02010600030101010101" pitchFamily="2" charset="-122"/>
              </a:rPr>
              <a:t>已知一个工人每天可以生产30个汽车零件。</a:t>
            </a:r>
            <a:r>
              <a:rPr lang="en-US" sz="18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X(X</a:t>
            </a:r>
            <a:r>
              <a:rPr lang="zh-CN" sz="1800" b="0">
                <a:solidFill>
                  <a:srgbClr val="000000"/>
                </a:solidFill>
                <a:ea typeface="宋体" panose="02010600030101010101" pitchFamily="2" charset="-122"/>
              </a:rPr>
              <a:t>为变量</a:t>
            </a:r>
            <a:r>
              <a:rPr lang="en-US" sz="18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sz="1800" b="0">
                <a:solidFill>
                  <a:srgbClr val="000000"/>
                </a:solidFill>
                <a:ea typeface="宋体" panose="02010600030101010101" pitchFamily="2" charset="-122"/>
              </a:rPr>
              <a:t>个工人</a:t>
            </a:r>
            <a:r>
              <a:rPr lang="en-US" sz="18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sz="1800" b="0">
                <a:solidFill>
                  <a:srgbClr val="000000"/>
                </a:solidFill>
                <a:ea typeface="宋体" panose="02010600030101010101" pitchFamily="2" charset="-122"/>
              </a:rPr>
              <a:t>天可以生产多少个汽车零件？</a:t>
            </a:r>
          </a:p>
          <a:p>
            <a:pPr indent="0">
              <a:lnSpc>
                <a:spcPct val="120000"/>
              </a:lnSpc>
            </a:pPr>
            <a:r>
              <a:rPr lang="zh-CN" sz="1800" b="0">
                <a:solidFill>
                  <a:srgbClr val="000000"/>
                </a:solidFill>
                <a:ea typeface="宋体" panose="02010600030101010101" pitchFamily="2" charset="-122"/>
              </a:rPr>
              <a:t>要求：</a:t>
            </a:r>
          </a:p>
          <a:p>
            <a:pPr indent="0">
              <a:lnSpc>
                <a:spcPct val="120000"/>
              </a:lnSpc>
            </a:pPr>
            <a:r>
              <a:rPr lang="zh-CN" sz="1800" b="0">
                <a:solidFill>
                  <a:srgbClr val="000000"/>
                </a:solidFill>
                <a:ea typeface="宋体" panose="02010600030101010101" pitchFamily="2" charset="-122"/>
              </a:rPr>
              <a:t>1）程序开始运行后，会有提示字符串：“请输入工人数量：”，然后完成工人数量的输入；</a:t>
            </a:r>
          </a:p>
          <a:p>
            <a:pPr indent="0">
              <a:lnSpc>
                <a:spcPct val="120000"/>
              </a:lnSpc>
            </a:pPr>
            <a:r>
              <a:rPr lang="en-US" sz="18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sz="1800" b="0">
                <a:solidFill>
                  <a:srgbClr val="000000"/>
                </a:solidFill>
                <a:ea typeface="宋体" panose="02010600030101010101" pitchFamily="2" charset="-122"/>
              </a:rPr>
              <a:t>）程序会根据输入的工人数量计算出总共产出的汽车零件个数，并将结果进行修饰然后输出。</a:t>
            </a:r>
          </a:p>
          <a:p>
            <a:pPr indent="0">
              <a:lnSpc>
                <a:spcPct val="120000"/>
              </a:lnSpc>
            </a:pPr>
            <a:r>
              <a:rPr lang="zh-CN" sz="1800" b="0">
                <a:solidFill>
                  <a:srgbClr val="000000"/>
                </a:solidFill>
                <a:ea typeface="宋体" panose="02010600030101010101" pitchFamily="2" charset="-122"/>
              </a:rPr>
              <a:t>示例：</a:t>
            </a:r>
          </a:p>
          <a:p>
            <a:pPr indent="0">
              <a:lnSpc>
                <a:spcPct val="120000"/>
              </a:lnSpc>
            </a:pPr>
            <a:r>
              <a:rPr lang="zh-CN" sz="1800" b="0">
                <a:solidFill>
                  <a:srgbClr val="000000"/>
                </a:solidFill>
                <a:ea typeface="宋体" panose="02010600030101010101" pitchFamily="2" charset="-122"/>
              </a:rPr>
              <a:t>输入工人数量为</a:t>
            </a:r>
            <a:r>
              <a:rPr lang="en-US" sz="18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endParaRPr lang="zh-CN" sz="1800" b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indent="0">
              <a:lnSpc>
                <a:spcPct val="120000"/>
              </a:lnSpc>
            </a:pPr>
            <a:r>
              <a:rPr lang="zh-CN" sz="1800" b="0">
                <a:solidFill>
                  <a:srgbClr val="000000"/>
                </a:solidFill>
                <a:ea typeface="宋体" panose="02010600030101010101" pitchFamily="2" charset="-122"/>
              </a:rPr>
              <a:t>输出</a:t>
            </a:r>
            <a:r>
              <a:rPr lang="en-US" sz="18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“10</a:t>
            </a:r>
            <a:r>
              <a:rPr lang="zh-CN" sz="1800" b="0">
                <a:solidFill>
                  <a:srgbClr val="000000"/>
                </a:solidFill>
                <a:ea typeface="宋体" panose="02010600030101010101" pitchFamily="2" charset="-122"/>
              </a:rPr>
              <a:t>个工人</a:t>
            </a:r>
            <a:r>
              <a:rPr lang="en-US" sz="18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sz="1800" b="0">
                <a:solidFill>
                  <a:srgbClr val="000000"/>
                </a:solidFill>
                <a:ea typeface="宋体" panose="02010600030101010101" pitchFamily="2" charset="-122"/>
              </a:rPr>
              <a:t>天可以生产1500个汽车零件。</a:t>
            </a:r>
            <a:r>
              <a:rPr lang="en-US" sz="1800" b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en-US" altLang="en-US" sz="1800" b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altLang="en-US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练习</a:t>
            </a:r>
            <a:r>
              <a:rPr lang="en-US" alt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2</a:t>
            </a: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661670" y="1059815"/>
            <a:ext cx="7412990" cy="29686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>
              <a:lnSpc>
                <a:spcPct val="130000"/>
              </a:lnSpc>
            </a:pPr>
            <a:r>
              <a:rPr lang="zh-CN" sz="1800" b="0" dirty="0">
                <a:solidFill>
                  <a:srgbClr val="000000"/>
                </a:solidFill>
                <a:ea typeface="宋体" panose="02010600030101010101" pitchFamily="2" charset="-122"/>
              </a:rPr>
              <a:t>动物园一共买了1000斤食物。每天一只动物平均要吃35斤食物。X</a:t>
            </a:r>
            <a:r>
              <a:rPr lang="en-US" sz="1800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(X</a:t>
            </a:r>
            <a:r>
              <a:rPr lang="zh-CN" sz="1800" b="0" dirty="0">
                <a:solidFill>
                  <a:srgbClr val="000000"/>
                </a:solidFill>
                <a:ea typeface="宋体" panose="02010600030101010101" pitchFamily="2" charset="-122"/>
              </a:rPr>
              <a:t>为变量</a:t>
            </a:r>
            <a:r>
              <a:rPr lang="en-US" sz="1800" b="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sz="1800" b="0" dirty="0">
                <a:solidFill>
                  <a:srgbClr val="000000"/>
                </a:solidFill>
                <a:ea typeface="宋体" panose="02010600030101010101" pitchFamily="2" charset="-122"/>
              </a:rPr>
              <a:t>只动物可以吃多少天，还余下多少食物？</a:t>
            </a:r>
          </a:p>
          <a:p>
            <a:pPr indent="0">
              <a:lnSpc>
                <a:spcPct val="130000"/>
              </a:lnSpc>
            </a:pPr>
            <a:r>
              <a:rPr lang="zh-CN" sz="1800" b="0" dirty="0">
                <a:solidFill>
                  <a:srgbClr val="000000"/>
                </a:solidFill>
                <a:ea typeface="宋体" panose="02010600030101010101" pitchFamily="2" charset="-122"/>
              </a:rPr>
              <a:t>1.获取的工人数量的输入；</a:t>
            </a:r>
          </a:p>
          <a:p>
            <a:pPr indent="0">
              <a:lnSpc>
                <a:spcPct val="130000"/>
              </a:lnSpc>
            </a:pPr>
            <a:r>
              <a:rPr lang="zh-CN" sz="1800" b="0" dirty="0">
                <a:solidFill>
                  <a:srgbClr val="000000"/>
                </a:solidFill>
                <a:ea typeface="宋体" panose="02010600030101010101" pitchFamily="2" charset="-122"/>
              </a:rPr>
              <a:t>2.计算得出可以吃多少天（整数），余下多少食物。</a:t>
            </a:r>
          </a:p>
          <a:p>
            <a:pPr indent="0">
              <a:lnSpc>
                <a:spcPct val="130000"/>
              </a:lnSpc>
            </a:pPr>
            <a:r>
              <a:rPr lang="zh-CN" sz="1800" b="0" dirty="0">
                <a:solidFill>
                  <a:srgbClr val="000000"/>
                </a:solidFill>
                <a:ea typeface="宋体" panose="02010600030101010101" pitchFamily="2" charset="-122"/>
              </a:rPr>
              <a:t>3.输出格式为：x个动物可以吃y天，还余下z斤食物。</a:t>
            </a:r>
          </a:p>
          <a:p>
            <a:pPr indent="0">
              <a:lnSpc>
                <a:spcPct val="130000"/>
              </a:lnSpc>
            </a:pPr>
            <a:r>
              <a:rPr lang="zh-CN" sz="1800" b="0" dirty="0">
                <a:solidFill>
                  <a:srgbClr val="000000"/>
                </a:solidFill>
                <a:ea typeface="宋体" panose="02010600030101010101" pitchFamily="2" charset="-122"/>
              </a:rPr>
              <a:t>例：</a:t>
            </a:r>
          </a:p>
          <a:p>
            <a:pPr indent="0">
              <a:lnSpc>
                <a:spcPct val="130000"/>
              </a:lnSpc>
            </a:pPr>
            <a:r>
              <a:rPr lang="zh-CN" sz="1800" b="0" dirty="0">
                <a:solidFill>
                  <a:srgbClr val="000000"/>
                </a:solidFill>
                <a:ea typeface="宋体" panose="02010600030101010101" pitchFamily="2" charset="-122"/>
              </a:rPr>
              <a:t>输入10只动物</a:t>
            </a:r>
          </a:p>
          <a:p>
            <a:pPr indent="0">
              <a:lnSpc>
                <a:spcPct val="130000"/>
              </a:lnSpc>
            </a:pPr>
            <a:r>
              <a:rPr lang="zh-CN" sz="1800" b="0" dirty="0">
                <a:solidFill>
                  <a:srgbClr val="000000"/>
                </a:solidFill>
                <a:ea typeface="宋体" panose="02010600030101010101" pitchFamily="2" charset="-122"/>
              </a:rPr>
              <a:t>输出‘10只动物可以吃2天，还余下300斤食物。’</a:t>
            </a:r>
            <a:endParaRPr lang="zh-CN" altLang="en-US" sz="1800" b="0" dirty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76ce7ccbcda6cf12636bdb4ab607c4c83d474"/>
  <p:tag name="COMMONDATA" val="eyJoZGlkIjoiNzE1MTRiZGNmZGQyODMxZWY5ZTk1Nzk2OTA5ZmQ2YzIifQ=="/>
  <p:tag name="KSO_WPP_MARK_KEY" val="c5071f93-eaf3-41b4-af05-7e6bbc056c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b66cb62f-18dd-494e-bbc0-40b8eea7da54}"/>
  <p:tag name="TABLE_ENDDRAG_ORIGIN_RECT" val="406*267"/>
  <p:tag name="TABLE_ENDDRAG_RECT" val="59*133*406*26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7cd01bea-5d94-476a-b60e-831363c069f3}"/>
  <p:tag name="TABLE_ENDDRAG_ORIGIN_RECT" val="462*159"/>
  <p:tag name="TABLE_ENDDRAG_RECT" val="53*81*462*15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67467c5d-ddad-4482-8c72-88cc876aab1c}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1144</Words>
  <Application>Microsoft Office PowerPoint</Application>
  <PresentationFormat>全屏显示(16:9)</PresentationFormat>
  <Paragraphs>139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HandelGotDLig</vt:lpstr>
      <vt:lpstr>思源黑体 CN Normal</vt:lpstr>
      <vt:lpstr>宋体</vt:lpstr>
      <vt:lpstr>微软雅黑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hp</cp:lastModifiedBy>
  <cp:revision>447</cp:revision>
  <cp:lastPrinted>2000-12-31T21:09:00Z</cp:lastPrinted>
  <dcterms:created xsi:type="dcterms:W3CDTF">2015-11-10T12:01:00Z</dcterms:created>
  <dcterms:modified xsi:type="dcterms:W3CDTF">2023-05-06T07:30:58Z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988B661AE47648C0B63C7FE89BF85F09</vt:lpwstr>
  </property>
  <property fmtid="{D5CDD505-2E9C-101B-9397-08002B2CF9AE}" pid="3" name="KSOProductBuildVer">
    <vt:lpwstr>2052-11.1.0.12598</vt:lpwstr>
  </property>
</Properties>
</file>