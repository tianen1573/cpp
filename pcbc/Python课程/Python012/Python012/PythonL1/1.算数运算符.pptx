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485" r:id="rId2"/>
    <p:sldId id="497" r:id="rId3"/>
    <p:sldId id="588" r:id="rId4"/>
    <p:sldId id="589" r:id="rId5"/>
    <p:sldId id="590" r:id="rId6"/>
    <p:sldId id="317" r:id="rId7"/>
    <p:sldId id="525" r:id="rId8"/>
    <p:sldId id="578" r:id="rId9"/>
    <p:sldId id="591" r:id="rId10"/>
    <p:sldId id="592" r:id="rId11"/>
    <p:sldId id="593" r:id="rId12"/>
    <p:sldId id="548" r:id="rId13"/>
    <p:sldId id="580" r:id="rId14"/>
    <p:sldId id="550" r:id="rId15"/>
    <p:sldId id="582" r:id="rId16"/>
    <p:sldId id="565" r:id="rId17"/>
    <p:sldId id="556" r:id="rId18"/>
    <p:sldId id="559" r:id="rId19"/>
  </p:sldIdLst>
  <p:sldSz cx="9144000" cy="5143500" type="screen16x9"/>
  <p:notesSz cx="6797675" cy="9925050"/>
  <p:custDataLst>
    <p:tags r:id="rId21"/>
  </p:custDataLst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97">
          <p15:clr>
            <a:srgbClr val="A4A3A4"/>
          </p15:clr>
        </p15:guide>
        <p15:guide id="2" pos="28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70C0"/>
    <a:srgbClr val="F5F5F5"/>
    <a:srgbClr val="FF6600"/>
    <a:srgbClr val="215F27"/>
    <a:srgbClr val="E8E18A"/>
    <a:srgbClr val="FF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39" autoAdjust="0"/>
    <p:restoredTop sz="95212" autoAdjust="0"/>
  </p:normalViewPr>
  <p:slideViewPr>
    <p:cSldViewPr>
      <p:cViewPr varScale="1">
        <p:scale>
          <a:sx n="114" d="100"/>
          <a:sy n="114" d="100"/>
        </p:scale>
        <p:origin x="518" y="82"/>
      </p:cViewPr>
      <p:guideLst>
        <p:guide orient="horz" pos="1597"/>
        <p:guide pos="281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1" d="100"/>
        <a:sy n="151" d="100"/>
      </p:scale>
      <p:origin x="0" y="83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C2BE1-30B0-4BFF-86E2-B29499CC183C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4F346-9435-41B1-AD1D-461963F20B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1597821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6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horz" lIns="68571" tIns="34285" rIns="68571" bIns="34285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E68D8-C826-458C-B183-20281108C25D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360" y="1059815"/>
            <a:ext cx="5064125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5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算数运算符</a:t>
            </a: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7745730" y="1851660"/>
            <a:ext cx="7924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朱龙雨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运算符的概念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0875" y="1130935"/>
            <a:ext cx="57638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运算符故名思意，就是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程序中用于运算的符号。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50875" y="1833880"/>
            <a:ext cx="56692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当然，这里的运算并不是狭义的数学计算、加减乘除。</a:t>
            </a:r>
          </a:p>
          <a:p>
            <a:pPr algn="l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中除了数学计算还有许多分类的运算符。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50875" y="2813685"/>
            <a:ext cx="63550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如：</a:t>
            </a:r>
          </a:p>
          <a:p>
            <a:pPr algn="l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比较运算符、赋值运算符、成员运算符、逻辑运算符。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50875" y="3793490"/>
            <a:ext cx="5212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不过，我们今天还是从最熟悉的</a:t>
            </a: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算数运算符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讲起。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8" grpId="0"/>
      <p:bldP spid="8" grpId="1"/>
      <p:bldP spid="9" grpId="0"/>
      <p:bldP spid="9" grpId="1"/>
      <p:bldP spid="10" grpId="0"/>
      <p:bldP spid="10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Python</a:t>
            </a:r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数据类型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0875" y="1130935"/>
            <a:ext cx="621474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但在真正讲解之前，我们还需要回顾一下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数据类型。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50875" y="1838325"/>
            <a:ext cx="822896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在我们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P0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已学的知识中，我们学习了四种数据类型。今天我们来总结归纳一下。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50875" y="2545715"/>
            <a:ext cx="62604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第一种，也就是我们最先开始了解的字符串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(str)—</a:t>
            </a:r>
            <a:r>
              <a:rPr lang="en-US" altLang="zh-CN" sz="1800">
                <a:ea typeface="宋体" panose="02010600030101010101" pitchFamily="2" charset="-122"/>
                <a:cs typeface="+mn-lt"/>
              </a:rPr>
              <a:t>’a’,’</a:t>
            </a:r>
            <a:r>
              <a:rPr lang="zh-CN" altLang="en-US" sz="1800">
                <a:ea typeface="宋体" panose="02010600030101010101" pitchFamily="2" charset="-122"/>
                <a:cs typeface="+mn-lt"/>
              </a:rPr>
              <a:t>你好</a:t>
            </a:r>
            <a:r>
              <a:rPr lang="en-US" altLang="zh-CN" sz="1800">
                <a:ea typeface="宋体" panose="02010600030101010101" pitchFamily="2" charset="-122"/>
                <a:cs typeface="+mn-lt"/>
              </a:rPr>
              <a:t>’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50875" y="3253105"/>
            <a:ext cx="74980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字符串这种数据类型的特点就是带有引号，无论是双引号，还是单引号，</a:t>
            </a:r>
          </a:p>
          <a:p>
            <a:pPr algn="l"/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只要带上了引号，就一定是字符串。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8" grpId="0"/>
      <p:bldP spid="8" grpId="1"/>
      <p:bldP spid="9" grpId="0"/>
      <p:bldP spid="9" grpId="1"/>
      <p:bldP spid="3" grpId="0"/>
      <p:bldP spid="3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Python</a:t>
            </a:r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数据类型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4365" y="1130935"/>
            <a:ext cx="6355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第二种、第三种呢，他们都属于数字类型，但又有一些不同。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34365" y="1767840"/>
            <a:ext cx="319214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第二种，整型（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—10,0,5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61670" y="2404745"/>
            <a:ext cx="62604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属于整型的数字无一例外都是整数，它们整整齐齐，没有一点散乱的小数。整型没有小数与小数点。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34365" y="3318510"/>
            <a:ext cx="40608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第三种，浮点型（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float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—1.0,5.8,0.0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34365" y="3955415"/>
            <a:ext cx="79552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属于浮点型的数字正好与整型相反，它们一点会包含小数，哪怕是实在没有，</a:t>
            </a:r>
          </a:p>
          <a:p>
            <a:pPr algn="l"/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也要强行加上个</a:t>
            </a:r>
            <a:r>
              <a:rPr lang="en-US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.0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来表明自己的身份。浮点数一定有小数点和小数。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8" grpId="0"/>
      <p:bldP spid="8" grpId="1"/>
      <p:bldP spid="9" grpId="0"/>
      <p:bldP spid="9" grpId="1"/>
      <p:bldP spid="3" grpId="0"/>
      <p:bldP spid="3" grpId="1"/>
      <p:bldP spid="10" grpId="0"/>
      <p:bldP spid="10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Python</a:t>
            </a:r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数据类型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4365" y="1130935"/>
            <a:ext cx="3611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最后一种，就是我们的布尔型了。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34365" y="1698625"/>
            <a:ext cx="33007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布尔型（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bool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—True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False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34365" y="2266315"/>
            <a:ext cx="62604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布尔型内部只有两种值，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True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False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，也就是真与假，当要注意，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true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false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可不是布尔型。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要大写。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34365" y="3110865"/>
            <a:ext cx="63550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到这我们的四种已知的数据类型就总结完成了，当然这些只是</a:t>
            </a:r>
          </a:p>
          <a:p>
            <a:pPr algn="l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所有数据类型中的几个。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34365" y="3955415"/>
            <a:ext cx="554926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字符串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(str)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、整型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(int)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、浮点型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(float)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、布尔型</a:t>
            </a:r>
            <a:r>
              <a:rPr lang="en-US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(bool)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8" grpId="0"/>
      <p:bldP spid="8" grpId="1"/>
      <p:bldP spid="9" grpId="0"/>
      <p:bldP spid="9" grpId="1"/>
      <p:bldP spid="3" grpId="0"/>
      <p:bldP spid="3" grpId="1"/>
      <p:bldP spid="10" grpId="0"/>
      <p:bldP spid="10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算数运算符</a:t>
            </a: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算数运算符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55600" y="3113405"/>
            <a:ext cx="161734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算数运算符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2140" y="1125220"/>
            <a:ext cx="425132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/>
              <a:t>算数运算符由哪几个运算符构成？</a:t>
            </a:r>
          </a:p>
        </p:txBody>
      </p:sp>
      <p:sp>
        <p:nvSpPr>
          <p:cNvPr id="26" name="矩形 25"/>
          <p:cNvSpPr/>
          <p:nvPr/>
        </p:nvSpPr>
        <p:spPr>
          <a:xfrm>
            <a:off x="2556510" y="1646219"/>
            <a:ext cx="1155374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schemeClr val="tx1"/>
                </a:solidFill>
              </a:rPr>
              <a:t>+</a:t>
            </a:r>
            <a:r>
              <a:rPr lang="zh-CN" altLang="en-US" sz="2000" dirty="0">
                <a:solidFill>
                  <a:schemeClr val="tx1"/>
                </a:solidFill>
              </a:rPr>
              <a:t>加</a:t>
            </a:r>
          </a:p>
        </p:txBody>
      </p:sp>
      <p:sp>
        <p:nvSpPr>
          <p:cNvPr id="17" name="左大括号 16"/>
          <p:cNvSpPr/>
          <p:nvPr/>
        </p:nvSpPr>
        <p:spPr>
          <a:xfrm>
            <a:off x="1764030" y="1664335"/>
            <a:ext cx="575945" cy="3334385"/>
          </a:xfrm>
          <a:prstGeom prst="leftBrac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2556510" y="2147869"/>
            <a:ext cx="1066800" cy="3981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tx1"/>
                </a:solidFill>
              </a:rPr>
              <a:t>- </a:t>
            </a:r>
            <a:r>
              <a:rPr lang="zh-CN" altLang="en-US" sz="2000" dirty="0">
                <a:solidFill>
                  <a:schemeClr val="tx1"/>
                </a:solidFill>
              </a:rPr>
              <a:t>减</a:t>
            </a:r>
          </a:p>
        </p:txBody>
      </p:sp>
      <p:sp>
        <p:nvSpPr>
          <p:cNvPr id="28" name="矩形 27"/>
          <p:cNvSpPr/>
          <p:nvPr/>
        </p:nvSpPr>
        <p:spPr>
          <a:xfrm>
            <a:off x="2556510" y="2648884"/>
            <a:ext cx="225171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tx1"/>
                </a:solidFill>
              </a:rPr>
              <a:t>* </a:t>
            </a:r>
            <a:r>
              <a:rPr lang="zh-CN" altLang="en-US" sz="2000" dirty="0">
                <a:solidFill>
                  <a:schemeClr val="tx1"/>
                </a:solidFill>
              </a:rPr>
              <a:t>乘</a:t>
            </a:r>
          </a:p>
        </p:txBody>
      </p:sp>
      <p:sp>
        <p:nvSpPr>
          <p:cNvPr id="29" name="矩形 28"/>
          <p:cNvSpPr/>
          <p:nvPr/>
        </p:nvSpPr>
        <p:spPr>
          <a:xfrm>
            <a:off x="2556510" y="3150534"/>
            <a:ext cx="195897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schemeClr val="tx1"/>
                </a:solidFill>
              </a:rPr>
              <a:t>/ </a:t>
            </a:r>
            <a:r>
              <a:rPr lang="zh-CN" altLang="en-US" sz="2000" dirty="0">
                <a:solidFill>
                  <a:schemeClr val="tx1"/>
                </a:solidFill>
              </a:rPr>
              <a:t>除</a:t>
            </a:r>
          </a:p>
        </p:txBody>
      </p:sp>
      <p:sp>
        <p:nvSpPr>
          <p:cNvPr id="2" name="矩形 1"/>
          <p:cNvSpPr/>
          <p:nvPr/>
        </p:nvSpPr>
        <p:spPr>
          <a:xfrm>
            <a:off x="2556510" y="3652184"/>
            <a:ext cx="1155374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//</a:t>
            </a:r>
            <a:r>
              <a:rPr lang="zh-CN" sz="2000" dirty="0">
                <a:solidFill>
                  <a:schemeClr val="tx1"/>
                </a:solidFill>
              </a:rPr>
              <a:t> 整除</a:t>
            </a:r>
          </a:p>
        </p:txBody>
      </p:sp>
      <p:sp>
        <p:nvSpPr>
          <p:cNvPr id="3" name="矩形 2"/>
          <p:cNvSpPr/>
          <p:nvPr/>
        </p:nvSpPr>
        <p:spPr>
          <a:xfrm>
            <a:off x="2556510" y="4153834"/>
            <a:ext cx="181292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tx1"/>
                </a:solidFill>
              </a:rPr>
              <a:t>% </a:t>
            </a:r>
            <a:r>
              <a:rPr lang="zh-CN" altLang="en-US" sz="2000" dirty="0">
                <a:solidFill>
                  <a:schemeClr val="tx1"/>
                </a:solidFill>
              </a:rPr>
              <a:t>取模（取余</a:t>
            </a:r>
            <a:r>
              <a:rPr lang="en-US" altLang="en-US" sz="2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8" name="矩形 7"/>
          <p:cNvSpPr/>
          <p:nvPr/>
        </p:nvSpPr>
        <p:spPr>
          <a:xfrm>
            <a:off x="2556510" y="4655484"/>
            <a:ext cx="181292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schemeClr val="tx1"/>
                </a:solidFill>
              </a:rPr>
              <a:t>** </a:t>
            </a:r>
            <a:r>
              <a:rPr lang="zh-CN" altLang="en-US" sz="2000" dirty="0">
                <a:solidFill>
                  <a:schemeClr val="tx1"/>
                </a:solidFill>
              </a:rPr>
              <a:t>幂运算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26" grpId="0"/>
      <p:bldP spid="17" grpId="0" bldLvl="0" animBg="1"/>
      <p:bldP spid="27" grpId="0"/>
      <p:bldP spid="28" grpId="0"/>
      <p:bldP spid="29" grpId="0"/>
      <p:bldP spid="2" grpId="0"/>
      <p:bldP spid="3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加、减运算符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39140" y="987425"/>
            <a:ext cx="113347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运算符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39140" y="1442085"/>
            <a:ext cx="22713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整型的相加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:7+3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39140" y="1993265"/>
            <a:ext cx="31159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浮点型的相加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:7.5+2.5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739140" y="2544445"/>
            <a:ext cx="36747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字符串的相加：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‘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你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’+’</a:t>
            </a: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好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’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739140" y="3095625"/>
            <a:ext cx="36747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布尔型的相加：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True+False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956175" y="970915"/>
            <a:ext cx="105473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运算符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4956175" y="1425575"/>
            <a:ext cx="22713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整型的相减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:7-3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4956175" y="1976755"/>
            <a:ext cx="31159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浮点型的相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减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:7.5-2.5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4956175" y="3079115"/>
            <a:ext cx="36747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布尔型的相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减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True-False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661670" y="4299585"/>
            <a:ext cx="667385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布尔值在进行算数运算时，True和False会自动转化为1和0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661670" y="3852545"/>
            <a:ext cx="595947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字符串进行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运算时，会把两个字符串连接在一起。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乘、除运算符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39140" y="987425"/>
            <a:ext cx="106045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运算符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39140" y="1442085"/>
            <a:ext cx="22713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整型的相乘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:7*3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39140" y="1993265"/>
            <a:ext cx="31159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浮点型的相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乘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:7.0*2.5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739140" y="2544445"/>
            <a:ext cx="36747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字符串的相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乘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‘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你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’* 5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739140" y="3095625"/>
            <a:ext cx="36747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布尔型的相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乘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True*False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661670" y="4139565"/>
            <a:ext cx="65100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字符串进行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运算时，会将字符串输出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运算符后的次数。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812665" y="1042670"/>
            <a:ext cx="105346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运算符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812665" y="1497330"/>
            <a:ext cx="22713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整型的相除</a:t>
            </a:r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:7/3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812665" y="2048510"/>
            <a:ext cx="31159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浮点型的相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除</a:t>
            </a:r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:7.0/2.5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812665" y="3150870"/>
            <a:ext cx="36747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布尔型的相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除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True/False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取余、整除运算符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39140" y="987425"/>
            <a:ext cx="117094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运算符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39140" y="1442085"/>
            <a:ext cx="22713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整型的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取余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:7%3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39140" y="1993265"/>
            <a:ext cx="31159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浮点型的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取余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:7.0%2.5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739140" y="2521585"/>
            <a:ext cx="36747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布尔型的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取余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True%False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661670" y="4139565"/>
            <a:ext cx="345694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%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运算时，会求出整除的余数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812665" y="1042670"/>
            <a:ext cx="116205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运算符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812665" y="1497330"/>
            <a:ext cx="22713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整型的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整除</a:t>
            </a:r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:7//3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812665" y="2048510"/>
            <a:ext cx="31159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浮点型的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整除</a:t>
            </a:r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:7.0//2.5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812665" y="2576830"/>
            <a:ext cx="36747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布尔型的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整除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True//False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591685" y="4123055"/>
            <a:ext cx="370205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运算时，会向下取整去掉小数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幂运算符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39140" y="987425"/>
            <a:ext cx="11760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**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运算符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39140" y="1442085"/>
            <a:ext cx="25367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整型的幂运算</a:t>
            </a:r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:7**3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39140" y="1993265"/>
            <a:ext cx="31159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浮点型的幂运算</a:t>
            </a:r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:7.0**2.0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739140" y="2521585"/>
            <a:ext cx="36747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布尔型的幂运算：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True**False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739140" y="3651885"/>
            <a:ext cx="70871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**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运算时，会将前面的数字相乘后面的次数得出最终的结果。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451E992-B5B1-B137-7267-5C5EA644CFC8}"/>
              </a:ext>
            </a:extLst>
          </p:cNvPr>
          <p:cNvSpPr txBox="1"/>
          <p:nvPr/>
        </p:nvSpPr>
        <p:spPr>
          <a:xfrm>
            <a:off x="739140" y="4201321"/>
            <a:ext cx="5766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000" b="0" i="0" dirty="0">
                <a:solidFill>
                  <a:srgbClr val="333333"/>
                </a:solidFill>
                <a:effectLst/>
                <a:latin typeface="+mn-ea"/>
              </a:rPr>
              <a:t>注</a:t>
            </a:r>
            <a:r>
              <a:rPr lang="zh-CN" altLang="en-US" sz="2000" dirty="0">
                <a:solidFill>
                  <a:srgbClr val="333333"/>
                </a:solidFill>
                <a:latin typeface="+mn-ea"/>
              </a:rPr>
              <a:t>：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+mn-ea"/>
              </a:rPr>
              <a:t>数学上规定</a:t>
            </a:r>
            <a:r>
              <a:rPr lang="zh-CN" altLang="en-US" sz="2000" b="0" i="0" dirty="0">
                <a:solidFill>
                  <a:srgbClr val="F73131"/>
                </a:solidFill>
                <a:effectLst/>
                <a:latin typeface="+mn-ea"/>
              </a:rPr>
              <a:t>任何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+mn-ea"/>
              </a:rPr>
              <a:t>除</a:t>
            </a:r>
            <a:r>
              <a:rPr lang="en-US" altLang="zh-CN" sz="2000" b="0" i="0" dirty="0">
                <a:solidFill>
                  <a:srgbClr val="F73131"/>
                </a:solidFill>
                <a:effectLst/>
                <a:latin typeface="+mn-ea"/>
              </a:rPr>
              <a:t>0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+mn-ea"/>
              </a:rPr>
              <a:t>以外的</a:t>
            </a:r>
            <a:r>
              <a:rPr lang="zh-CN" altLang="en-US" sz="2000" b="0" i="0" dirty="0">
                <a:solidFill>
                  <a:srgbClr val="F73131"/>
                </a:solidFill>
                <a:effectLst/>
                <a:latin typeface="+mn-ea"/>
              </a:rPr>
              <a:t>数的</a:t>
            </a:r>
            <a:r>
              <a:rPr lang="en-US" altLang="zh-CN" sz="2000" b="0" i="0" dirty="0">
                <a:solidFill>
                  <a:srgbClr val="F73131"/>
                </a:solidFill>
                <a:effectLst/>
                <a:latin typeface="+mn-ea"/>
              </a:rPr>
              <a:t>0</a:t>
            </a:r>
            <a:r>
              <a:rPr lang="zh-CN" altLang="en-US" sz="2000" b="0" i="0" dirty="0">
                <a:solidFill>
                  <a:srgbClr val="F73131"/>
                </a:solidFill>
                <a:effectLst/>
                <a:latin typeface="+mn-ea"/>
              </a:rPr>
              <a:t>次方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+mn-ea"/>
              </a:rPr>
              <a:t>都是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+mn-ea"/>
              </a:rPr>
              <a:t>1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+mn-ea"/>
              </a:rPr>
              <a:t>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8947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浮点型与整型</a:t>
            </a: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l"/>
            <a:r>
              <a:rPr 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浮点型与整型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2140" y="1125220"/>
            <a:ext cx="64081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/>
              <a:t>浮点型和整型都是数字，那么它们能一起进行运算吗？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61670" y="1995170"/>
            <a:ext cx="85491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浮点型是可以和整型进行运算的，而且非常关键是，只要包含了浮点型，</a:t>
            </a:r>
          </a:p>
          <a:p>
            <a:r>
              <a:rPr lang="zh-CN" altLang="en-US" sz="2000" dirty="0"/>
              <a:t>得出的结果一定是浮点型。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16915" y="2911475"/>
            <a:ext cx="839158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那么，只有整数类型没有浮点型的结果就一定是整数类型吗？其实也不一定，比如我们又一个</a:t>
            </a:r>
          </a:p>
          <a:p>
            <a:r>
              <a:rPr lang="zh-CN" altLang="en-US" sz="2000" dirty="0"/>
              <a:t>特殊的例子，那就是除法运算。除法运算中的结果一定是浮点型，</a:t>
            </a:r>
          </a:p>
          <a:p>
            <a:r>
              <a:rPr lang="zh-CN" altLang="en-US" sz="2000" dirty="0"/>
              <a:t>无论是否包含浮点型。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8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算数运算符优先级</a:t>
            </a: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l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算数运算符优先级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2140" y="1125220"/>
            <a:ext cx="771969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/>
              <a:t>数学上，我们要先乘除后加减，那么</a:t>
            </a:r>
            <a:r>
              <a:rPr lang="en-US" altLang="zh-CN" sz="2000" dirty="0"/>
              <a:t>Python</a:t>
            </a:r>
            <a:r>
              <a:rPr lang="zh-CN" altLang="en-US" sz="2000" dirty="0"/>
              <a:t>中也是存在着优先级。</a:t>
            </a:r>
          </a:p>
        </p:txBody>
      </p:sp>
      <p:sp>
        <p:nvSpPr>
          <p:cNvPr id="2" name="矩形 1"/>
          <p:cNvSpPr/>
          <p:nvPr/>
        </p:nvSpPr>
        <p:spPr>
          <a:xfrm>
            <a:off x="612140" y="1895475"/>
            <a:ext cx="205422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tx1"/>
                </a:solidFill>
              </a:rPr>
              <a:t>三</a:t>
            </a:r>
            <a:r>
              <a:rPr lang="en-US" altLang="zh-CN" sz="2000" dirty="0">
                <a:solidFill>
                  <a:schemeClr val="tx1"/>
                </a:solidFill>
              </a:rPr>
              <a:t>     </a:t>
            </a:r>
            <a:r>
              <a:rPr lang="en-US" altLang="en-US" sz="2000" dirty="0">
                <a:solidFill>
                  <a:schemeClr val="tx1"/>
                </a:solidFill>
              </a:rPr>
              <a:t>+</a:t>
            </a:r>
            <a:r>
              <a:rPr lang="zh-CN" altLang="en-US" sz="2000" dirty="0">
                <a:solidFill>
                  <a:schemeClr val="tx1"/>
                </a:solidFill>
              </a:rPr>
              <a:t>加、</a:t>
            </a:r>
            <a:r>
              <a:rPr lang="en-US" altLang="zh-CN" sz="2000" dirty="0">
                <a:sym typeface="+mn-ea"/>
              </a:rPr>
              <a:t>- </a:t>
            </a:r>
            <a:r>
              <a:rPr lang="zh-CN" altLang="en-US" sz="2000" dirty="0">
                <a:sym typeface="+mn-ea"/>
              </a:rPr>
              <a:t>减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612140" y="2665730"/>
            <a:ext cx="480314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tx1"/>
                </a:solidFill>
              </a:rPr>
              <a:t>二</a:t>
            </a:r>
            <a:r>
              <a:rPr lang="en-US" altLang="zh-CN" sz="2000" dirty="0">
                <a:solidFill>
                  <a:schemeClr val="tx1"/>
                </a:solidFill>
              </a:rPr>
              <a:t>     * </a:t>
            </a:r>
            <a:r>
              <a:rPr lang="zh-CN" altLang="en-US" sz="2000" dirty="0">
                <a:solidFill>
                  <a:schemeClr val="tx1"/>
                </a:solidFill>
              </a:rPr>
              <a:t>乘、</a:t>
            </a:r>
            <a:r>
              <a:rPr lang="en-US" altLang="en-US" sz="2000" dirty="0">
                <a:sym typeface="+mn-ea"/>
              </a:rPr>
              <a:t>/ </a:t>
            </a:r>
            <a:r>
              <a:rPr lang="zh-CN" altLang="en-US" sz="2000" dirty="0">
                <a:sym typeface="+mn-ea"/>
              </a:rPr>
              <a:t>除、</a:t>
            </a:r>
            <a:r>
              <a:rPr lang="en-US" sz="2000" dirty="0">
                <a:sym typeface="+mn-ea"/>
              </a:rPr>
              <a:t>//</a:t>
            </a:r>
            <a:r>
              <a:rPr lang="zh-CN" sz="2000" dirty="0">
                <a:sym typeface="+mn-ea"/>
              </a:rPr>
              <a:t> 整除、</a:t>
            </a:r>
            <a:r>
              <a:rPr lang="en-US" altLang="zh-CN" sz="2000" dirty="0">
                <a:sym typeface="+mn-ea"/>
              </a:rPr>
              <a:t>% </a:t>
            </a:r>
            <a:r>
              <a:rPr lang="zh-CN" altLang="en-US" sz="2000" dirty="0">
                <a:sym typeface="+mn-ea"/>
              </a:rPr>
              <a:t>取模（取余</a:t>
            </a:r>
            <a:r>
              <a:rPr lang="en-US" altLang="en-US" sz="2000" dirty="0">
                <a:sym typeface="+mn-ea"/>
              </a:rPr>
              <a:t>)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2140" y="3435985"/>
            <a:ext cx="293497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tx1"/>
                </a:solidFill>
              </a:rPr>
              <a:t>一</a:t>
            </a:r>
            <a:r>
              <a:rPr lang="en-US" altLang="zh-CN" sz="2000" dirty="0">
                <a:solidFill>
                  <a:schemeClr val="tx1"/>
                </a:solidFill>
              </a:rPr>
              <a:t>     </a:t>
            </a:r>
            <a:r>
              <a:rPr lang="en-US" altLang="en-US" sz="2000" dirty="0">
                <a:solidFill>
                  <a:schemeClr val="tx1"/>
                </a:solidFill>
              </a:rPr>
              <a:t>** </a:t>
            </a:r>
            <a:r>
              <a:rPr lang="zh-CN" altLang="en-US" sz="2000" dirty="0">
                <a:solidFill>
                  <a:schemeClr val="tx1"/>
                </a:solidFill>
              </a:rPr>
              <a:t>幂运算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" grpId="0"/>
      <p:bldP spid="28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l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算数运算符优先级练习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2670" y="1029335"/>
            <a:ext cx="17583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5%10**2=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042670" y="1597025"/>
            <a:ext cx="17583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15**1%10/5=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042670" y="2164715"/>
            <a:ext cx="17583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8*5+4=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042670" y="2732405"/>
            <a:ext cx="17583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9%10**2=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042670" y="3300095"/>
            <a:ext cx="17583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15*2%10//4=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042670" y="3867785"/>
            <a:ext cx="17583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14/5%3+4=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187950" y="1021080"/>
            <a:ext cx="17583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(2*4)**2//5=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187950" y="1586865"/>
            <a:ext cx="21203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(15*3)%10/5=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187950" y="2152650"/>
            <a:ext cx="22643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((8-4)*3)**2%2=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187950" y="2718435"/>
            <a:ext cx="17583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9%(10-2)**2=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5187950" y="3284220"/>
            <a:ext cx="17583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5*(7//3)%4=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5187950" y="3850005"/>
            <a:ext cx="17583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14-(5%3)**2=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40E9A33-715D-1D7E-B506-07634FE4CC98}"/>
              </a:ext>
            </a:extLst>
          </p:cNvPr>
          <p:cNvSpPr txBox="1"/>
          <p:nvPr/>
        </p:nvSpPr>
        <p:spPr>
          <a:xfrm>
            <a:off x="2195736" y="1021080"/>
            <a:ext cx="17583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5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D422EE7-B409-13C1-14D0-1E2301DAE074}"/>
              </a:ext>
            </a:extLst>
          </p:cNvPr>
          <p:cNvSpPr txBox="1"/>
          <p:nvPr/>
        </p:nvSpPr>
        <p:spPr>
          <a:xfrm>
            <a:off x="2555776" y="1596906"/>
            <a:ext cx="17583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1.0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57B6B75-4AE7-6B77-9B14-65038DC59CC9}"/>
              </a:ext>
            </a:extLst>
          </p:cNvPr>
          <p:cNvSpPr txBox="1"/>
          <p:nvPr/>
        </p:nvSpPr>
        <p:spPr>
          <a:xfrm>
            <a:off x="1907704" y="2164477"/>
            <a:ext cx="17583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44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65AE5C7-BA27-1E67-1BB0-FF60D0177402}"/>
              </a:ext>
            </a:extLst>
          </p:cNvPr>
          <p:cNvSpPr txBox="1"/>
          <p:nvPr/>
        </p:nvSpPr>
        <p:spPr>
          <a:xfrm>
            <a:off x="2195735" y="2731929"/>
            <a:ext cx="17583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9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CE1184C-E646-14C5-344F-1FBF48D37839}"/>
              </a:ext>
            </a:extLst>
          </p:cNvPr>
          <p:cNvSpPr txBox="1"/>
          <p:nvPr/>
        </p:nvSpPr>
        <p:spPr>
          <a:xfrm>
            <a:off x="2521245" y="3300095"/>
            <a:ext cx="17583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0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7DFB100-55D7-CFDC-E048-053724F102D1}"/>
              </a:ext>
            </a:extLst>
          </p:cNvPr>
          <p:cNvSpPr txBox="1"/>
          <p:nvPr/>
        </p:nvSpPr>
        <p:spPr>
          <a:xfrm>
            <a:off x="2339752" y="3866952"/>
            <a:ext cx="17583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6.8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F8AB639-C103-F925-38D4-B0A85C5606F7}"/>
              </a:ext>
            </a:extLst>
          </p:cNvPr>
          <p:cNvSpPr txBox="1"/>
          <p:nvPr/>
        </p:nvSpPr>
        <p:spPr>
          <a:xfrm>
            <a:off x="6516216" y="1017868"/>
            <a:ext cx="17583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12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00946D6-2464-EC98-AAFD-867EA9793487}"/>
              </a:ext>
            </a:extLst>
          </p:cNvPr>
          <p:cNvSpPr txBox="1"/>
          <p:nvPr/>
        </p:nvSpPr>
        <p:spPr>
          <a:xfrm>
            <a:off x="6804248" y="1582323"/>
            <a:ext cx="17583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1.0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64A9436-CAA5-C048-B74B-3691B99167E2}"/>
              </a:ext>
            </a:extLst>
          </p:cNvPr>
          <p:cNvSpPr txBox="1"/>
          <p:nvPr/>
        </p:nvSpPr>
        <p:spPr>
          <a:xfrm>
            <a:off x="7020272" y="2143566"/>
            <a:ext cx="17583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0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66F14C3-D678-EA19-AA69-2510C8148D2B}"/>
              </a:ext>
            </a:extLst>
          </p:cNvPr>
          <p:cNvSpPr txBox="1"/>
          <p:nvPr/>
        </p:nvSpPr>
        <p:spPr>
          <a:xfrm>
            <a:off x="6732240" y="2718435"/>
            <a:ext cx="17583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9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6A682CB-C9D6-84D6-38D1-2B5F6C741B5A}"/>
              </a:ext>
            </a:extLst>
          </p:cNvPr>
          <p:cNvSpPr txBox="1"/>
          <p:nvPr/>
        </p:nvSpPr>
        <p:spPr>
          <a:xfrm>
            <a:off x="6544017" y="3284220"/>
            <a:ext cx="17583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2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10ADEF4-643F-422D-0BEB-F6C3BF1523FD}"/>
              </a:ext>
            </a:extLst>
          </p:cNvPr>
          <p:cNvSpPr txBox="1"/>
          <p:nvPr/>
        </p:nvSpPr>
        <p:spPr>
          <a:xfrm>
            <a:off x="6732239" y="3850005"/>
            <a:ext cx="17583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  <p:bldP spid="24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三位数取个位十位百位</a:t>
            </a: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4203" y="338867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l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三位数取个位十位百位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1670" y="1203325"/>
            <a:ext cx="30359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三位数取个位：</a:t>
            </a:r>
            <a:r>
              <a:rPr lang="en-US" altLang="zh-CN" sz="2000" dirty="0"/>
              <a:t>369%10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61670" y="1940560"/>
            <a:ext cx="3624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三位数取十位：</a:t>
            </a:r>
            <a:r>
              <a:rPr lang="en-US" altLang="zh-CN" sz="2000"/>
              <a:t>369//10%10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61670" y="2677795"/>
            <a:ext cx="3624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三位数取百位：</a:t>
            </a:r>
            <a:r>
              <a:rPr lang="en-US" altLang="zh-CN" sz="2000"/>
              <a:t>369//100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908175" y="3651885"/>
            <a:ext cx="5316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/>
              <a:t>其他位数也是三位数大同小异，同学们思考一下。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76ce7ccbcda6cf12636bdb4ab607c4c83d474"/>
  <p:tag name="COMMONDATA" val="eyJoZGlkIjoiNzE1MTRiZGNmZGQyODMxZWY5ZTk1Nzk2OTA5ZmQ2YzIifQ=="/>
</p:tagLst>
</file>

<file path=ppt/theme/theme1.xml><?xml version="1.0" encoding="utf-8"?>
<a:theme xmlns:a="http://schemas.openxmlformats.org/drawingml/2006/main" name="Office 主题​​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00B0F0"/>
      </a:accent2>
      <a:accent3>
        <a:srgbClr val="0070C0"/>
      </a:accent3>
      <a:accent4>
        <a:srgbClr val="00B0F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998</Words>
  <Application>Microsoft Office PowerPoint</Application>
  <PresentationFormat>全屏显示(16:9)</PresentationFormat>
  <Paragraphs>147</Paragraphs>
  <Slides>18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4" baseType="lpstr">
      <vt:lpstr>HandelGotDLig</vt:lpstr>
      <vt:lpstr>思源黑体 CN Normal</vt:lpstr>
      <vt:lpstr>微软雅黑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1012</dc:title>
  <dc:creator>admin</dc:creator>
  <cp:lastModifiedBy>hp</cp:lastModifiedBy>
  <cp:revision>482</cp:revision>
  <cp:lastPrinted>2000-12-31T21:09:00Z</cp:lastPrinted>
  <dcterms:created xsi:type="dcterms:W3CDTF">2015-11-10T12:01:00Z</dcterms:created>
  <dcterms:modified xsi:type="dcterms:W3CDTF">2023-05-06T02:26:38Z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7F75B25E592D4627B2A0ADE08B9E533A</vt:lpwstr>
  </property>
  <property fmtid="{D5CDD505-2E9C-101B-9397-08002B2CF9AE}" pid="3" name="KSOProductBuildVer">
    <vt:lpwstr>2052-11.1.0.12358</vt:lpwstr>
  </property>
</Properties>
</file>