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2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485" r:id="rId2"/>
    <p:sldId id="497" r:id="rId3"/>
    <p:sldId id="588" r:id="rId4"/>
    <p:sldId id="589" r:id="rId5"/>
    <p:sldId id="317" r:id="rId6"/>
    <p:sldId id="605" r:id="rId7"/>
    <p:sldId id="604" r:id="rId8"/>
    <p:sldId id="578" r:id="rId9"/>
    <p:sldId id="618" r:id="rId10"/>
    <p:sldId id="591" r:id="rId11"/>
    <p:sldId id="592" r:id="rId12"/>
    <p:sldId id="593" r:id="rId13"/>
    <p:sldId id="548" r:id="rId14"/>
    <p:sldId id="580" r:id="rId15"/>
    <p:sldId id="629" r:id="rId16"/>
    <p:sldId id="631" r:id="rId17"/>
    <p:sldId id="550" r:id="rId18"/>
  </p:sldIdLst>
  <p:sldSz cx="9144000" cy="5143500" type="screen16x9"/>
  <p:notesSz cx="6797675" cy="9925050"/>
  <p:custDataLst>
    <p:tags r:id="rId20"/>
  </p:custDataLst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30">
          <p15:clr>
            <a:srgbClr val="A4A3A4"/>
          </p15:clr>
        </p15:guide>
        <p15:guide id="2" pos="28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70C0"/>
    <a:srgbClr val="F5F5F5"/>
    <a:srgbClr val="FF6600"/>
    <a:srgbClr val="215F27"/>
    <a:srgbClr val="E8E18A"/>
    <a:srgbClr val="FF5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39" autoAdjust="0"/>
    <p:restoredTop sz="95212" autoAdjust="0"/>
  </p:normalViewPr>
  <p:slideViewPr>
    <p:cSldViewPr>
      <p:cViewPr varScale="1">
        <p:scale>
          <a:sx n="114" d="100"/>
          <a:sy n="114" d="100"/>
        </p:scale>
        <p:origin x="518" y="82"/>
      </p:cViewPr>
      <p:guideLst>
        <p:guide orient="horz" pos="1630"/>
        <p:guide pos="281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1" d="100"/>
        <a:sy n="151" d="100"/>
      </p:scale>
      <p:origin x="0" y="83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C2BE1-30B0-4BFF-86E2-B29499CC183C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4399"/>
            <a:ext cx="5438140" cy="446627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4F346-9435-41B1-AD1D-461963F20B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1" y="1597821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1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4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4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6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horz" lIns="68571" tIns="34285" rIns="68571" bIns="34285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E68D8-C826-458C-B183-20281108C25D}" type="datetimeFigureOut">
              <a:rPr lang="zh-CN" altLang="en-US" smtClean="0"/>
              <a:t>2023/5/8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463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360" y="1059815"/>
            <a:ext cx="5064125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5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for</a:t>
            </a:r>
            <a:r>
              <a:rPr lang="zh-CN" altLang="en-US" sz="35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循环</a:t>
            </a: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循环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0875" y="1130935"/>
            <a:ext cx="772922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循环，我们已经学过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while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循环，大家还记得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while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循环又叫做什么循环吗？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50875" y="1925955"/>
            <a:ext cx="78422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while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循环又被称之为条件循环，故名思意，当条件满足时，循环便会成立。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50875" y="2720975"/>
            <a:ext cx="792543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我们今天讲解的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for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循环，它和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while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循环不太一样的。它的别名叫做计数循环</a:t>
            </a:r>
          </a:p>
          <a:p>
            <a:pPr algn="l"/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或者迭代循环。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50875" y="3792855"/>
            <a:ext cx="4754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从名字中，能否看出，我们这循环的含义呢？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8" grpId="0"/>
      <p:bldP spid="8" grpId="1"/>
      <p:bldP spid="9" grpId="0"/>
      <p:bldP spid="9" grpId="1"/>
      <p:bldP spid="10" grpId="0"/>
      <p:bldP spid="10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循环格式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0875" y="1130935"/>
            <a:ext cx="65214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我们了解了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for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循环的含义后，我们来了解一下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for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循环的格式。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50875" y="1746250"/>
            <a:ext cx="187007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for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变量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in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序列</a:t>
            </a:r>
            <a:r>
              <a:rPr lang="en-US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</a:t>
            </a:r>
          </a:p>
          <a:p>
            <a:pPr algn="l"/>
            <a:r>
              <a:rPr lang="en-US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执行语句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50875" y="2638425"/>
            <a:ext cx="62604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这个变量我们也需要符合变量的命名规则。</a:t>
            </a:r>
            <a:endParaRPr lang="en-US" altLang="zh-CN" sz="1800">
              <a:ea typeface="宋体" panose="02010600030101010101" pitchFamily="2" charset="-122"/>
              <a:cs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50875" y="3253740"/>
            <a:ext cx="269049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例子：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for i in [1,2,3,4,5]</a:t>
            </a:r>
          </a:p>
          <a:p>
            <a:pPr algn="l"/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print(i)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8" grpId="0"/>
      <p:bldP spid="8" grpId="1"/>
      <p:bldP spid="9" grpId="0"/>
      <p:bldP spid="9" grpId="1"/>
      <p:bldP spid="3" grpId="0"/>
      <p:bldP spid="3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循环语句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4365" y="1130935"/>
            <a:ext cx="4297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我们来写几个循环相关的语句练习一下。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34365" y="1859915"/>
            <a:ext cx="209486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for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循环配合列表。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34365" y="2588895"/>
            <a:ext cx="62604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for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循环配合字符串。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34365" y="3317875"/>
            <a:ext cx="209486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for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循环配合字典。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8" grpId="0"/>
      <p:bldP spid="8" grpId="1"/>
      <p:bldP spid="9" grpId="0"/>
      <p:bldP spid="9" grpId="1"/>
      <p:bldP spid="3" grpId="0"/>
      <p:bldP spid="3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break</a:t>
            </a:r>
            <a:r>
              <a:rPr lang="zh-CN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continue</a:t>
            </a: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break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4365" y="1130935"/>
            <a:ext cx="781050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break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continue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那节课中，我们学会了如何使用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while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语句的相关使用。</a:t>
            </a:r>
          </a:p>
          <a:p>
            <a:pPr algn="l"/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但是还没有配合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for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循环进行过练习。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165" y="2054225"/>
            <a:ext cx="6438900" cy="27666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break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4365" y="1130935"/>
            <a:ext cx="781050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break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continue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那节课中，我们学会了如何使用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while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语句的相关使用。</a:t>
            </a:r>
          </a:p>
          <a:p>
            <a:pPr algn="l"/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但是还没有配合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for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循环进行过练习。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940" y="1923415"/>
            <a:ext cx="6370955" cy="27876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continue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89915" y="988060"/>
            <a:ext cx="78644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而对于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continue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for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循环则没有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while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那么复杂。我们具体来看一下。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305" y="1483360"/>
            <a:ext cx="6691630" cy="31273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continue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89915" y="988060"/>
            <a:ext cx="78644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而对于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continue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for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循环则没有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while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那么复杂。我们具体来看一下。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390" y="1503045"/>
            <a:ext cx="5991225" cy="284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for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循环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74370" y="3005455"/>
            <a:ext cx="76511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在完成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for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break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continue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相关的练习后，我们来稍微练习一下。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range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函数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39939" name="Picture 1" descr="C:\Users\Administrator\AppData\Roaming\Tencent\Users\958007736\QQ\WinTemp\RichOle\%8XF(K9{][@4(PSP0](Z2(C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rcRect t="1865"/>
          <a:stretch>
            <a:fillRect/>
          </a:stretch>
        </p:blipFill>
        <p:spPr>
          <a:xfrm>
            <a:off x="1259205" y="982980"/>
            <a:ext cx="6212840" cy="394271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range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函数练习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83260" y="915670"/>
            <a:ext cx="2488565" cy="40925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>
              <a:lnSpc>
                <a:spcPct val="130000"/>
              </a:lnSpc>
              <a:buClrTx/>
              <a:buSzTx/>
              <a:buFontTx/>
              <a:buAutoNum type="arabicPeriod"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range(1,10,3)</a:t>
            </a:r>
          </a:p>
          <a:p>
            <a:pPr marL="457200" indent="-457200" algn="l">
              <a:lnSpc>
                <a:spcPct val="130000"/>
              </a:lnSpc>
              <a:buClrTx/>
              <a:buSzTx/>
              <a:buFontTx/>
              <a:buAutoNum type="arabicPeriod"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range(2,5,3)</a:t>
            </a:r>
          </a:p>
          <a:p>
            <a:pPr marL="457200" indent="-457200" algn="l">
              <a:lnSpc>
                <a:spcPct val="130000"/>
              </a:lnSpc>
              <a:buClrTx/>
              <a:buSzTx/>
              <a:buFontTx/>
              <a:buAutoNum type="arabicPeriod"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range(-10,0,4)</a:t>
            </a:r>
          </a:p>
          <a:p>
            <a:pPr marL="457200" indent="-457200" algn="l">
              <a:lnSpc>
                <a:spcPct val="130000"/>
              </a:lnSpc>
              <a:buClrTx/>
              <a:buSzTx/>
              <a:buFontTx/>
              <a:buAutoNum type="arabicPeriod"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range(10,-10,5)</a:t>
            </a:r>
          </a:p>
          <a:p>
            <a:pPr marL="457200" indent="-457200" algn="l">
              <a:lnSpc>
                <a:spcPct val="130000"/>
              </a:lnSpc>
              <a:buClrTx/>
              <a:buSzTx/>
              <a:buFontTx/>
              <a:buAutoNum type="arabicPeriod"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range(5,-10,-4)</a:t>
            </a:r>
          </a:p>
          <a:p>
            <a:pPr marL="457200" indent="-457200" algn="l">
              <a:lnSpc>
                <a:spcPct val="130000"/>
              </a:lnSpc>
              <a:buClrTx/>
              <a:buSzTx/>
              <a:buFontTx/>
              <a:buAutoNum type="arabicPeriod"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range(-7,7,7)</a:t>
            </a:r>
          </a:p>
          <a:p>
            <a:pPr marL="457200" indent="-457200" algn="l">
              <a:lnSpc>
                <a:spcPct val="130000"/>
              </a:lnSpc>
              <a:buClrTx/>
              <a:buSzTx/>
              <a:buFontTx/>
              <a:buAutoNum type="arabicPeriod"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range(0,4)</a:t>
            </a:r>
          </a:p>
          <a:p>
            <a:pPr marL="457200" indent="-457200" algn="l">
              <a:lnSpc>
                <a:spcPct val="130000"/>
              </a:lnSpc>
              <a:buClrTx/>
              <a:buSzTx/>
              <a:buFontTx/>
              <a:buAutoNum type="arabicPeriod"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range(-5,-2)</a:t>
            </a:r>
          </a:p>
          <a:p>
            <a:pPr marL="457200" indent="-457200" algn="l">
              <a:lnSpc>
                <a:spcPct val="130000"/>
              </a:lnSpc>
              <a:buClrTx/>
              <a:buSzTx/>
              <a:buFontTx/>
              <a:buAutoNum type="arabicPeriod"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range(4)</a:t>
            </a:r>
          </a:p>
          <a:p>
            <a:pPr marL="457200" indent="-457200" algn="l">
              <a:lnSpc>
                <a:spcPct val="130000"/>
              </a:lnSpc>
              <a:buClrTx/>
              <a:buSzTx/>
              <a:buFontTx/>
              <a:buAutoNum type="arabicPeriod"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range(-2)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8947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for i in range</a:t>
            </a: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  <a:endParaRPr lang="en-US" altLang="zh-CN" sz="6600">
              <a:solidFill>
                <a:srgbClr val="F5F5F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4203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l"/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for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循环结合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range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函数练习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83895" y="1059815"/>
            <a:ext cx="585851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/>
              <a:t>使用</a:t>
            </a:r>
            <a:r>
              <a:rPr lang="en-US" altLang="zh-CN" sz="2000" dirty="0"/>
              <a:t>for</a:t>
            </a:r>
            <a:r>
              <a:rPr lang="zh-CN" altLang="en-US" sz="2000" dirty="0"/>
              <a:t>循环配合</a:t>
            </a:r>
            <a:r>
              <a:rPr lang="en-US" altLang="zh-CN" sz="2000" dirty="0"/>
              <a:t>range</a:t>
            </a:r>
            <a:r>
              <a:rPr lang="zh-CN" altLang="en-US" sz="2000" dirty="0"/>
              <a:t>函数输出数字</a:t>
            </a:r>
            <a:r>
              <a:rPr lang="en-US" altLang="zh-CN" sz="2000" dirty="0"/>
              <a:t>0</a:t>
            </a:r>
            <a:r>
              <a:rPr lang="zh-CN" altLang="en-US" sz="2000" dirty="0"/>
              <a:t>到</a:t>
            </a:r>
            <a:r>
              <a:rPr lang="en-US" altLang="zh-CN" sz="2000" dirty="0"/>
              <a:t>100</a:t>
            </a:r>
            <a:r>
              <a:rPr lang="zh-CN" altLang="en-US" sz="2000" dirty="0"/>
              <a:t>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895" y="1702435"/>
            <a:ext cx="5488305" cy="105981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83895" y="3006090"/>
            <a:ext cx="648843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000" dirty="0">
                <a:sym typeface="+mn-ea"/>
              </a:rPr>
              <a:t>使用for循环配合range函数输出数字</a:t>
            </a:r>
            <a:r>
              <a:rPr lang="en-US" altLang="zh-CN" sz="2000" dirty="0">
                <a:sym typeface="+mn-ea"/>
              </a:rPr>
              <a:t>2-100</a:t>
            </a:r>
            <a:r>
              <a:rPr lang="zh-CN" altLang="zh-CN" sz="2000" dirty="0">
                <a:sym typeface="+mn-ea"/>
              </a:rPr>
              <a:t>以内</a:t>
            </a:r>
            <a:r>
              <a:rPr lang="en-US" altLang="zh-CN" sz="2000" dirty="0">
                <a:sym typeface="+mn-ea"/>
              </a:rPr>
              <a:t>2</a:t>
            </a:r>
            <a:r>
              <a:rPr lang="zh-CN" altLang="zh-CN" sz="2000" dirty="0">
                <a:sym typeface="+mn-ea"/>
              </a:rPr>
              <a:t>的倍数</a:t>
            </a:r>
            <a:r>
              <a:rPr lang="zh-CN" altLang="en-US" sz="2000" dirty="0">
                <a:sym typeface="+mn-ea"/>
              </a:rPr>
              <a:t>。</a:t>
            </a:r>
            <a:endParaRPr lang="en-US" altLang="zh-CN" sz="2000" dirty="0"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895" y="3648710"/>
            <a:ext cx="6949440" cy="11106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4203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l"/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for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循环结合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range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函数练习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83895" y="1059815"/>
            <a:ext cx="636206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/>
              <a:t>使用</a:t>
            </a:r>
            <a:r>
              <a:rPr lang="en-US" altLang="zh-CN" sz="2000" dirty="0"/>
              <a:t>for</a:t>
            </a:r>
            <a:r>
              <a:rPr lang="zh-CN" altLang="en-US" sz="2000" dirty="0"/>
              <a:t>循环使用</a:t>
            </a:r>
            <a:r>
              <a:rPr lang="en-US" altLang="zh-CN" sz="2000" dirty="0"/>
              <a:t>range</a:t>
            </a:r>
            <a:r>
              <a:rPr lang="zh-CN" altLang="en-US" sz="2000" dirty="0"/>
              <a:t>函数输出</a:t>
            </a:r>
            <a:r>
              <a:rPr lang="en-US" altLang="zh-CN" sz="2000" dirty="0"/>
              <a:t>50-100</a:t>
            </a:r>
            <a:r>
              <a:rPr lang="zh-CN" altLang="en-US" sz="2000" dirty="0"/>
              <a:t>以内，</a:t>
            </a:r>
            <a:r>
              <a:rPr lang="en-US" altLang="zh-CN" sz="2000" dirty="0"/>
              <a:t>5</a:t>
            </a:r>
            <a:r>
              <a:rPr lang="zh-CN" altLang="en-US" sz="2000" dirty="0"/>
              <a:t>的倍数。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83895" y="3021330"/>
            <a:ext cx="4937125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000" dirty="0">
                <a:sym typeface="+mn-ea"/>
              </a:rPr>
              <a:t>使用for循环配合range函数配合列表使用。</a:t>
            </a:r>
            <a:endParaRPr lang="en-US" altLang="zh-CN" sz="2000" dirty="0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895" y="1686560"/>
            <a:ext cx="6926580" cy="11068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4203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l"/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for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循环结合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range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函数练习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83895" y="1059815"/>
            <a:ext cx="636206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/>
              <a:t>使用</a:t>
            </a:r>
            <a:r>
              <a:rPr lang="en-US" altLang="zh-CN" sz="2000" dirty="0"/>
              <a:t>for</a:t>
            </a:r>
            <a:r>
              <a:rPr lang="zh-CN" altLang="en-US" sz="2000" dirty="0"/>
              <a:t>循环输出一个矩形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0" y="1491615"/>
            <a:ext cx="5965190" cy="2651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总结</a:t>
            </a: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76ce7ccbcda6cf12636bdb4ab607c4c83d474"/>
  <p:tag name="COMMONDATA" val="eyJoZGlkIjoiNzE1MTRiZGNmZGQyODMxZWY5ZTk1Nzk2OTA5ZmQ2YzIifQ=="/>
  <p:tag name="KSO_WPP_MARK_KEY" val="48997412-c616-4681-8716-76e5c9cb86a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6"/>
</p:tagLst>
</file>

<file path=ppt/theme/theme1.xml><?xml version="1.0" encoding="utf-8"?>
<a:theme xmlns:a="http://schemas.openxmlformats.org/drawingml/2006/main" name="Office 主题​​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0C0"/>
      </a:accent1>
      <a:accent2>
        <a:srgbClr val="00B0F0"/>
      </a:accent2>
      <a:accent3>
        <a:srgbClr val="0070C0"/>
      </a:accent3>
      <a:accent4>
        <a:srgbClr val="00B0F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440</Words>
  <Application>Microsoft Office PowerPoint</Application>
  <PresentationFormat>全屏显示(16:9)</PresentationFormat>
  <Paragraphs>70</Paragraphs>
  <Slides>17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3" baseType="lpstr">
      <vt:lpstr>HandelGotDLig</vt:lpstr>
      <vt:lpstr>思源黑体 CN Normal</vt:lpstr>
      <vt:lpstr>微软雅黑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1012</dc:title>
  <dc:creator>admin</dc:creator>
  <cp:lastModifiedBy>hp</cp:lastModifiedBy>
  <cp:revision>539</cp:revision>
  <cp:lastPrinted>2000-12-31T21:09:00Z</cp:lastPrinted>
  <dcterms:created xsi:type="dcterms:W3CDTF">2015-11-10T12:01:00Z</dcterms:created>
  <dcterms:modified xsi:type="dcterms:W3CDTF">2023-05-08T06:01:17Z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7F75B25E592D4627B2A0ADE08B9E533A</vt:lpwstr>
  </property>
  <property fmtid="{D5CDD505-2E9C-101B-9397-08002B2CF9AE}" pid="3" name="KSOProductBuildVer">
    <vt:lpwstr>2052-11.1.0.12763</vt:lpwstr>
  </property>
</Properties>
</file>