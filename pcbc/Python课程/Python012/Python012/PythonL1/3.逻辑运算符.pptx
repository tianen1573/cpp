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85" r:id="rId2"/>
    <p:sldId id="497" r:id="rId3"/>
    <p:sldId id="317" r:id="rId4"/>
    <p:sldId id="525" r:id="rId5"/>
    <p:sldId id="590" r:id="rId6"/>
    <p:sldId id="578" r:id="rId7"/>
    <p:sldId id="588" r:id="rId8"/>
    <p:sldId id="589" r:id="rId9"/>
    <p:sldId id="579" r:id="rId10"/>
    <p:sldId id="548" r:id="rId11"/>
    <p:sldId id="580" r:id="rId12"/>
    <p:sldId id="550" r:id="rId13"/>
    <p:sldId id="581" r:id="rId14"/>
    <p:sldId id="556" r:id="rId15"/>
    <p:sldId id="559" r:id="rId16"/>
    <p:sldId id="601" r:id="rId17"/>
  </p:sldIdLst>
  <p:sldSz cx="9144000" cy="5143500" type="screen16x9"/>
  <p:notesSz cx="6797675" cy="9925050"/>
  <p:custDataLst>
    <p:tags r:id="rId19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5064125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逻辑运算符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1059815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四种数据类型：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04135" y="1059180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000"/>
              <a:t>布尔型、整形、浮点型、字符串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11505" y="1866900"/>
            <a:ext cx="9931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10/5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604135" y="1866900"/>
            <a:ext cx="5422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1505" y="261493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编写一个三位数取个位，十位，百位的程序：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83260" y="3392170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个位：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369%10 = 9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/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十位：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369%100//10 = 6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/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百位：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369//100 = 3</a:t>
            </a:r>
            <a:endParaRPr lang="en-US" altLang="en-US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100" grpId="0"/>
      <p:bldP spid="10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 fontScale="90000"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逻辑运算符的组合与作用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1092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逻辑运算符的组成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5600" y="3113405"/>
            <a:ext cx="1617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逻辑运算符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3649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逻辑运算符由哪几部分构成？</a:t>
            </a:r>
          </a:p>
        </p:txBody>
      </p:sp>
      <p:sp>
        <p:nvSpPr>
          <p:cNvPr id="26" name="矩形 25"/>
          <p:cNvSpPr/>
          <p:nvPr/>
        </p:nvSpPr>
        <p:spPr>
          <a:xfrm>
            <a:off x="2700020" y="1777365"/>
            <a:ext cx="18129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and </a:t>
            </a:r>
            <a:r>
              <a:rPr lang="zh-CN" altLang="en-US" sz="2000" dirty="0">
                <a:solidFill>
                  <a:schemeClr val="tx1"/>
                </a:solidFill>
              </a:rPr>
              <a:t>与、和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1764080" y="1872462"/>
            <a:ext cx="576064" cy="288032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700020" y="3181985"/>
            <a:ext cx="2251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or </a:t>
            </a:r>
            <a:r>
              <a:rPr lang="zh-CN" altLang="en-US" sz="2000" dirty="0">
                <a:solidFill>
                  <a:schemeClr val="tx1"/>
                </a:solidFill>
              </a:rPr>
              <a:t>或</a:t>
            </a:r>
          </a:p>
        </p:txBody>
      </p:sp>
      <p:sp>
        <p:nvSpPr>
          <p:cNvPr id="3" name="矩形 2"/>
          <p:cNvSpPr/>
          <p:nvPr/>
        </p:nvSpPr>
        <p:spPr>
          <a:xfrm>
            <a:off x="2700020" y="4586605"/>
            <a:ext cx="21609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not </a:t>
            </a:r>
            <a:r>
              <a:rPr lang="zh-CN" altLang="en-US" sz="2000" dirty="0">
                <a:solidFill>
                  <a:schemeClr val="tx1"/>
                </a:solidFill>
              </a:rPr>
              <a:t>非、不成立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6" grpId="0"/>
      <p:bldP spid="17" grpId="0" bldLvl="0" animBg="1"/>
      <p:bldP spid="28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1600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逻辑运算符造句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90880" y="1131570"/>
            <a:ext cx="18129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and </a:t>
            </a:r>
            <a:r>
              <a:rPr lang="zh-CN" altLang="en-US" sz="2000" dirty="0">
                <a:solidFill>
                  <a:schemeClr val="tx1"/>
                </a:solidFill>
              </a:rPr>
              <a:t>与、和</a:t>
            </a:r>
          </a:p>
        </p:txBody>
      </p:sp>
      <p:sp>
        <p:nvSpPr>
          <p:cNvPr id="28" name="矩形 27"/>
          <p:cNvSpPr/>
          <p:nvPr/>
        </p:nvSpPr>
        <p:spPr>
          <a:xfrm>
            <a:off x="690880" y="2536190"/>
            <a:ext cx="2251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or </a:t>
            </a:r>
            <a:r>
              <a:rPr lang="zh-CN" altLang="en-US" sz="2000" dirty="0">
                <a:solidFill>
                  <a:schemeClr val="tx1"/>
                </a:solidFill>
              </a:rPr>
              <a:t>或</a:t>
            </a:r>
          </a:p>
        </p:txBody>
      </p:sp>
      <p:sp>
        <p:nvSpPr>
          <p:cNvPr id="3" name="矩形 2"/>
          <p:cNvSpPr/>
          <p:nvPr/>
        </p:nvSpPr>
        <p:spPr>
          <a:xfrm>
            <a:off x="690880" y="3940810"/>
            <a:ext cx="21609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not </a:t>
            </a:r>
            <a:r>
              <a:rPr lang="zh-CN" altLang="en-US" sz="2000" dirty="0">
                <a:solidFill>
                  <a:schemeClr val="tx1"/>
                </a:solidFill>
              </a:rPr>
              <a:t>非、不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0110" y="1177290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小明和小红都迟到了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20110" y="2524125"/>
            <a:ext cx="348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你可以去打篮球或者打乒乓球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420110" y="3971290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你这次考级并非及格，而是不及格。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and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2140" y="1703070"/>
            <a:ext cx="17976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5&gt;2 and True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2140" y="2750185"/>
            <a:ext cx="263334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10&gt;2*3 and 2==1*2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12140" y="3797300"/>
            <a:ext cx="19792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False and False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996055" y="2859405"/>
            <a:ext cx="5008880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/>
              <a:t>and</a:t>
            </a:r>
            <a:r>
              <a:rPr lang="zh-CN" altLang="en-US" sz="1800"/>
              <a:t>会对自己两边的表达式进行判断，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如果有一个是假</a:t>
            </a:r>
            <a:r>
              <a:rPr lang="en-US" altLang="zh-CN" sz="1800"/>
              <a:t>(False)</a:t>
            </a:r>
            <a:r>
              <a:rPr lang="zh-CN" altLang="en-US" sz="1800"/>
              <a:t>，得出整体的结果为假，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两个都是真</a:t>
            </a:r>
            <a:r>
              <a:rPr lang="en-US" altLang="zh-CN" sz="1800"/>
              <a:t>(True)</a:t>
            </a:r>
            <a:r>
              <a:rPr lang="zh-CN" altLang="en-US" sz="1800"/>
              <a:t>，得出整体的结果就是为真。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or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650" y="2642870"/>
            <a:ext cx="17037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True or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Fasle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5650" y="1345565"/>
            <a:ext cx="25533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9 !=2*4 or 2&lt;=2**1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5650" y="3940175"/>
            <a:ext cx="21678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10&gt;5*3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 1&lt;=0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996055" y="2859405"/>
            <a:ext cx="5008880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/>
              <a:t>or</a:t>
            </a:r>
            <a:r>
              <a:rPr lang="zh-CN" altLang="zh-CN" sz="1800"/>
              <a:t>也</a:t>
            </a:r>
            <a:r>
              <a:rPr lang="zh-CN" altLang="en-US" sz="1800"/>
              <a:t>会对自己两边的表达式进行判断，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如果有一个是真</a:t>
            </a:r>
            <a:r>
              <a:rPr lang="en-US" altLang="zh-CN" sz="1800"/>
              <a:t>(True)</a:t>
            </a:r>
            <a:r>
              <a:rPr lang="zh-CN" altLang="en-US" sz="1800"/>
              <a:t>，得出整体的结果为真，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两个都是假</a:t>
            </a:r>
            <a:r>
              <a:rPr lang="en-US" altLang="zh-CN" sz="1800"/>
              <a:t>(False)</a:t>
            </a:r>
            <a:r>
              <a:rPr lang="zh-CN" altLang="en-US" sz="1800"/>
              <a:t>，得出整体的结果就是为假。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DB25D6-2F77-2F54-77AD-0A8989D17A81}"/>
              </a:ext>
            </a:extLst>
          </p:cNvPr>
          <p:cNvSpPr txBox="1"/>
          <p:nvPr/>
        </p:nvSpPr>
        <p:spPr>
          <a:xfrm>
            <a:off x="1256347" y="1721077"/>
            <a:ext cx="702310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8E260B-5E85-A65D-5A14-DB18F270CBB1}"/>
              </a:ext>
            </a:extLst>
          </p:cNvPr>
          <p:cNvSpPr txBox="1"/>
          <p:nvPr/>
        </p:nvSpPr>
        <p:spPr>
          <a:xfrm>
            <a:off x="1330007" y="3041650"/>
            <a:ext cx="702310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85E343-5B1C-D880-39EA-5D22685A18DA}"/>
              </a:ext>
            </a:extLst>
          </p:cNvPr>
          <p:cNvSpPr txBox="1"/>
          <p:nvPr/>
        </p:nvSpPr>
        <p:spPr>
          <a:xfrm>
            <a:off x="1256347" y="4338955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False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not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650" y="2642870"/>
            <a:ext cx="16725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not 7&lt;15//2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5650" y="1345565"/>
            <a:ext cx="11887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not True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851910" y="1995170"/>
            <a:ext cx="3700780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/>
              <a:t>not</a:t>
            </a:r>
            <a:r>
              <a:rPr lang="zh-CN" altLang="en-US" sz="1800" dirty="0"/>
              <a:t>会判断自己后面表达式的真假，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如果为真，则整体转换为假，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如果为假，则整体转换为真。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AEFF8E-3D0B-3A87-57B2-886723ED2CBC}"/>
              </a:ext>
            </a:extLst>
          </p:cNvPr>
          <p:cNvSpPr txBox="1"/>
          <p:nvPr/>
        </p:nvSpPr>
        <p:spPr>
          <a:xfrm>
            <a:off x="998855" y="1628143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007EF1-C2B5-3EBA-88D8-ECF7E4643D6F}"/>
              </a:ext>
            </a:extLst>
          </p:cNvPr>
          <p:cNvSpPr txBox="1"/>
          <p:nvPr/>
        </p:nvSpPr>
        <p:spPr>
          <a:xfrm>
            <a:off x="998855" y="2931790"/>
            <a:ext cx="702310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总体概括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12140" y="1347470"/>
          <a:ext cx="8138795" cy="294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7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41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and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 and b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 a 和 b 两个表达式都为真时，a and b 的结果才为真，否则为假。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or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 or b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 a 和 b 两个表达式都为假时，a or b 的结果才是假，否则为真。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41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not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not a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44444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如果 a 为真，那么 not a 的结果为假；如果 a 为假，那么 not a 的结果为真。相当于对 a 取反。</a:t>
                      </a:r>
                      <a:endParaRPr lang="en-US" altLang="en-US" sz="1800" b="0">
                        <a:solidFill>
                          <a:srgbClr val="4444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简单练习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逻辑运算符练习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98525" y="1830705"/>
            <a:ext cx="2250440" cy="1805940"/>
            <a:chOff x="1189" y="1682"/>
            <a:chExt cx="3544" cy="2844"/>
          </a:xfrm>
        </p:grpSpPr>
        <p:sp>
          <p:nvSpPr>
            <p:cNvPr id="12" name="文本框 11"/>
            <p:cNvSpPr txBox="1"/>
            <p:nvPr/>
          </p:nvSpPr>
          <p:spPr>
            <a:xfrm>
              <a:off x="1189" y="1682"/>
              <a:ext cx="2532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5&gt;3 and 4&lt;1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89" y="3898"/>
              <a:ext cx="3420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/>
                <a:t>15&lt;23 and 15&gt;12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89" y="2790"/>
              <a:ext cx="3544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/>
                <a:t>2**3 == 8 or 1 != 0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355465" y="1830705"/>
            <a:ext cx="2884170" cy="1805940"/>
            <a:chOff x="6633" y="2802"/>
            <a:chExt cx="4542" cy="2844"/>
          </a:xfrm>
        </p:grpSpPr>
        <p:sp>
          <p:nvSpPr>
            <p:cNvPr id="9" name="文本框 8"/>
            <p:cNvSpPr txBox="1"/>
            <p:nvPr/>
          </p:nvSpPr>
          <p:spPr>
            <a:xfrm>
              <a:off x="6633" y="2802"/>
              <a:ext cx="2853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/>
                <a:t>5&gt;1.5 or False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633" y="3910"/>
              <a:ext cx="1931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/>
                <a:t>not False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633" y="5018"/>
              <a:ext cx="4542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/>
                <a:t>17 == 18-1 and 5&gt;False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5A7C9CF1-1E3C-E356-CE17-891BDE4E32A2}"/>
              </a:ext>
            </a:extLst>
          </p:cNvPr>
          <p:cNvSpPr txBox="1"/>
          <p:nvPr/>
        </p:nvSpPr>
        <p:spPr>
          <a:xfrm>
            <a:off x="3148965" y="1829435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0FEEB6-9239-E7D4-6980-6D4107469E44}"/>
              </a:ext>
            </a:extLst>
          </p:cNvPr>
          <p:cNvSpPr txBox="1"/>
          <p:nvPr/>
        </p:nvSpPr>
        <p:spPr>
          <a:xfrm>
            <a:off x="3148965" y="2534285"/>
            <a:ext cx="702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78FF3C-DF7B-2362-08F4-D511923321FC}"/>
              </a:ext>
            </a:extLst>
          </p:cNvPr>
          <p:cNvSpPr txBox="1"/>
          <p:nvPr/>
        </p:nvSpPr>
        <p:spPr>
          <a:xfrm>
            <a:off x="3204203" y="3237865"/>
            <a:ext cx="702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0B997B-1DC6-D537-7963-B97B7D61F148}"/>
              </a:ext>
            </a:extLst>
          </p:cNvPr>
          <p:cNvSpPr txBox="1"/>
          <p:nvPr/>
        </p:nvSpPr>
        <p:spPr>
          <a:xfrm>
            <a:off x="6167120" y="1829375"/>
            <a:ext cx="702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4911F97-C06C-5B59-6E8E-2303C01E55F0}"/>
              </a:ext>
            </a:extLst>
          </p:cNvPr>
          <p:cNvSpPr txBox="1"/>
          <p:nvPr/>
        </p:nvSpPr>
        <p:spPr>
          <a:xfrm>
            <a:off x="6167120" y="2533620"/>
            <a:ext cx="702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67DE4B-4113-030D-DAB4-26B1DC4FC365}"/>
              </a:ext>
            </a:extLst>
          </p:cNvPr>
          <p:cNvSpPr txBox="1"/>
          <p:nvPr/>
        </p:nvSpPr>
        <p:spPr>
          <a:xfrm>
            <a:off x="7337049" y="3232539"/>
            <a:ext cx="702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优先级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逻辑运算符自身优先级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1059180"/>
            <a:ext cx="31934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&gt; and &gt; or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5650" y="1851660"/>
            <a:ext cx="45777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1 &lt; 2 or 5 &gt; 1.5 and not 10*2 &lt; 5</a:t>
            </a:r>
          </a:p>
        </p:txBody>
      </p:sp>
      <p:sp>
        <p:nvSpPr>
          <p:cNvPr id="16" name="矩形 15"/>
          <p:cNvSpPr/>
          <p:nvPr/>
        </p:nvSpPr>
        <p:spPr>
          <a:xfrm>
            <a:off x="3564255" y="2355215"/>
            <a:ext cx="1677035" cy="323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1.True</a:t>
            </a:r>
          </a:p>
        </p:txBody>
      </p:sp>
      <p:sp>
        <p:nvSpPr>
          <p:cNvPr id="18" name="矩形 17"/>
          <p:cNvSpPr/>
          <p:nvPr/>
        </p:nvSpPr>
        <p:spPr>
          <a:xfrm>
            <a:off x="1981835" y="2931795"/>
            <a:ext cx="3260090" cy="323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2.True</a:t>
            </a:r>
          </a:p>
        </p:txBody>
      </p:sp>
      <p:sp>
        <p:nvSpPr>
          <p:cNvPr id="19" name="矩形 18"/>
          <p:cNvSpPr/>
          <p:nvPr/>
        </p:nvSpPr>
        <p:spPr>
          <a:xfrm>
            <a:off x="755015" y="3507740"/>
            <a:ext cx="4486910" cy="323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3.True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综合练习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综合练习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131570"/>
            <a:ext cx="7924800" cy="286232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0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	</a:t>
            </a:r>
            <a:r>
              <a:rPr 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5&gt;2 and 4&gt;1 or 15&lt;1 and 2&lt;1 and not 1&gt;1</a:t>
            </a:r>
          </a:p>
          <a:p>
            <a:pPr indent="0">
              <a:lnSpc>
                <a:spcPct val="100000"/>
              </a:lnSpc>
            </a:pPr>
            <a:endParaRPr 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0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	</a:t>
            </a:r>
            <a:r>
              <a:rPr 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&gt; 2 and 5&gt;1 or not 5 or 1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!=0</a:t>
            </a:r>
            <a:r>
              <a:rPr 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and 2&gt;5 and 9&lt;1</a:t>
            </a:r>
          </a:p>
          <a:p>
            <a:pPr indent="0">
              <a:lnSpc>
                <a:spcPct val="100000"/>
              </a:lnSpc>
            </a:pPr>
            <a:endParaRPr 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00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3)	</a:t>
            </a:r>
            <a:r>
              <a:rPr 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10&gt;1 or 1 == 2*1 and 5&gt;1 or 12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&lt;1  and not 5&lt;1</a:t>
            </a:r>
            <a:endParaRPr 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00000"/>
              </a:lnSpc>
            </a:pPr>
            <a:endParaRPr 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4)	1 &gt; 1 or 3 &lt; 4 or 4 &gt; 5 and 2 &gt; 1 and 9 &gt; 8 or 7 &lt; 6			</a:t>
            </a:r>
            <a:endParaRPr 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00000"/>
              </a:lnSpc>
            </a:pPr>
            <a:r>
              <a:rPr 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5)	not 2 &gt; 1 and 3 &lt; 4 or 4 &gt; 5 and 2 &gt; 1 and 9 &gt; 8 or 7 &lt; 6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BB162E-DD6E-6201-01D9-30C7786BA5D0}"/>
              </a:ext>
            </a:extLst>
          </p:cNvPr>
          <p:cNvSpPr txBox="1"/>
          <p:nvPr/>
        </p:nvSpPr>
        <p:spPr>
          <a:xfrm>
            <a:off x="7895383" y="1121067"/>
            <a:ext cx="702310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785A8A-50BE-0C7A-7E79-8BE83ACB5398}"/>
              </a:ext>
            </a:extLst>
          </p:cNvPr>
          <p:cNvSpPr txBox="1"/>
          <p:nvPr/>
        </p:nvSpPr>
        <p:spPr>
          <a:xfrm>
            <a:off x="7895383" y="1750865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9AE5CC-05B4-3710-AE4E-30BDC53E67A8}"/>
              </a:ext>
            </a:extLst>
          </p:cNvPr>
          <p:cNvSpPr txBox="1"/>
          <p:nvPr/>
        </p:nvSpPr>
        <p:spPr>
          <a:xfrm>
            <a:off x="7895383" y="2391166"/>
            <a:ext cx="702310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3A4A7A-F308-0CAC-ED3E-94B6E5348385}"/>
              </a:ext>
            </a:extLst>
          </p:cNvPr>
          <p:cNvSpPr txBox="1"/>
          <p:nvPr/>
        </p:nvSpPr>
        <p:spPr>
          <a:xfrm>
            <a:off x="7956376" y="3016989"/>
            <a:ext cx="702310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EC8814-C562-006F-7FD0-1084C48CE5CD}"/>
              </a:ext>
            </a:extLst>
          </p:cNvPr>
          <p:cNvSpPr txBox="1"/>
          <p:nvPr/>
        </p:nvSpPr>
        <p:spPr>
          <a:xfrm>
            <a:off x="8482330" y="3549342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False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逻辑运算符结合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if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编写程序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2140" y="1141095"/>
            <a:ext cx="64649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逻辑运算符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编写一个程序，模拟微信账号登录。</a:t>
            </a:r>
          </a:p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当我们运行程序时，系统提示我们输入手机号与密码。</a:t>
            </a:r>
          </a:p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输入手机号和密码后，进行正确与否的判断。</a:t>
            </a:r>
          </a:p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如果两者都正确，输出登录成功。</a:t>
            </a:r>
          </a:p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如果有一个错误则，输出手机号或密码有误。</a:t>
            </a:r>
          </a:p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样例：</a:t>
            </a:r>
          </a:p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手机号：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13554741008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密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码：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123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输出:登录成功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e043f21-771e-4157-b541-219e86ab0632}"/>
  <p:tag name="TABLE_ENDDRAG_ORIGIN_RECT" val="640*231"/>
  <p:tag name="TABLE_ENDDRAG_RECT" val="48*106*640*232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669</Words>
  <Application>Microsoft Office PowerPoint</Application>
  <PresentationFormat>全屏显示(16:9)</PresentationFormat>
  <Paragraphs>130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HandelGotDLig</vt:lpstr>
      <vt:lpstr>思源黑体 CN Normal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417</cp:revision>
  <cp:lastPrinted>2000-12-31T21:09:00Z</cp:lastPrinted>
  <dcterms:created xsi:type="dcterms:W3CDTF">2015-11-10T12:01:00Z</dcterms:created>
  <dcterms:modified xsi:type="dcterms:W3CDTF">2023-05-06T06:17:43Z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7F75B25E592D4627B2A0ADE08B9E533A</vt:lpwstr>
  </property>
  <property fmtid="{D5CDD505-2E9C-101B-9397-08002B2CF9AE}" pid="3" name="KSOProductBuildVer">
    <vt:lpwstr>2052-11.1.0.11365</vt:lpwstr>
  </property>
</Properties>
</file>