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485" r:id="rId2"/>
    <p:sldId id="604" r:id="rId3"/>
    <p:sldId id="605" r:id="rId4"/>
    <p:sldId id="497" r:id="rId5"/>
    <p:sldId id="588" r:id="rId6"/>
    <p:sldId id="606" r:id="rId7"/>
    <p:sldId id="638" r:id="rId8"/>
    <p:sldId id="607" r:id="rId9"/>
    <p:sldId id="651" r:id="rId10"/>
    <p:sldId id="608" r:id="rId11"/>
    <p:sldId id="589" r:id="rId12"/>
    <p:sldId id="578" r:id="rId13"/>
    <p:sldId id="626" r:id="rId14"/>
    <p:sldId id="627" r:id="rId15"/>
    <p:sldId id="593" r:id="rId16"/>
    <p:sldId id="687" r:id="rId17"/>
  </p:sldIdLst>
  <p:sldSz cx="9144000" cy="5143500" type="screen16x9"/>
  <p:notesSz cx="6797675" cy="9925050"/>
  <p:custDataLst>
    <p:tags r:id="rId19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1">
          <p15:clr>
            <a:srgbClr val="A4A3A4"/>
          </p15:clr>
        </p15:guide>
        <p15:guide id="2" pos="27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>
        <p:scale>
          <a:sx n="120" d="100"/>
          <a:sy n="120" d="100"/>
        </p:scale>
        <p:origin x="326" y="-120"/>
      </p:cViewPr>
      <p:guideLst>
        <p:guide orient="horz" pos="1651"/>
        <p:guide pos="274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5064125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5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</a:t>
            </a:r>
            <a:r>
              <a:rPr lang="en-US" altLang="zh-CN" sz="35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lang="zh-CN" altLang="en-US" sz="35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典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映射类型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3895" y="1126490"/>
            <a:ext cx="722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关于字典，它的资料其实非常的复杂。因为</a:t>
            </a:r>
            <a:r>
              <a:rPr lang="en-US" altLang="zh-CN" sz="1600" dirty="0"/>
              <a:t>python</a:t>
            </a:r>
            <a:r>
              <a:rPr lang="zh-CN" altLang="en-US" sz="1600" dirty="0"/>
              <a:t>是一个至今还在更新的语言。</a:t>
            </a:r>
            <a:endParaRPr lang="en-US" altLang="zh-CN" sz="1600" dirty="0"/>
          </a:p>
          <a:p>
            <a:r>
              <a:rPr lang="zh-CN" altLang="en-US" sz="1600" dirty="0"/>
              <a:t>所以字典也一直都跟着有所变化。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61596" y="1965078"/>
            <a:ext cx="45872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首先，我们先来了解一下字典是属于什么类型。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56610" y="2566482"/>
            <a:ext cx="7155750" cy="66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在之前，有很大一部分网站的资料是把字典归类于序列或者类似序列的类型。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但现在</a:t>
            </a:r>
            <a:r>
              <a:rPr lang="en-US" altLang="zh-CN" sz="1600" dirty="0"/>
              <a:t>python</a:t>
            </a:r>
            <a:r>
              <a:rPr lang="zh-CN" altLang="en-US" sz="1600" dirty="0"/>
              <a:t>的</a:t>
            </a:r>
            <a:r>
              <a:rPr lang="zh-CN" altLang="en-US" sz="1600" b="1" dirty="0"/>
              <a:t>官方文档</a:t>
            </a:r>
            <a:r>
              <a:rPr lang="zh-CN" altLang="en-US" sz="1600" dirty="0"/>
              <a:t>将字典归为单独的</a:t>
            </a:r>
            <a:r>
              <a:rPr lang="zh-CN" altLang="en-US" sz="1600" b="1" dirty="0"/>
              <a:t>映射类型</a:t>
            </a:r>
            <a:r>
              <a:rPr lang="zh-CN" altLang="en-US" sz="1600" dirty="0"/>
              <a:t>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1BE67C-36ED-79AA-2CFA-A6611F3A1706}"/>
              </a:ext>
            </a:extLst>
          </p:cNvPr>
          <p:cNvSpPr txBox="1"/>
          <p:nvPr/>
        </p:nvSpPr>
        <p:spPr>
          <a:xfrm>
            <a:off x="656610" y="3494665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映射</a:t>
            </a:r>
            <a:r>
              <a:rPr lang="zh-CN" altLang="en-US" sz="1600" dirty="0"/>
              <a:t>是指两个元素相互“对应”的关系。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45CEF-A2D3-4BC6-3C04-790F7B8948EB}"/>
              </a:ext>
            </a:extLst>
          </p:cNvPr>
          <p:cNvSpPr txBox="1"/>
          <p:nvPr/>
        </p:nvSpPr>
        <p:spPr>
          <a:xfrm>
            <a:off x="2165113" y="3867894"/>
            <a:ext cx="1758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例如：</a:t>
            </a:r>
            <a:r>
              <a:rPr lang="en-US" altLang="zh-CN" sz="1600" dirty="0"/>
              <a:t>a=1</a:t>
            </a:r>
            <a:r>
              <a:rPr lang="zh-CN" altLang="en-US" sz="1600" dirty="0"/>
              <a:t>，</a:t>
            </a:r>
            <a:r>
              <a:rPr lang="en-US" altLang="zh-CN" sz="1600" dirty="0"/>
              <a:t>b=2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BA59DE-3E51-8869-CCF4-6D97BD097DCE}"/>
              </a:ext>
            </a:extLst>
          </p:cNvPr>
          <p:cNvSpPr txBox="1"/>
          <p:nvPr/>
        </p:nvSpPr>
        <p:spPr>
          <a:xfrm>
            <a:off x="2771800" y="423590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姓名：小明</a:t>
            </a:r>
            <a:endParaRPr lang="en-US" altLang="zh-CN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04465C-98B9-3A39-1BA6-8C40DA829B43}"/>
              </a:ext>
            </a:extLst>
          </p:cNvPr>
          <p:cNvSpPr txBox="1"/>
          <p:nvPr/>
        </p:nvSpPr>
        <p:spPr>
          <a:xfrm>
            <a:off x="2771800" y="4575402"/>
            <a:ext cx="1939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班级：四年（</a:t>
            </a:r>
            <a:r>
              <a:rPr lang="en-US" altLang="zh-CN" sz="1600" dirty="0"/>
              <a:t>1</a:t>
            </a:r>
            <a:r>
              <a:rPr lang="zh-CN" altLang="en-US" sz="1600" dirty="0"/>
              <a:t>）班</a:t>
            </a:r>
            <a:endParaRPr lang="en-US" altLang="zh-CN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" grpId="0"/>
      <p:bldP spid="8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有序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9925" y="1131570"/>
            <a:ext cx="75761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/>
              <a:t>字典</a:t>
            </a:r>
            <a:r>
              <a:rPr lang="en-US" altLang="zh-CN" sz="1800"/>
              <a:t>python</a:t>
            </a:r>
            <a:r>
              <a:rPr lang="zh-CN" altLang="en-US" sz="1800"/>
              <a:t>之前版本中，他内部的值是无序的。</a:t>
            </a:r>
          </a:p>
          <a:p>
            <a:pPr>
              <a:lnSpc>
                <a:spcPct val="150000"/>
              </a:lnSpc>
            </a:pPr>
            <a:r>
              <a:rPr lang="zh-CN" altLang="en-US" sz="1800"/>
              <a:t>但是随着</a:t>
            </a:r>
            <a:r>
              <a:rPr lang="en-US" altLang="zh-CN" sz="1800"/>
              <a:t>python</a:t>
            </a:r>
            <a:r>
              <a:rPr lang="zh-CN" altLang="en-US" sz="1800"/>
              <a:t>版本的更新，现在的字典的值则是有序的了。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69925" y="2400935"/>
            <a:ext cx="7719060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所以现在我们学习时，就按照有序的映射类型来记忆这部分的知识点。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0F8CA4-9DD6-FB2D-EF6F-AA34346CB836}"/>
              </a:ext>
            </a:extLst>
          </p:cNvPr>
          <p:cNvSpPr txBox="1"/>
          <p:nvPr/>
        </p:nvSpPr>
        <p:spPr>
          <a:xfrm>
            <a:off x="2771800" y="2907665"/>
            <a:ext cx="2516957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</a:rPr>
              <a:t>字典是有序的映射类型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字典的创建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6590" y="1059815"/>
            <a:ext cx="748792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(dict)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最显著的特征，就是创建使用的花括号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}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，和内部的键值对。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6590" y="2654300"/>
            <a:ext cx="7208520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我们将字典赋值到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这个变量中，所以变量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就是字典的名字。</a:t>
            </a:r>
          </a:p>
          <a:p>
            <a:pPr algn="l">
              <a:lnSpc>
                <a:spcPct val="140000"/>
              </a:lnSpc>
              <a:buClrTx/>
              <a:buSz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而在字典中的这些值，被称之为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键值对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32045" y="1977390"/>
            <a:ext cx="22282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键值对之间使用冒号</a:t>
            </a:r>
            <a:r>
              <a:rPr 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隔开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56590" y="1911985"/>
            <a:ext cx="4822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= {'</a:t>
            </a:r>
            <a:r>
              <a:rPr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': '</a:t>
            </a:r>
            <a:r>
              <a:rPr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小王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', '</a:t>
            </a:r>
            <a:r>
              <a:rPr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': '男', '</a:t>
            </a:r>
            <a:r>
              <a:rPr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': 18}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56590" y="3893820"/>
            <a:ext cx="583184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字典的创建：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变量名</a:t>
            </a:r>
            <a:r>
              <a:rPr lang="en-US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字典名</a:t>
            </a:r>
            <a:r>
              <a:rPr lang="en-US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= {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键</a:t>
            </a:r>
            <a:r>
              <a:rPr lang="en-US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1: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值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键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2: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值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2}</a:t>
            </a:r>
            <a:endParaRPr lang="en-US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D2E95A-8206-7A14-1065-514C9F3817B1}"/>
              </a:ext>
            </a:extLst>
          </p:cNvPr>
          <p:cNvSpPr/>
          <p:nvPr/>
        </p:nvSpPr>
        <p:spPr>
          <a:xfrm>
            <a:off x="1136998" y="1951672"/>
            <a:ext cx="144016" cy="3028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D29496-F46A-1B6F-E9CF-942F329F254F}"/>
              </a:ext>
            </a:extLst>
          </p:cNvPr>
          <p:cNvSpPr/>
          <p:nvPr/>
        </p:nvSpPr>
        <p:spPr>
          <a:xfrm>
            <a:off x="4752435" y="1951672"/>
            <a:ext cx="144016" cy="3028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键值对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987425"/>
            <a:ext cx="76028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字典的值是成对创建的，用冒号隔开，左边是键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(key)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，右边是值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(value)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72000" y="1420495"/>
            <a:ext cx="4043680" cy="9772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lang="zh-CN" altLang="en-US" sz="1600"/>
              <a:t>如左图的键值对，转换成字典的格式就是：</a:t>
            </a:r>
          </a:p>
          <a:p>
            <a:pPr algn="l">
              <a:lnSpc>
                <a:spcPct val="180000"/>
              </a:lnSpc>
            </a:pPr>
            <a:r>
              <a:rPr lang="zh-CN" altLang="en-US" sz="1600" b="1"/>
              <a:t>字典名 = {'姓名': '元芳', '年龄': 18}</a:t>
            </a:r>
          </a:p>
        </p:txBody>
      </p:sp>
      <p:pic>
        <p:nvPicPr>
          <p:cNvPr id="3" name="图片 1" descr="IMG_256"/>
          <p:cNvPicPr>
            <a:picLocks noChangeAspect="1"/>
          </p:cNvPicPr>
          <p:nvPr/>
        </p:nvPicPr>
        <p:blipFill>
          <a:blip r:embed="rId2"/>
          <a:srcRect l="22781" t="29819" r="20798" b="2564"/>
          <a:stretch>
            <a:fillRect/>
          </a:stretch>
        </p:blipFill>
        <p:spPr>
          <a:xfrm>
            <a:off x="755650" y="1543050"/>
            <a:ext cx="3736975" cy="2092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755650" y="3724275"/>
            <a:ext cx="7132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sym typeface="+mn-ea"/>
              </a:rPr>
              <a:t>字典是没有索引的容器，键值对中的键替代索引的作用。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734695" y="2926080"/>
            <a:ext cx="7136765" cy="213931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键值对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987425"/>
            <a:ext cx="7498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键作为替代索引的角色，所以字典中访问单个值方式便是通过键去访问。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1451610"/>
            <a:ext cx="6575425" cy="9664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1505" y="2499360"/>
            <a:ext cx="6597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访问单个元素还是使用方括号</a:t>
            </a:r>
            <a:r>
              <a:rPr lang="en-US" altLang="zh-CN" sz="2000"/>
              <a:t>[ ]</a:t>
            </a:r>
            <a:r>
              <a:rPr lang="zh-CN" altLang="en-US" sz="2000"/>
              <a:t>，这点一定要记住。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99795" y="2997835"/>
            <a:ext cx="1113790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想一想？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771775" y="3001645"/>
            <a:ext cx="2945130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/>
              <a:t>字典中的键可以重复吗</a:t>
            </a:r>
            <a:r>
              <a:rPr lang="en-US" altLang="zh-CN" sz="2000"/>
              <a:t>?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30910" y="3394710"/>
            <a:ext cx="6725285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 sz="1600"/>
              <a:t>如果键可以重复，字典里有两个</a:t>
            </a:r>
            <a:r>
              <a:rPr lang="en-US" altLang="zh-CN" sz="1600"/>
              <a:t>‘</a:t>
            </a:r>
            <a:r>
              <a:rPr lang="zh-CN" altLang="en-US" sz="1600"/>
              <a:t>姓名</a:t>
            </a:r>
            <a:r>
              <a:rPr lang="en-US" altLang="zh-CN" sz="1600"/>
              <a:t>’,</a:t>
            </a:r>
            <a:r>
              <a:rPr lang="zh-CN" altLang="en-US" sz="1600"/>
              <a:t>那么我们访问的到底是哪一个呢？</a:t>
            </a:r>
          </a:p>
          <a:p>
            <a:pPr>
              <a:lnSpc>
                <a:spcPct val="180000"/>
              </a:lnSpc>
            </a:pPr>
            <a:r>
              <a:rPr lang="zh-CN" altLang="en-US" sz="1600"/>
              <a:t>所以字典的键是不可以重复的，就算在创建字典时，就写出两个一样的键，</a:t>
            </a:r>
          </a:p>
          <a:p>
            <a:pPr>
              <a:lnSpc>
                <a:spcPct val="180000"/>
              </a:lnSpc>
            </a:pPr>
            <a:r>
              <a:rPr lang="zh-CN" altLang="en-US" sz="1600"/>
              <a:t>那么后面的键值对也会替换掉前面重名的键值对。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键值对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2140" y="987425"/>
            <a:ext cx="4754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我们知道键值对中的键无法重复，那么值呢？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2140" y="1642110"/>
            <a:ext cx="1894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值是可以重复的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2140" y="2296795"/>
            <a:ext cx="8329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就好像学校里可以有两个同名的学生，只要学号不同，就可以区分开两个人。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8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添加键值和修改键值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9915" y="941705"/>
            <a:ext cx="738187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在字典中，向字典添加键值对和修改字典中的键值的方法是相似的。</a:t>
            </a:r>
          </a:p>
          <a:p>
            <a:pPr>
              <a:lnSpc>
                <a:spcPct val="13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我们来看一下下面的例子：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19700" y="1751965"/>
            <a:ext cx="3426460" cy="1587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第二行和第三行</a:t>
            </a:r>
          </a:p>
          <a:p>
            <a:pPr>
              <a:lnSpc>
                <a:spcPct val="14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哪一个是修改，</a:t>
            </a:r>
          </a:p>
          <a:p>
            <a:pPr>
              <a:lnSpc>
                <a:spcPct val="14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哪一个是添加呢？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15" y="1865630"/>
            <a:ext cx="4476750" cy="1600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89915" y="3651885"/>
            <a:ext cx="64636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添加的键是字典中没有的键，修改的键是字典中本来就有的键。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添加键值和修改键值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1059815"/>
            <a:ext cx="6609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字典值的修改和赋值其实都是一个方法，他们的区别在于</a:t>
            </a:r>
          </a:p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修改的键是字典中原有的键，赋值的键是字典中没有的键。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1505" y="1873250"/>
            <a:ext cx="6423660" cy="907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a[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原有键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]=10</a:t>
            </a:r>
          </a:p>
          <a:p>
            <a:pPr>
              <a:lnSpc>
                <a:spcPct val="140000"/>
              </a:lnSpc>
            </a:pP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a[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新键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]=10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A4155F-BE71-A5F9-122C-E2C685604365}"/>
              </a:ext>
            </a:extLst>
          </p:cNvPr>
          <p:cNvSpPr txBox="1"/>
          <p:nvPr/>
        </p:nvSpPr>
        <p:spPr>
          <a:xfrm>
            <a:off x="2314600" y="196491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修改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48CA80-2749-C66D-A798-77A8CC6174AF}"/>
              </a:ext>
            </a:extLst>
          </p:cNvPr>
          <p:cNvSpPr txBox="1"/>
          <p:nvPr/>
        </p:nvSpPr>
        <p:spPr>
          <a:xfrm>
            <a:off x="2314600" y="244096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添加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9D7E19-BAEC-A372-34B1-C2B27F3724F0}"/>
              </a:ext>
            </a:extLst>
          </p:cNvPr>
          <p:cNvSpPr txBox="1"/>
          <p:nvPr/>
        </p:nvSpPr>
        <p:spPr>
          <a:xfrm>
            <a:off x="619517" y="2743281"/>
            <a:ext cx="6423660" cy="476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修改字典中的值和向字典里添加新的值的区别就在这里。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访问字典中的单个值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5160" y="1558925"/>
            <a:ext cx="1922145" cy="810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访问语法：</a:t>
            </a:r>
          </a:p>
          <a:p>
            <a:pPr algn="l">
              <a:lnSpc>
                <a:spcPct val="13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字典名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])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5160" y="988060"/>
            <a:ext cx="5669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访问字典中单个的值，方法和列表的方法是差不多的。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5160" y="2571750"/>
            <a:ext cx="4427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但字典除了这个方法以外，还有一个方法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45160" y="3142615"/>
            <a:ext cx="2338070" cy="810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访问语法：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字典名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.get(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键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5160" y="4155440"/>
            <a:ext cx="5669280" cy="450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第一种肯定是更好记忆，但第二种我们也要做到认识。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检查键是否存在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4365" y="1059180"/>
            <a:ext cx="7269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因为字典添加和修改的方法是近似的，所以我们在不了解这个字典前，</a:t>
            </a:r>
          </a:p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可以进行检查键是否存在，来判断修改和添加是否成功。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34365" y="1970405"/>
            <a:ext cx="486410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这里我们使用成员运算符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进行相关的判断：</a:t>
            </a:r>
          </a:p>
          <a:p>
            <a:pPr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字典名：</a:t>
            </a:r>
          </a:p>
          <a:p>
            <a:pPr indent="457200"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’)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4365" y="3158490"/>
            <a:ext cx="6260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追加，故名思议，添加的元素都是添加到列表的最后面。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4365" y="3792855"/>
            <a:ext cx="67329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append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，我们需要的只是元素的名字，并不需要具体索引。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9" grpId="0"/>
      <p:bldP spid="9" grpId="1"/>
      <p:bldP spid="3" grpId="0"/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删除字典中的元素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7385" y="1059180"/>
            <a:ext cx="13360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7385" y="1771650"/>
            <a:ext cx="4869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字典也可以使用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del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进行删除自身的元素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67385" y="3073400"/>
            <a:ext cx="53828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除了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del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外，字典还有一些它自己的删除方法。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7385" y="2422525"/>
            <a:ext cx="2181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del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字典名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67385" y="3724275"/>
            <a:ext cx="46443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删除对应键的键值对：字典名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pop(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  <a:p>
            <a:pPr indent="0"/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indent="0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删除最后的键值对：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字典名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popitem()</a:t>
            </a:r>
            <a:endParaRPr lang="en-US" altLang="en-US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清空字典全部元素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5630" y="1130935"/>
            <a:ext cx="30226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清空字典：字典名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.clear()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95630" y="1887220"/>
            <a:ext cx="58140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和列表相同，就是将字典中所有的元素全部删除。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获取字典长度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(</a:t>
            </a:r>
            <a:r>
              <a:rPr lang="zh-CN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元素个数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)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9140" y="1059180"/>
            <a:ext cx="3260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获取字典长度：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len(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字典名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39140" y="1755140"/>
            <a:ext cx="58140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是内置函数，它和方法和关键字则也不相同。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39140" y="2451100"/>
            <a:ext cx="399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它返回的便是字典中元素的个数。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05" y="3004185"/>
            <a:ext cx="6638925" cy="10763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赋值字典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895" y="1181100"/>
            <a:ext cx="226187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复制字典</a:t>
            </a:r>
          </a:p>
          <a:p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b = 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字典名</a:t>
            </a: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.copy()</a:t>
            </a:r>
          </a:p>
          <a:p>
            <a:endParaRPr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= dict(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字典名</a:t>
            </a: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3895" y="2788920"/>
            <a:ext cx="5932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字典复制不同于赋值。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赋值字典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895" y="1181100"/>
            <a:ext cx="226187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复制字典</a:t>
            </a:r>
          </a:p>
          <a:p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b = 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字典名</a:t>
            </a: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.copy()</a:t>
            </a:r>
          </a:p>
          <a:p>
            <a:endParaRPr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= dict(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字典名</a:t>
            </a: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3895" y="2788920"/>
            <a:ext cx="5932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字典复制不同于赋值。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  <p:tag name="COMMONDATA" val="eyJoZGlkIjoiNzE1MTRiZGNmZGQyODMxZWY5ZTk1Nzk2OTA5ZmQ2YzIifQ=="/>
  <p:tag name="KSO_WPP_MARK_KEY" val="19d15a90-c128-484e-b905-866298ed77a1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1023</Words>
  <Application>Microsoft Office PowerPoint</Application>
  <PresentationFormat>全屏显示(16:9)</PresentationFormat>
  <Paragraphs>99</Paragraphs>
  <Slides>16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HandelGotDLig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828</cp:revision>
  <cp:lastPrinted>2000-12-31T21:09:00Z</cp:lastPrinted>
  <dcterms:created xsi:type="dcterms:W3CDTF">2015-11-10T12:01:00Z</dcterms:created>
  <dcterms:modified xsi:type="dcterms:W3CDTF">2023-06-01T05:13:10Z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7F75B25E592D4627B2A0ADE08B9E533A</vt:lpwstr>
  </property>
  <property fmtid="{D5CDD505-2E9C-101B-9397-08002B2CF9AE}" pid="3" name="KSOProductBuildVer">
    <vt:lpwstr>2052-11.1.0.12763</vt:lpwstr>
  </property>
</Properties>
</file>