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485" r:id="rId2"/>
    <p:sldId id="497" r:id="rId3"/>
    <p:sldId id="317" r:id="rId4"/>
    <p:sldId id="525" r:id="rId5"/>
    <p:sldId id="578" r:id="rId6"/>
    <p:sldId id="579" r:id="rId7"/>
    <p:sldId id="548" r:id="rId8"/>
    <p:sldId id="580" r:id="rId9"/>
    <p:sldId id="581" r:id="rId10"/>
    <p:sldId id="550" r:id="rId11"/>
    <p:sldId id="582" r:id="rId12"/>
    <p:sldId id="565" r:id="rId13"/>
    <p:sldId id="556" r:id="rId14"/>
    <p:sldId id="559" r:id="rId15"/>
  </p:sldIdLst>
  <p:sldSz cx="9144000" cy="5143500" type="screen16x9"/>
  <p:notesSz cx="6797675" cy="9925050"/>
  <p:custDataLst>
    <p:tags r:id="rId17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6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5064125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比较、赋值、成员运算符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朱龙雨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05" y="1059815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四种数据类型：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04135" y="1059180"/>
            <a:ext cx="373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000"/>
              <a:t>布尔型、整形、浮点型、字符串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11505" y="1866900"/>
            <a:ext cx="9931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10/5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604135" y="1866900"/>
            <a:ext cx="5422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11505" y="2614930"/>
            <a:ext cx="526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编写一个三位数取个位，十位，百位的程序：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83260" y="3392170"/>
            <a:ext cx="50800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个位：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369%10 = 9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/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十位：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369%100//10 = 6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/>
            <a:r>
              <a:rPr lang="zh-CN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百位：</a:t>
            </a:r>
            <a:r>
              <a:rPr lang="en-US" sz="20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369//100 = 3</a:t>
            </a:r>
            <a:endParaRPr lang="en-US" altLang="en-US" sz="20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4" grpId="0"/>
      <p:bldP spid="14" grpId="1"/>
      <p:bldP spid="100" grpId="0"/>
      <p:bldP spid="10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比较运算符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比较运算符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5600" y="3113405"/>
            <a:ext cx="1617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比较运算符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2140" y="1125220"/>
            <a:ext cx="3649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比较运算符由哪几部分构成？</a:t>
            </a:r>
          </a:p>
        </p:txBody>
      </p:sp>
      <p:sp>
        <p:nvSpPr>
          <p:cNvPr id="26" name="矩形 25"/>
          <p:cNvSpPr/>
          <p:nvPr/>
        </p:nvSpPr>
        <p:spPr>
          <a:xfrm>
            <a:off x="2699943" y="1777664"/>
            <a:ext cx="115537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tx1"/>
                </a:solidFill>
              </a:rPr>
              <a:t>&lt; </a:t>
            </a:r>
            <a:r>
              <a:rPr lang="zh-CN" altLang="en-US" sz="2000" dirty="0">
                <a:solidFill>
                  <a:schemeClr val="tx1"/>
                </a:solidFill>
              </a:rPr>
              <a:t>小于</a:t>
            </a:r>
          </a:p>
        </p:txBody>
      </p:sp>
      <p:sp>
        <p:nvSpPr>
          <p:cNvPr id="17" name="左大括号 16"/>
          <p:cNvSpPr/>
          <p:nvPr/>
        </p:nvSpPr>
        <p:spPr>
          <a:xfrm>
            <a:off x="1764080" y="1872462"/>
            <a:ext cx="576064" cy="2880320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700020" y="2339340"/>
            <a:ext cx="10668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&gt; </a:t>
            </a:r>
            <a:r>
              <a:rPr lang="zh-CN" altLang="en-US" sz="2000" dirty="0">
                <a:solidFill>
                  <a:schemeClr val="tx1"/>
                </a:solidFill>
              </a:rPr>
              <a:t>大于</a:t>
            </a:r>
          </a:p>
        </p:txBody>
      </p:sp>
      <p:sp>
        <p:nvSpPr>
          <p:cNvPr id="28" name="矩形 27"/>
          <p:cNvSpPr/>
          <p:nvPr/>
        </p:nvSpPr>
        <p:spPr>
          <a:xfrm>
            <a:off x="2700020" y="2900680"/>
            <a:ext cx="22517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&lt;= </a:t>
            </a:r>
            <a:r>
              <a:rPr lang="zh-CN" altLang="en-US" sz="2000" dirty="0">
                <a:solidFill>
                  <a:schemeClr val="tx1"/>
                </a:solidFill>
              </a:rPr>
              <a:t>小于等于</a:t>
            </a:r>
          </a:p>
        </p:txBody>
      </p:sp>
      <p:sp>
        <p:nvSpPr>
          <p:cNvPr id="29" name="矩形 28"/>
          <p:cNvSpPr/>
          <p:nvPr/>
        </p:nvSpPr>
        <p:spPr>
          <a:xfrm>
            <a:off x="2700020" y="3462655"/>
            <a:ext cx="19589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&gt;= </a:t>
            </a:r>
            <a:r>
              <a:rPr lang="zh-CN" altLang="en-US" sz="2000" dirty="0">
                <a:solidFill>
                  <a:schemeClr val="tx1"/>
                </a:solidFill>
              </a:rPr>
              <a:t>大于等于</a:t>
            </a:r>
          </a:p>
        </p:txBody>
      </p:sp>
      <p:sp>
        <p:nvSpPr>
          <p:cNvPr id="2" name="矩形 1"/>
          <p:cNvSpPr/>
          <p:nvPr/>
        </p:nvSpPr>
        <p:spPr>
          <a:xfrm>
            <a:off x="2699943" y="4024929"/>
            <a:ext cx="115537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== </a:t>
            </a:r>
            <a:r>
              <a:rPr lang="zh-CN" altLang="en-US" sz="2000" dirty="0">
                <a:solidFill>
                  <a:schemeClr val="tx1"/>
                </a:solidFill>
              </a:rPr>
              <a:t>等于</a:t>
            </a:r>
          </a:p>
        </p:txBody>
      </p:sp>
      <p:sp>
        <p:nvSpPr>
          <p:cNvPr id="3" name="矩形 2"/>
          <p:cNvSpPr/>
          <p:nvPr/>
        </p:nvSpPr>
        <p:spPr>
          <a:xfrm>
            <a:off x="2700020" y="4586605"/>
            <a:ext cx="18129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!= </a:t>
            </a:r>
            <a:r>
              <a:rPr lang="zh-CN" altLang="en-US" sz="2000" dirty="0">
                <a:solidFill>
                  <a:schemeClr val="tx1"/>
                </a:solidFill>
              </a:rPr>
              <a:t>不等于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6" grpId="0"/>
      <p:bldP spid="17" grpId="0" bldLvl="0" animBg="1"/>
      <p:bldP spid="27" grpId="0"/>
      <p:bldP spid="28" grpId="0"/>
      <p:bldP spid="29" grpId="0"/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比较运算符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5805" y="4226560"/>
            <a:ext cx="754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比较运算符得出的结果是它自身两边表达式相比较而得出的布尔值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21945" y="1119505"/>
            <a:ext cx="149542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   &gt; 10.0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5+5 &gt;= 10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3*5  != 15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700655" y="1275715"/>
            <a:ext cx="26308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数字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整型、浮点型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或者算数式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21945" y="2176145"/>
            <a:ext cx="18431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 == False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False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131185" y="2336165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布尔值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131185" y="3088640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21945" y="2924810"/>
            <a:ext cx="236283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‘12’ != ‘123’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‘9’  &gt; ‘1234’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‘a’  &lt; ‘b’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比较运算符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99795" y="982980"/>
            <a:ext cx="5876925" cy="3827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赋值运算符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赋值运算符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5600" y="3113405"/>
            <a:ext cx="1617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赋值运算符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2140" y="1125220"/>
            <a:ext cx="3649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赋值运算符由哪几部分构成？</a:t>
            </a:r>
          </a:p>
        </p:txBody>
      </p:sp>
      <p:sp>
        <p:nvSpPr>
          <p:cNvPr id="26" name="矩形 25"/>
          <p:cNvSpPr/>
          <p:nvPr/>
        </p:nvSpPr>
        <p:spPr>
          <a:xfrm>
            <a:off x="2699943" y="1777664"/>
            <a:ext cx="115537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tx1"/>
                </a:solidFill>
              </a:rPr>
              <a:t>= </a:t>
            </a:r>
            <a:r>
              <a:rPr lang="zh-CN" altLang="en-US" sz="2000" dirty="0">
                <a:solidFill>
                  <a:schemeClr val="tx1"/>
                </a:solidFill>
              </a:rPr>
              <a:t>赋值</a:t>
            </a:r>
          </a:p>
        </p:txBody>
      </p:sp>
      <p:sp>
        <p:nvSpPr>
          <p:cNvPr id="17" name="左大括号 16"/>
          <p:cNvSpPr/>
          <p:nvPr/>
        </p:nvSpPr>
        <p:spPr>
          <a:xfrm>
            <a:off x="1764080" y="1872462"/>
            <a:ext cx="576064" cy="2880320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700020" y="2479974"/>
            <a:ext cx="26403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+= </a:t>
            </a:r>
            <a:r>
              <a:rPr lang="zh-CN" altLang="en-US" sz="2000" dirty="0">
                <a:solidFill>
                  <a:schemeClr val="tx1"/>
                </a:solidFill>
              </a:rPr>
              <a:t>加等</a:t>
            </a:r>
            <a:r>
              <a:rPr lang="en-US" altLang="zh-CN" sz="2000" dirty="0">
                <a:solidFill>
                  <a:schemeClr val="tx1"/>
                </a:solidFill>
              </a:rPr>
              <a:t>  </a:t>
            </a:r>
            <a:r>
              <a:rPr lang="en-US" altLang="zh-CN" sz="2000" dirty="0">
                <a:sym typeface="+mn-ea"/>
              </a:rPr>
              <a:t>-= </a:t>
            </a:r>
            <a:r>
              <a:rPr lang="zh-CN" altLang="en-US" sz="2000" dirty="0">
                <a:sym typeface="+mn-ea"/>
              </a:rPr>
              <a:t>减等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700020" y="3182284"/>
            <a:ext cx="19589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*= </a:t>
            </a:r>
            <a:r>
              <a:rPr lang="zh-CN" altLang="en-US" sz="2000" dirty="0">
                <a:solidFill>
                  <a:schemeClr val="tx1"/>
                </a:solidFill>
              </a:rPr>
              <a:t>乘等</a:t>
            </a:r>
            <a:r>
              <a:rPr lang="en-US" altLang="zh-CN" sz="2000" dirty="0">
                <a:solidFill>
                  <a:schemeClr val="tx1"/>
                </a:solidFill>
              </a:rPr>
              <a:t>  /= </a:t>
            </a:r>
            <a:r>
              <a:rPr lang="zh-CN" altLang="en-US" sz="2000" dirty="0">
                <a:solidFill>
                  <a:schemeClr val="tx1"/>
                </a:solidFill>
              </a:rPr>
              <a:t>除等</a:t>
            </a:r>
          </a:p>
        </p:txBody>
      </p:sp>
      <p:sp>
        <p:nvSpPr>
          <p:cNvPr id="2" name="矩形 1"/>
          <p:cNvSpPr/>
          <p:nvPr/>
        </p:nvSpPr>
        <p:spPr>
          <a:xfrm>
            <a:off x="2700020" y="3884594"/>
            <a:ext cx="33769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tx1"/>
                </a:solidFill>
              </a:rPr>
              <a:t>//= </a:t>
            </a:r>
            <a:r>
              <a:rPr lang="zh-CN" altLang="en-US" sz="2000" dirty="0">
                <a:solidFill>
                  <a:schemeClr val="tx1"/>
                </a:solidFill>
              </a:rPr>
              <a:t>整除等</a:t>
            </a:r>
            <a:r>
              <a:rPr lang="en-US" altLang="zh-CN" sz="2000" dirty="0">
                <a:solidFill>
                  <a:schemeClr val="tx1"/>
                </a:solidFill>
              </a:rPr>
              <a:t> %= </a:t>
            </a:r>
            <a:r>
              <a:rPr lang="zh-CN" altLang="en-US" sz="2000" dirty="0">
                <a:solidFill>
                  <a:schemeClr val="tx1"/>
                </a:solidFill>
              </a:rPr>
              <a:t>取余等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矩形 2"/>
          <p:cNvSpPr/>
          <p:nvPr/>
        </p:nvSpPr>
        <p:spPr>
          <a:xfrm>
            <a:off x="2700020" y="4586904"/>
            <a:ext cx="18129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**= </a:t>
            </a:r>
            <a:r>
              <a:rPr lang="zh-CN" altLang="en-US" sz="2000" dirty="0">
                <a:solidFill>
                  <a:schemeClr val="tx1"/>
                </a:solidFill>
              </a:rPr>
              <a:t>幂等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6" grpId="0"/>
      <p:bldP spid="17" grpId="0" bldLvl="0" animBg="1"/>
      <p:bldP spid="27" grpId="0"/>
      <p:bldP spid="29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赋值运算符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73200" y="1346200"/>
            <a:ext cx="1116965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   =  3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  += 3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  //= 3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 ** = 3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69235" y="1346200"/>
            <a:ext cx="3098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66285" y="1807845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/>
              <a:t>规律是什么？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73200" y="3257233"/>
            <a:ext cx="133032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 *=a+5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 *=a&lt;1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566285" y="3411220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为什么是这个答案？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896235" y="3257233"/>
            <a:ext cx="6508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104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3" grpId="0"/>
      <p:bldP spid="1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成员运算符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成员运算符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5600" y="3113405"/>
            <a:ext cx="1617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成员运算符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2140" y="1125220"/>
            <a:ext cx="3649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赋值运算符由哪几部分构成？</a:t>
            </a:r>
          </a:p>
        </p:txBody>
      </p:sp>
      <p:sp>
        <p:nvSpPr>
          <p:cNvPr id="26" name="矩形 25"/>
          <p:cNvSpPr/>
          <p:nvPr/>
        </p:nvSpPr>
        <p:spPr>
          <a:xfrm>
            <a:off x="2700020" y="2279650"/>
            <a:ext cx="16186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in </a:t>
            </a:r>
            <a:r>
              <a:rPr lang="zh-CN" altLang="en-US" sz="2000" dirty="0">
                <a:solidFill>
                  <a:schemeClr val="tx1"/>
                </a:solidFill>
              </a:rPr>
              <a:t>在</a:t>
            </a:r>
            <a:r>
              <a:rPr lang="en-US" altLang="zh-CN" sz="2000" dirty="0">
                <a:solidFill>
                  <a:schemeClr val="tx1"/>
                </a:solidFill>
              </a:rPr>
              <a:t>……</a:t>
            </a:r>
            <a:r>
              <a:rPr lang="zh-CN" altLang="en-US" sz="2000" dirty="0">
                <a:solidFill>
                  <a:schemeClr val="tx1"/>
                </a:solidFill>
              </a:rPr>
              <a:t>里</a:t>
            </a:r>
          </a:p>
        </p:txBody>
      </p:sp>
      <p:sp>
        <p:nvSpPr>
          <p:cNvPr id="17" name="左大括号 16"/>
          <p:cNvSpPr/>
          <p:nvPr/>
        </p:nvSpPr>
        <p:spPr>
          <a:xfrm>
            <a:off x="1764080" y="1872462"/>
            <a:ext cx="576064" cy="2880320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700020" y="3940810"/>
            <a:ext cx="24949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not in </a:t>
            </a:r>
            <a:r>
              <a:rPr lang="zh-CN" altLang="en-US" sz="2000" dirty="0">
                <a:solidFill>
                  <a:schemeClr val="tx1"/>
                </a:solidFill>
              </a:rPr>
              <a:t>不在</a:t>
            </a:r>
            <a:r>
              <a:rPr lang="en-US" altLang="zh-CN" sz="2000" dirty="0">
                <a:solidFill>
                  <a:schemeClr val="tx1"/>
                </a:solidFill>
              </a:rPr>
              <a:t>……</a:t>
            </a:r>
            <a:r>
              <a:rPr lang="zh-CN" altLang="en-US" sz="2000" dirty="0">
                <a:solidFill>
                  <a:schemeClr val="tx1"/>
                </a:solidFill>
              </a:rPr>
              <a:t>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6" grpId="0"/>
      <p:bldP spid="17" grpId="0" bldLvl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成员运算符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3260" y="1131570"/>
            <a:ext cx="300736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‘a’   in ‘abc’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‘ac’ in ‘abc’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‘bc’ in ‘abc’</a:t>
            </a: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‘a’  not in ‘abc’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‘ac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’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not in ‘abc’</a:t>
            </a: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‘a’ not in ‘banana’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960245" y="4011930"/>
            <a:ext cx="500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在已学的数据类型中，只能用于字符串类型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29945" y="962025"/>
            <a:ext cx="2468880" cy="3012440"/>
            <a:chOff x="1759" y="1515"/>
            <a:chExt cx="3888" cy="4744"/>
          </a:xfrm>
        </p:grpSpPr>
        <p:sp>
          <p:nvSpPr>
            <p:cNvPr id="8" name="文本框 7"/>
            <p:cNvSpPr txBox="1"/>
            <p:nvPr/>
          </p:nvSpPr>
          <p:spPr>
            <a:xfrm>
              <a:off x="1759" y="1515"/>
              <a:ext cx="20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比较运算符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759" y="2903"/>
              <a:ext cx="3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可以用于四种数据类型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759" y="4291"/>
              <a:ext cx="20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得出布尔值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759" y="5679"/>
              <a:ext cx="31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三者中优先级第一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071235" y="962025"/>
            <a:ext cx="1783080" cy="3012440"/>
            <a:chOff x="10013" y="1515"/>
            <a:chExt cx="2808" cy="4744"/>
          </a:xfrm>
        </p:grpSpPr>
        <p:sp>
          <p:nvSpPr>
            <p:cNvPr id="10" name="文本框 9"/>
            <p:cNvSpPr txBox="1"/>
            <p:nvPr/>
          </p:nvSpPr>
          <p:spPr>
            <a:xfrm>
              <a:off x="10013" y="1515"/>
              <a:ext cx="20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成员运算符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013" y="2903"/>
              <a:ext cx="28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只能用于字符串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013" y="4291"/>
              <a:ext cx="20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得出布尔值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013" y="5679"/>
              <a:ext cx="20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优先级第二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450590" y="970280"/>
            <a:ext cx="2468880" cy="2977515"/>
            <a:chOff x="5953" y="1528"/>
            <a:chExt cx="3888" cy="4689"/>
          </a:xfrm>
        </p:grpSpPr>
        <p:sp>
          <p:nvSpPr>
            <p:cNvPr id="9" name="文本框 8"/>
            <p:cNvSpPr txBox="1"/>
            <p:nvPr/>
          </p:nvSpPr>
          <p:spPr>
            <a:xfrm>
              <a:off x="5953" y="1528"/>
              <a:ext cx="20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赋值运算符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953" y="2916"/>
              <a:ext cx="3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可以用于四种数据类型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953" y="4249"/>
              <a:ext cx="35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得出的是变量内的值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953" y="5637"/>
              <a:ext cx="31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/>
                <a:t>三者中优先级第三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  <p:tag name="COMMONDATA" val="eyJoZGlkIjoiNzE1MTRiZGNmZGQyODMxZWY5ZTk1Nzk2OTA5ZmQ2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596,&quot;width&quot;:11664}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385</Words>
  <Application>Microsoft Office PowerPoint</Application>
  <PresentationFormat>全屏显示(16:9)</PresentationFormat>
  <Paragraphs>109</Paragraphs>
  <Slides>14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HandelGotDLig</vt:lpstr>
      <vt:lpstr>思源黑体 CN Normal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406</cp:revision>
  <cp:lastPrinted>2000-12-31T21:09:00Z</cp:lastPrinted>
  <dcterms:created xsi:type="dcterms:W3CDTF">2015-11-10T12:01:00Z</dcterms:created>
  <dcterms:modified xsi:type="dcterms:W3CDTF">2023-09-17T02:56:35Z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7F75B25E592D4627B2A0ADE08B9E533A</vt:lpwstr>
  </property>
  <property fmtid="{D5CDD505-2E9C-101B-9397-08002B2CF9AE}" pid="3" name="KSOProductBuildVer">
    <vt:lpwstr>2052-11.1.0.12358</vt:lpwstr>
  </property>
</Properties>
</file>