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17" r:id="rId3"/>
    <p:sldId id="515" r:id="rId5"/>
    <p:sldId id="508" r:id="rId6"/>
    <p:sldId id="509" r:id="rId7"/>
    <p:sldId id="510" r:id="rId8"/>
    <p:sldId id="511" r:id="rId9"/>
    <p:sldId id="512" r:id="rId10"/>
    <p:sldId id="513" r:id="rId11"/>
    <p:sldId id="514" r:id="rId12"/>
  </p:sldIdLst>
  <p:sldSz cx="9144000" cy="5143500" type="screen16x9"/>
  <p:notesSz cx="6797675" cy="9925050"/>
  <p:custDataLst>
    <p:tags r:id="rId1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95" d="100"/>
          <a:sy n="95" d="100"/>
        </p:scale>
        <p:origin x="-612" y="-90"/>
      </p:cViewPr>
      <p:guideLst>
        <p:guide orient="horz" pos="1559"/>
        <p:guide pos="284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7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内置函数</a:t>
            </a:r>
            <a:endParaRPr lang="zh-CN" sz="28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4045" y="195580"/>
            <a:ext cx="8412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内置函数，又叫内建函数，是编程语言中预先定义的函数。内置函数的存在极大的</a:t>
            </a:r>
            <a:endParaRPr lang="zh-CN" altLang="en-US" sz="1800"/>
          </a:p>
          <a:p>
            <a:r>
              <a:rPr lang="zh-CN" altLang="en-US" sz="1800"/>
              <a:t>提高了程序的执行效率和阅读简洁度。</a:t>
            </a:r>
            <a:endParaRPr lang="zh-CN" altLang="en-US" sz="1800"/>
          </a:p>
        </p:txBody>
      </p:sp>
      <p:sp>
        <p:nvSpPr>
          <p:cNvPr id="3" name="文本框 2"/>
          <p:cNvSpPr txBox="1"/>
          <p:nvPr/>
        </p:nvSpPr>
        <p:spPr>
          <a:xfrm>
            <a:off x="614045" y="1481455"/>
            <a:ext cx="7364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而我们今天这一节课，则是来学习一下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比较常用的几个内置函数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7995" y="195580"/>
            <a:ext cx="1808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/>
              <a:t>Python</a:t>
            </a:r>
            <a:r>
              <a:rPr lang="zh-CN" altLang="en-US" sz="1800"/>
              <a:t>内建函数</a:t>
            </a:r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283" t="9656" r="3016" b="2682"/>
          <a:stretch>
            <a:fillRect/>
          </a:stretch>
        </p:blipFill>
        <p:spPr>
          <a:xfrm>
            <a:off x="467995" y="627380"/>
            <a:ext cx="7339965" cy="38392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38530" y="4773930"/>
            <a:ext cx="2672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我们将这些分成几部分，来讲解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72185" y="699135"/>
          <a:ext cx="640016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print(x)</a:t>
                      </a:r>
                      <a:endParaRPr lang="zh-CN" altLang="en-US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输出x的值</a:t>
                      </a:r>
                      <a:endParaRPr lang="en-US" altLang="zh-CN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input()</a:t>
                      </a:r>
                      <a:endParaRPr lang="en-US" altLang="zh-CN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获取用户输入</a:t>
                      </a:r>
                      <a:r>
                        <a:rPr lang="zh-CN" altLang="en-US" sz="1600" b="0"/>
                        <a:t>的字符串</a:t>
                      </a:r>
                      <a:endParaRPr lang="zh-CN" altLang="en-US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67995" y="195580"/>
            <a:ext cx="19723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输入，输出函数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8040" y="1635125"/>
            <a:ext cx="39503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这是我们最常用到的两个函数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我们先来讲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8040" y="2048510"/>
            <a:ext cx="2540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print('你好')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print(5 + 15)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print([1, 2, 3])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8040" y="3723640"/>
            <a:ext cx="2543810" cy="60769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12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只要是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的数据类型，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都能够将它们打印输出。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20335" y="1635125"/>
            <a:ext cx="181610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buClrTx/>
              <a:buSzTx/>
              <a:buFontTx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然后是我们的input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()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20335" y="2113280"/>
            <a:ext cx="2925445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= input('输入你最喜欢的运动：')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print(a)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20335" y="3021965"/>
            <a:ext cx="3254375" cy="1599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可以获取输入的字符串。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它的括号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里内容会像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pirnt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一样打印出来，一样是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任何数据类型就能输出。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但这里面并不是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获取到的内容，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而只是一种说明，为了提示用户应该输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入的内容。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72185" y="627380"/>
          <a:ext cx="63995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int(x)</a:t>
                      </a:r>
                      <a:endParaRPr lang="zh-CN" altLang="en-US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dk1"/>
                          </a:solidFill>
                        </a:rPr>
                        <a:t>将</a:t>
                      </a: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zh-CN" altLang="en-US" sz="1600" b="0">
                          <a:solidFill>
                            <a:schemeClr val="dk1"/>
                          </a:solidFill>
                        </a:rPr>
                        <a:t>转换为整形</a:t>
                      </a:r>
                      <a:endParaRPr lang="zh-CN" altLang="en-US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float(x)</a:t>
                      </a:r>
                      <a:endParaRPr lang="en-US" altLang="zh-CN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将</a:t>
                      </a:r>
                      <a:r>
                        <a:rPr lang="en-US" altLang="zh-CN" sz="1600">
                          <a:sym typeface="+mn-ea"/>
                        </a:rPr>
                        <a:t>x</a:t>
                      </a:r>
                      <a:r>
                        <a:rPr lang="zh-CN" altLang="en-US" sz="1600">
                          <a:sym typeface="+mn-ea"/>
                        </a:rPr>
                        <a:t>转换为实形</a:t>
                      </a:r>
                      <a:endParaRPr lang="zh-CN" altLang="en-US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str(x)</a:t>
                      </a:r>
                      <a:endParaRPr lang="en-US" altLang="zh-CN" sz="1600" b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将</a:t>
                      </a:r>
                      <a:r>
                        <a:rPr lang="en-US" altLang="zh-CN" sz="1600">
                          <a:sym typeface="+mn-ea"/>
                        </a:rPr>
                        <a:t>x</a:t>
                      </a:r>
                      <a:r>
                        <a:rPr lang="zh-CN" altLang="en-US" sz="1600">
                          <a:sym typeface="+mn-ea"/>
                        </a:rPr>
                        <a:t>转换为字符串</a:t>
                      </a:r>
                      <a:endParaRPr lang="zh-CN" altLang="en-US" sz="1600" b="0"/>
                    </a:p>
                  </a:txBody>
                  <a:tcP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39750" y="195580"/>
            <a:ext cx="22009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数据类型转换函数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972185" y="1923415"/>
            <a:ext cx="771652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int(x)</a:t>
            </a:r>
            <a:r>
              <a:rPr lang="zh-CN" altLang="en-US"/>
              <a:t>中的</a:t>
            </a:r>
            <a:r>
              <a:rPr lang="en-US" altLang="zh-CN"/>
              <a:t>x</a:t>
            </a:r>
            <a:r>
              <a:rPr lang="zh-CN" altLang="en-US"/>
              <a:t>只能为</a:t>
            </a:r>
            <a:r>
              <a:rPr lang="en-US" altLang="zh-CN"/>
              <a:t>1.</a:t>
            </a:r>
            <a:r>
              <a:rPr lang="zh-CN" altLang="en-US"/>
              <a:t>只有整数的字符串（</a:t>
            </a:r>
            <a:r>
              <a:rPr lang="en-US" altLang="zh-CN"/>
              <a:t>10</a:t>
            </a:r>
            <a:r>
              <a:rPr lang="zh-CN" altLang="en-US"/>
              <a:t>，</a:t>
            </a:r>
            <a:r>
              <a:rPr lang="en-US" altLang="zh-CN"/>
              <a:t>-8</a:t>
            </a:r>
            <a:r>
              <a:rPr lang="zh-CN" altLang="en-US"/>
              <a:t>）</a:t>
            </a:r>
            <a:r>
              <a:rPr lang="en-US" altLang="zh-CN"/>
              <a:t>2.</a:t>
            </a:r>
            <a:r>
              <a:rPr lang="zh-CN" altLang="en-US"/>
              <a:t>布尔型（</a:t>
            </a:r>
            <a:r>
              <a:rPr lang="en-US" altLang="zh-CN"/>
              <a:t>True</a:t>
            </a:r>
            <a:r>
              <a:rPr lang="zh-CN" altLang="en-US"/>
              <a:t>，</a:t>
            </a:r>
            <a:r>
              <a:rPr lang="en-US" altLang="zh-CN"/>
              <a:t>False</a:t>
            </a:r>
            <a:r>
              <a:rPr lang="zh-CN" altLang="en-US"/>
              <a:t>）</a:t>
            </a:r>
            <a:r>
              <a:rPr lang="en-US" altLang="zh-CN"/>
              <a:t>3.</a:t>
            </a:r>
            <a:r>
              <a:rPr lang="zh-CN" altLang="en-US"/>
              <a:t>实形（</a:t>
            </a:r>
            <a:r>
              <a:rPr lang="en-US" altLang="zh-CN"/>
              <a:t>3.14</a:t>
            </a:r>
            <a:r>
              <a:rPr lang="zh-CN" altLang="en-US"/>
              <a:t>，</a:t>
            </a:r>
            <a:r>
              <a:rPr lang="en-US" altLang="zh-CN"/>
              <a:t>-5.2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72185" y="2427605"/>
            <a:ext cx="75184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float(x)</a:t>
            </a:r>
            <a:r>
              <a:rPr lang="zh-CN" altLang="en-US">
                <a:sym typeface="+mn-ea"/>
              </a:rPr>
              <a:t>中的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只能为</a:t>
            </a: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只有数字的字符串（</a:t>
            </a:r>
            <a:r>
              <a:rPr lang="en-US" altLang="zh-CN">
                <a:sym typeface="+mn-ea"/>
              </a:rPr>
              <a:t>1.5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-8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布尔型（</a:t>
            </a:r>
            <a:r>
              <a:rPr lang="en-US" altLang="zh-CN">
                <a:sym typeface="+mn-ea"/>
              </a:rPr>
              <a:t>True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False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整形（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-5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72185" y="2931795"/>
            <a:ext cx="33642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ym typeface="+mn-ea"/>
              </a:rPr>
              <a:t>str(x)</a:t>
            </a:r>
            <a:r>
              <a:rPr lang="zh-CN" altLang="en-US">
                <a:sym typeface="+mn-ea"/>
              </a:rPr>
              <a:t>中的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可以为任何的</a:t>
            </a:r>
            <a:r>
              <a:rPr lang="en-US" altLang="zh-CN">
                <a:sym typeface="+mn-ea"/>
              </a:rPr>
              <a:t>Python</a:t>
            </a:r>
            <a:r>
              <a:rPr lang="zh-CN" altLang="en-US">
                <a:sym typeface="+mn-ea"/>
              </a:rPr>
              <a:t>数据类型</a:t>
            </a:r>
            <a:endParaRPr lang="zh-CN" altLang="en-US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72185" y="3435985"/>
            <a:ext cx="68414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/>
              <a:t>当然，</a:t>
            </a:r>
            <a:r>
              <a:rPr lang="en-US" altLang="zh-CN"/>
              <a:t>int</a:t>
            </a:r>
            <a:r>
              <a:rPr lang="zh-CN" altLang="en-US"/>
              <a:t>和</a:t>
            </a:r>
            <a:r>
              <a:rPr lang="en-US" altLang="zh-CN"/>
              <a:t>float</a:t>
            </a:r>
            <a:r>
              <a:rPr lang="zh-CN" altLang="en-US"/>
              <a:t>中的</a:t>
            </a:r>
            <a:r>
              <a:rPr lang="en-US" altLang="zh-CN"/>
              <a:t>x</a:t>
            </a:r>
            <a:r>
              <a:rPr lang="zh-CN" altLang="en-US"/>
              <a:t>也可以为它们本身的数据类型，但这个用的不多，也就不多讲了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972185" y="3940175"/>
            <a:ext cx="4263390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那么对于布尔型转换成</a:t>
            </a:r>
            <a:r>
              <a:rPr lang="en-US" altLang="zh-CN"/>
              <a:t>int</a:t>
            </a:r>
            <a:r>
              <a:rPr lang="zh-CN" altLang="en-US"/>
              <a:t>或者</a:t>
            </a:r>
            <a:r>
              <a:rPr lang="en-US" altLang="zh-CN"/>
              <a:t>float</a:t>
            </a:r>
            <a:r>
              <a:rPr lang="zh-CN" altLang="en-US"/>
              <a:t>，值得注意的是：</a:t>
            </a:r>
            <a:endParaRPr lang="en-US" altLang="en-US"/>
          </a:p>
          <a:p>
            <a:r>
              <a:rPr lang="en-US" altLang="en-US"/>
              <a:t>int(True) == 1</a:t>
            </a:r>
            <a:endParaRPr lang="en-US" altLang="en-US"/>
          </a:p>
          <a:p>
            <a:r>
              <a:rPr lang="en-US" altLang="en-US"/>
              <a:t>int(False) == 0</a:t>
            </a:r>
            <a:endParaRPr lang="en-US" altLang="en-US"/>
          </a:p>
          <a:p>
            <a:r>
              <a:rPr lang="en-US" altLang="en-US"/>
              <a:t>float(True) == 1.0</a:t>
            </a:r>
            <a:endParaRPr lang="en-US" altLang="en-US"/>
          </a:p>
          <a:p>
            <a:r>
              <a:rPr lang="en-US" altLang="en-US"/>
              <a:t>float(False) == 0.0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11505" y="699135"/>
          <a:ext cx="8119110" cy="156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555"/>
                <a:gridCol w="4059555"/>
              </a:tblGrid>
              <a:tr h="3352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len(seq)</a:t>
                      </a:r>
                      <a:endParaRPr lang="zh-CN" altLang="en-US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返回序列的长度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61658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max(s,[,args...])</a:t>
                      </a:r>
                      <a:endParaRPr lang="en-US" altLang="zh-CN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>
                          <a:sym typeface="+mn-ea"/>
                        </a:rPr>
                        <a:t>返回序列的最大值（如果给定多个参数，则返回给定参数中的最大值）</a:t>
                      </a:r>
                      <a:endParaRPr sz="1600"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  <a:tr h="616585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min(s,[,args...])</a:t>
                      </a:r>
                      <a:endParaRPr lang="en-US" altLang="zh-CN" sz="1600" b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>
                          <a:sym typeface="+mn-ea"/>
                        </a:rPr>
                        <a:t>返回序列的最小值（如果给定多个参数，则返回给定参数中的最小值）</a:t>
                      </a:r>
                      <a:endParaRPr sz="1600">
                        <a:sym typeface="+mn-ea"/>
                      </a:endParaRPr>
                    </a:p>
                  </a:txBody>
                  <a:tcPr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7995" y="195580"/>
            <a:ext cx="1743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序列相关函数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505" y="2427605"/>
            <a:ext cx="67424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en-US" altLang="zh-CN">
                <a:solidFill>
                  <a:schemeClr val="dk1"/>
                </a:solidFill>
                <a:sym typeface="+mn-ea"/>
              </a:rPr>
              <a:t>len(seq),</a:t>
            </a:r>
            <a:r>
              <a:rPr lang="zh-CN" altLang="en-US">
                <a:solidFill>
                  <a:schemeClr val="dk1"/>
                </a:solidFill>
                <a:sym typeface="+mn-ea"/>
              </a:rPr>
              <a:t>通俗一点讲，就是可以返回序列（字符串、列表、字典）其中元素的总个数</a:t>
            </a:r>
            <a:endParaRPr lang="en-US" altLang="zh-CN">
              <a:solidFill>
                <a:schemeClr val="dk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505" y="2896235"/>
            <a:ext cx="67417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max</a:t>
            </a:r>
            <a:r>
              <a:rPr lang="zh-CN" altLang="en-US"/>
              <a:t>可以返回一个序列的最大值，也可以在其中写多个参数，返回多个参数的最大值</a:t>
            </a:r>
            <a:endParaRPr lang="zh-CN" altLang="en-US"/>
          </a:p>
          <a:p>
            <a:r>
              <a:rPr lang="zh-CN" altLang="en-US"/>
              <a:t>但需要注意的是，字符串和数字无法进行比较，所以程序会报错，如：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11505" y="3580130"/>
            <a:ext cx="14281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a = ['1', 2]</a:t>
            </a:r>
            <a:endParaRPr lang="zh-CN" altLang="en-US"/>
          </a:p>
          <a:p>
            <a:r>
              <a:rPr lang="zh-CN" altLang="en-US"/>
              <a:t>print(max(a))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1505" y="4264025"/>
            <a:ext cx="4805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但整形和实形之间是可以进行比较的，所以没有影响，如：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11505" y="4732655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print(max(1.5, 100))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499610" y="4732020"/>
            <a:ext cx="29387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min</a:t>
            </a:r>
            <a:r>
              <a:rPr lang="zh-CN" altLang="zh-CN"/>
              <a:t>和</a:t>
            </a:r>
            <a:r>
              <a:rPr lang="en-US" altLang="zh-CN"/>
              <a:t>max</a:t>
            </a:r>
            <a:r>
              <a:rPr lang="zh-CN" altLang="en-US"/>
              <a:t>的用法类似，就不再赘述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28040" y="627380"/>
          <a:ext cx="63995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ord(x)</a:t>
                      </a:r>
                      <a:endParaRPr lang="en-US" altLang="zh-CN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返回</a:t>
                      </a:r>
                      <a:r>
                        <a:rPr lang="zh-CN" sz="1600" b="0">
                          <a:solidFill>
                            <a:schemeClr val="dk1"/>
                          </a:solidFill>
                        </a:rPr>
                        <a:t>字符</a:t>
                      </a:r>
                      <a:r>
                        <a:rPr sz="1600" b="0">
                          <a:solidFill>
                            <a:schemeClr val="dk1"/>
                          </a:solidFill>
                        </a:rPr>
                        <a:t>x对应的ASCII</a:t>
                      </a:r>
                      <a:r>
                        <a:rPr lang="zh-CN" sz="1600" b="0">
                          <a:solidFill>
                            <a:schemeClr val="dk1"/>
                          </a:solidFill>
                        </a:rPr>
                        <a:t>序号</a:t>
                      </a:r>
                      <a:endParaRPr lang="zh-CN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chr(x)</a:t>
                      </a:r>
                      <a:endParaRPr lang="en-US" altLang="zh-CN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>
                          <a:sym typeface="+mn-ea"/>
                        </a:rPr>
                        <a:t>返回</a:t>
                      </a:r>
                      <a:r>
                        <a:rPr lang="zh-CN" sz="1600">
                          <a:sym typeface="+mn-ea"/>
                        </a:rPr>
                        <a:t>整数</a:t>
                      </a:r>
                      <a:r>
                        <a:rPr sz="1600">
                          <a:sym typeface="+mn-ea"/>
                        </a:rPr>
                        <a:t>x对应的</a:t>
                      </a:r>
                      <a:r>
                        <a:rPr sz="1600">
                          <a:sym typeface="+mn-ea"/>
                        </a:rPr>
                        <a:t>ASCII</a:t>
                      </a:r>
                      <a:r>
                        <a:rPr sz="1600">
                          <a:sym typeface="+mn-ea"/>
                        </a:rPr>
                        <a:t>字符</a:t>
                      </a:r>
                      <a:endParaRPr sz="1600"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467995" y="123190"/>
            <a:ext cx="186690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4.ASCII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相关函数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8040" y="1707515"/>
            <a:ext cx="697992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en-US" altLang="zh-CN"/>
              <a:t>ASCII</a:t>
            </a:r>
            <a:r>
              <a:rPr lang="zh-CN" altLang="en-US"/>
              <a:t>码，我们有简单的了解过了，那么这两个函数就是</a:t>
            </a:r>
            <a:r>
              <a:rPr lang="en-US" altLang="zh-CN"/>
              <a:t>ASCII</a:t>
            </a:r>
            <a:r>
              <a:rPr lang="zh-CN" altLang="en-US"/>
              <a:t>码序号和字符的相互转换</a:t>
            </a:r>
            <a:endParaRPr lang="zh-CN" altLang="en-US"/>
          </a:p>
          <a:p>
            <a:pPr algn="l">
              <a:buClrTx/>
              <a:buSzTx/>
              <a:buFontTx/>
              <a:buNone/>
            </a:pPr>
            <a:r>
              <a:rPr lang="zh-CN" altLang="en-US"/>
              <a:t>具体的对应，大家看书里的</a:t>
            </a:r>
            <a:r>
              <a:rPr lang="en-US" altLang="zh-CN"/>
              <a:t>ASCII</a:t>
            </a:r>
            <a:r>
              <a:rPr lang="zh-CN" altLang="en-US"/>
              <a:t>码表。例子如下：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828040" y="2787650"/>
            <a:ext cx="122999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zh-CN" altLang="en-US"/>
              <a:t>ord('a')</a:t>
            </a:r>
            <a:r>
              <a:rPr lang="en-US" altLang="zh-CN"/>
              <a:t> == 97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28040" y="3652520"/>
            <a:ext cx="123126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en-US" altLang="zh-CN"/>
              <a:t>chr</a:t>
            </a:r>
            <a:r>
              <a:rPr lang="zh-CN" altLang="en-US"/>
              <a:t>(</a:t>
            </a:r>
            <a:r>
              <a:rPr lang="en-US" altLang="zh-CN"/>
              <a:t>97</a:t>
            </a:r>
            <a:r>
              <a:rPr lang="zh-CN" altLang="en-US"/>
              <a:t>)</a:t>
            </a:r>
            <a:r>
              <a:rPr lang="en-US" altLang="zh-CN"/>
              <a:t> == ‘a’</a:t>
            </a:r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78130" y="626110"/>
          <a:ext cx="8763000" cy="100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500"/>
                <a:gridCol w="4381500"/>
              </a:tblGrid>
              <a:tr h="3352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abs(x)</a:t>
                      </a:r>
                      <a:endParaRPr lang="en-US" altLang="zh-CN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返回x的绝对值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66548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round(x[,n])</a:t>
                      </a:r>
                      <a:endParaRPr lang="en-US" altLang="zh-CN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>
                          <a:sym typeface="+mn-ea"/>
                        </a:rPr>
                        <a:t>对x进行四舍五入（如果给定n，就将数x转换为小数点后有n位的数）</a:t>
                      </a:r>
                      <a:endParaRPr sz="1600"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2095" y="195580"/>
            <a:ext cx="139636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</a:t>
            </a: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数学相关函数</a:t>
            </a:r>
            <a:endParaRPr lang="zh-CN"/>
          </a:p>
        </p:txBody>
      </p:sp>
      <p:sp>
        <p:nvSpPr>
          <p:cNvPr id="4" name="文本框 3"/>
          <p:cNvSpPr txBox="1"/>
          <p:nvPr/>
        </p:nvSpPr>
        <p:spPr>
          <a:xfrm>
            <a:off x="323850" y="1851660"/>
            <a:ext cx="322580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>
              <a:buClrTx/>
              <a:buSzTx/>
              <a:buFontTx/>
              <a:buNone/>
            </a:pPr>
            <a:r>
              <a:rPr lang="en-US" altLang="zh-CN">
                <a:solidFill>
                  <a:schemeClr val="dk1"/>
                </a:solidFill>
                <a:sym typeface="+mn-ea"/>
              </a:rPr>
              <a:t>abs</a:t>
            </a:r>
            <a:r>
              <a:rPr lang="zh-CN" altLang="en-US">
                <a:solidFill>
                  <a:schemeClr val="dk1"/>
                </a:solidFill>
                <a:sym typeface="+mn-ea"/>
              </a:rPr>
              <a:t>没什么好讲，就是是返回</a:t>
            </a:r>
            <a:r>
              <a:rPr lang="en-US" altLang="zh-CN">
                <a:solidFill>
                  <a:schemeClr val="dk1"/>
                </a:solidFill>
                <a:sym typeface="+mn-ea"/>
              </a:rPr>
              <a:t>x</a:t>
            </a:r>
            <a:r>
              <a:rPr lang="zh-CN" altLang="en-US">
                <a:solidFill>
                  <a:schemeClr val="dk1"/>
                </a:solidFill>
                <a:sym typeface="+mn-ea"/>
              </a:rPr>
              <a:t>的绝对值</a:t>
            </a:r>
            <a:endParaRPr lang="zh-CN" altLang="en-US">
              <a:solidFill>
                <a:schemeClr val="dk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3850" y="2320290"/>
            <a:ext cx="6960235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对于</a:t>
            </a:r>
            <a:r>
              <a:rPr lang="en-US" altLang="zh-CN"/>
              <a:t>round</a:t>
            </a:r>
            <a:r>
              <a:rPr lang="zh-CN" altLang="en-US"/>
              <a:t>，值得注意的是它四舍五入的情况，和第二个参数</a:t>
            </a:r>
            <a:r>
              <a:rPr lang="en-US" altLang="zh-CN"/>
              <a:t>n</a:t>
            </a:r>
            <a:r>
              <a:rPr lang="zh-CN" altLang="en-US"/>
              <a:t>是有直接的关系的。如：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23850" y="3726180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round(2.74, 1) == 2.7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3850" y="3257550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round(2.74, 0)==3.0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3850" y="2788920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round(2.74)==3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23850" y="4194810"/>
            <a:ext cx="2540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round(2.74, 2) == 2.74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268220" y="3204210"/>
            <a:ext cx="61493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如果不写</a:t>
            </a:r>
            <a:r>
              <a:rPr lang="en-US" altLang="zh-CN"/>
              <a:t>n</a:t>
            </a:r>
            <a:r>
              <a:rPr lang="zh-CN" altLang="en-US"/>
              <a:t>，那么它会对四舍五入成为整数</a:t>
            </a:r>
            <a:endParaRPr lang="zh-CN" altLang="en-US"/>
          </a:p>
          <a:p>
            <a:r>
              <a:rPr lang="zh-CN" altLang="en-US"/>
              <a:t>如果选择保留</a:t>
            </a:r>
            <a:r>
              <a:rPr lang="en-US" altLang="zh-CN"/>
              <a:t>1</a:t>
            </a:r>
            <a:r>
              <a:rPr lang="zh-CN" altLang="en-US"/>
              <a:t>位小数，那么它就只会对第二位小数进行四舍五入，依次类推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755650" y="627380"/>
          <a:ext cx="639953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38100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help()</a:t>
                      </a:r>
                      <a:endParaRPr lang="en-US" altLang="zh-CN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600" b="0">
                          <a:solidFill>
                            <a:schemeClr val="dk1"/>
                          </a:solidFill>
                        </a:rPr>
                        <a:t>提供交互式帮助</a:t>
                      </a:r>
                      <a:endParaRPr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95605" y="195580"/>
            <a:ext cx="17437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5.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帮助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相关函数</a:t>
            </a:r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828040" y="1491615"/>
            <a:ext cx="28981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zh-CN"/>
              <a:t>help('str') ,查看 str 数据类型的帮助</a:t>
            </a:r>
            <a:endParaRPr lang="en-US" altLang="zh-CN"/>
          </a:p>
          <a:p>
            <a:pPr algn="l"/>
            <a:r>
              <a:rPr lang="zh-CN" altLang="en-US"/>
              <a:t>能够</a:t>
            </a:r>
            <a:r>
              <a:rPr lang="en-US" altLang="zh-CN"/>
              <a:t>显示帮助信息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67467c5d-ddad-4482-8c72-88cc876aab1c}"/>
</p:tagLst>
</file>

<file path=ppt/tags/tag2.xml><?xml version="1.0" encoding="utf-8"?>
<p:tagLst xmlns:p="http://schemas.openxmlformats.org/presentationml/2006/main">
  <p:tag name="KSO_WM_UNIT_TABLE_BEAUTIFY" val="smartTable{67467c5d-ddad-4482-8c72-88cc876aab1c}"/>
</p:tagLst>
</file>

<file path=ppt/tags/tag3.xml><?xml version="1.0" encoding="utf-8"?>
<p:tagLst xmlns:p="http://schemas.openxmlformats.org/presentationml/2006/main">
  <p:tag name="KSO_WM_UNIT_TABLE_BEAUTIFY" val="smartTable{a902a9cd-424a-486e-8705-0aea9315e26c}"/>
  <p:tag name="TABLE_ENDDRAG_ORIGIN_RECT" val="639*123"/>
  <p:tag name="TABLE_ENDDRAG_RECT" val="48*48*639*123"/>
</p:tagLst>
</file>

<file path=ppt/tags/tag4.xml><?xml version="1.0" encoding="utf-8"?>
<p:tagLst xmlns:p="http://schemas.openxmlformats.org/presentationml/2006/main">
  <p:tag name="KSO_WM_UNIT_TABLE_BEAUTIFY" val="smartTable{67467c5d-ddad-4482-8c72-88cc876aab1c}"/>
</p:tagLst>
</file>

<file path=ppt/tags/tag5.xml><?xml version="1.0" encoding="utf-8"?>
<p:tagLst xmlns:p="http://schemas.openxmlformats.org/presentationml/2006/main">
  <p:tag name="KSO_WM_UNIT_TABLE_BEAUTIFY" val="smartTable{67467c5d-ddad-4482-8c72-88cc876aab1c}"/>
  <p:tag name="TABLE_ENDDRAG_ORIGIN_RECT" val="690*76"/>
  <p:tag name="TABLE_ENDDRAG_RECT" val="21*49*690*76"/>
</p:tagLst>
</file>

<file path=ppt/tags/tag6.xml><?xml version="1.0" encoding="utf-8"?>
<p:tagLst xmlns:p="http://schemas.openxmlformats.org/presentationml/2006/main">
  <p:tag name="KSO_WM_UNIT_TABLE_BEAUTIFY" val="smartTable{f4fd8c79-662e-46fa-a889-b37e333750eb}"/>
</p:tagLst>
</file>

<file path=ppt/tags/tag7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1510</Words>
  <Application>WPS 演示</Application>
  <PresentationFormat>全屏显示(16:9)</PresentationFormat>
  <Paragraphs>151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HandelGotDLig</vt:lpstr>
      <vt:lpstr>汉真广标</vt:lpstr>
      <vt:lpstr>微软雅黑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398</cp:revision>
  <cp:lastPrinted>2000-12-31T21:09:00Z</cp:lastPrinted>
  <dcterms:created xsi:type="dcterms:W3CDTF">2015-11-10T12:01:00Z</dcterms:created>
  <dcterms:modified xsi:type="dcterms:W3CDTF">2022-04-14T12:49:08Z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B8E71497E1AA446AAF28AB5BD8C48B03</vt:lpwstr>
  </property>
  <property fmtid="{D5CDD505-2E9C-101B-9397-08002B2CF9AE}" pid="3" name="KSOProductBuildVer">
    <vt:lpwstr>2052-11.1.0.11365</vt:lpwstr>
  </property>
</Properties>
</file>