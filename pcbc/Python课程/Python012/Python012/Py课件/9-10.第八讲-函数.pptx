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470" r:id="rId5"/>
    <p:sldId id="436" r:id="rId6"/>
    <p:sldId id="438" r:id="rId7"/>
    <p:sldId id="495" r:id="rId8"/>
    <p:sldId id="503" r:id="rId9"/>
    <p:sldId id="507" r:id="rId10"/>
    <p:sldId id="508" r:id="rId11"/>
    <p:sldId id="509" r:id="rId12"/>
    <p:sldId id="510" r:id="rId13"/>
    <p:sldId id="511" r:id="rId14"/>
    <p:sldId id="512" r:id="rId15"/>
    <p:sldId id="480" r:id="rId16"/>
    <p:sldId id="501" r:id="rId17"/>
    <p:sldId id="490" r:id="rId18"/>
  </p:sldIdLst>
  <p:sldSz cx="9144000" cy="5143500" type="screen16x9"/>
  <p:notesSz cx="6797675" cy="9925050"/>
  <p:custDataLst>
    <p:tags r:id="rId22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E8E18A"/>
    <a:srgbClr val="215F27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81" autoAdjust="0"/>
    <p:restoredTop sz="95212" autoAdjust="0"/>
  </p:normalViewPr>
  <p:slideViewPr>
    <p:cSldViewPr>
      <p:cViewPr varScale="1">
        <p:scale>
          <a:sx n="100" d="100"/>
          <a:sy n="100" d="100"/>
        </p:scale>
        <p:origin x="96" y="298"/>
      </p:cViewPr>
      <p:guideLst>
        <p:guide orient="horz" pos="1609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1.1.2 </a:t>
            </a:r>
            <a:r>
              <a:rPr lang="zh-CN" altLang="en-US" dirty="0"/>
              <a:t>案例</a:t>
            </a:r>
            <a:r>
              <a:rPr lang="en-US" altLang="zh-CN" dirty="0"/>
              <a:t>1</a:t>
            </a:r>
            <a:r>
              <a:rPr lang="zh-CN" altLang="en-US" dirty="0"/>
              <a:t>：运行你的第一个程序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1.1.2 </a:t>
            </a:r>
            <a:r>
              <a:rPr lang="zh-CN" altLang="en-US" dirty="0"/>
              <a:t>案例</a:t>
            </a:r>
            <a:r>
              <a:rPr lang="en-US" altLang="zh-CN" dirty="0"/>
              <a:t>1</a:t>
            </a:r>
            <a:r>
              <a:rPr lang="zh-CN" altLang="en-US" dirty="0"/>
              <a:t>：运行你的第一个程序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125092" y="1925166"/>
            <a:ext cx="894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/>
              <a:t>函数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1081068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什么是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if </a:t>
            </a:r>
            <a:r>
              <a:rPr lang="zh-CN" altLang="en-US" sz="1600" b="1" dirty="0">
                <a:latin typeface="+mn-ea"/>
              </a:rPr>
              <a:t>，举几个生活中的例子吧？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2094" y="1563638"/>
            <a:ext cx="21977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如果</a:t>
            </a:r>
            <a:r>
              <a:rPr lang="zh-CN" altLang="en-US" sz="2000" b="1" dirty="0">
                <a:solidFill>
                  <a:schemeClr val="accent1"/>
                </a:solidFill>
              </a:rPr>
              <a:t>   表示判断</a:t>
            </a:r>
            <a:endParaRPr lang="en-US" altLang="zh-CN" sz="2000" b="1" dirty="0">
              <a:solidFill>
                <a:schemeClr val="accent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2067694"/>
            <a:ext cx="74168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判断的语法是怎样的？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1560" y="3219822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下列</a:t>
            </a:r>
            <a:r>
              <a:rPr lang="en-US" altLang="zh-CN" sz="1800" b="1" dirty="0">
                <a:solidFill>
                  <a:srgbClr val="FF0000"/>
                </a:solidFill>
              </a:rPr>
              <a:t>if</a:t>
            </a:r>
            <a:r>
              <a:rPr lang="zh-CN" altLang="en-US" sz="1600" b="1" dirty="0">
                <a:latin typeface="+mn-ea"/>
              </a:rPr>
              <a:t>判断语句的判断类型是什么？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2460" y="3725570"/>
            <a:ext cx="47716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demon = </a:t>
            </a:r>
            <a:r>
              <a:rPr lang="en-US" altLang="zh-CN" sz="1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mayuan.findNearestEnemy</a:t>
            </a:r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()</a:t>
            </a:r>
            <a:endParaRPr lang="en-US" altLang="zh-CN" sz="1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if demon:</a:t>
            </a:r>
            <a:endParaRPr lang="en-US" altLang="zh-CN" sz="1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	</a:t>
            </a:r>
            <a:r>
              <a:rPr lang="en-US" altLang="zh-CN" sz="1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mayuan.attack</a:t>
            </a:r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(demon)</a:t>
            </a:r>
            <a:endParaRPr lang="zh-CN" altLang="zh-CN" sz="1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34136" y="1615901"/>
            <a:ext cx="1997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如果</a:t>
            </a:r>
            <a:r>
              <a:rPr lang="zh-CN" altLang="en-US" b="1" dirty="0">
                <a:solidFill>
                  <a:schemeClr val="accent1"/>
                </a:solidFill>
              </a:rPr>
              <a:t>下雨了，出门带伞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292080" y="1615901"/>
            <a:ext cx="1997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如果</a:t>
            </a:r>
            <a:r>
              <a:rPr lang="zh-CN" altLang="en-US" b="1" dirty="0">
                <a:solidFill>
                  <a:schemeClr val="accent1"/>
                </a:solidFill>
              </a:rPr>
              <a:t>手机没电了，需要充电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43608" y="2501483"/>
            <a:ext cx="2616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if</a:t>
            </a:r>
            <a:r>
              <a:rPr lang="zh-CN" altLang="en-US" sz="1800" b="1" dirty="0"/>
              <a:t> </a:t>
            </a:r>
            <a:r>
              <a:rPr lang="zh-CN" altLang="en-US" sz="1600" b="1" dirty="0">
                <a:solidFill>
                  <a:schemeClr val="accent1"/>
                </a:solidFill>
              </a:rPr>
              <a:t>判断条件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r>
              <a:rPr lang="en-US" altLang="zh-CN" sz="1800" b="1" dirty="0"/>
              <a:t>	</a:t>
            </a:r>
            <a:r>
              <a:rPr lang="zh-CN" altLang="en-US" sz="1600" b="1" dirty="0">
                <a:solidFill>
                  <a:schemeClr val="accent1"/>
                </a:solidFill>
              </a:rPr>
              <a:t>需要执行的语句</a:t>
            </a:r>
            <a:endParaRPr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98924" y="4024034"/>
            <a:ext cx="901594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6" name="直线箭头连接符 10"/>
          <p:cNvCxnSpPr/>
          <p:nvPr/>
        </p:nvCxnSpPr>
        <p:spPr>
          <a:xfrm>
            <a:off x="1836078" y="4228052"/>
            <a:ext cx="4252595" cy="258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TextBox 6"/>
          <p:cNvSpPr txBox="1">
            <a:spLocks noChangeArrowheads="1"/>
          </p:cNvSpPr>
          <p:nvPr/>
        </p:nvSpPr>
        <p:spPr bwMode="auto">
          <a:xfrm>
            <a:off x="6083981" y="4227646"/>
            <a:ext cx="861977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cs typeface="+mn-ea"/>
                <a:sym typeface="+mn-lt"/>
              </a:rPr>
              <a:t>变量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  <p:bldP spid="21" grpId="0"/>
      <p:bldP spid="23" grpId="0"/>
      <p:bldP spid="24" grpId="0"/>
      <p:bldP spid="25" grpId="0" bldLvl="0" animBg="1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38"/>
          <p:cNvSpPr/>
          <p:nvPr/>
        </p:nvSpPr>
        <p:spPr>
          <a:xfrm>
            <a:off x="446089" y="2923434"/>
            <a:ext cx="447675" cy="433387"/>
          </a:xfrm>
          <a:custGeom>
            <a:avLst/>
            <a:gdLst>
              <a:gd name="connsiteX0" fmla="*/ 55291 w 1064006"/>
              <a:gd name="connsiteY0" fmla="*/ 0 h 1188564"/>
              <a:gd name="connsiteX1" fmla="*/ 1008717 w 1064006"/>
              <a:gd name="connsiteY1" fmla="*/ 0 h 1188564"/>
              <a:gd name="connsiteX2" fmla="*/ 1005879 w 1064006"/>
              <a:gd name="connsiteY2" fmla="*/ 198055 h 1188564"/>
              <a:gd name="connsiteX3" fmla="*/ 1025324 w 1064006"/>
              <a:gd name="connsiteY3" fmla="*/ 201981 h 1188564"/>
              <a:gd name="connsiteX4" fmla="*/ 1064006 w 1064006"/>
              <a:gd name="connsiteY4" fmla="*/ 260338 h 1188564"/>
              <a:gd name="connsiteX5" fmla="*/ 1025324 w 1064006"/>
              <a:gd name="connsiteY5" fmla="*/ 318695 h 1188564"/>
              <a:gd name="connsiteX6" fmla="*/ 1004089 w 1064006"/>
              <a:gd name="connsiteY6" fmla="*/ 322982 h 1188564"/>
              <a:gd name="connsiteX7" fmla="*/ 1003464 w 1064006"/>
              <a:gd name="connsiteY7" fmla="*/ 366582 h 1188564"/>
              <a:gd name="connsiteX8" fmla="*/ 1025324 w 1064006"/>
              <a:gd name="connsiteY8" fmla="*/ 370996 h 1188564"/>
              <a:gd name="connsiteX9" fmla="*/ 1064006 w 1064006"/>
              <a:gd name="connsiteY9" fmla="*/ 429353 h 1188564"/>
              <a:gd name="connsiteX10" fmla="*/ 1025324 w 1064006"/>
              <a:gd name="connsiteY10" fmla="*/ 487710 h 1188564"/>
              <a:gd name="connsiteX11" fmla="*/ 1001659 w 1064006"/>
              <a:gd name="connsiteY11" fmla="*/ 492487 h 1188564"/>
              <a:gd name="connsiteX12" fmla="*/ 1001049 w 1064006"/>
              <a:gd name="connsiteY12" fmla="*/ 535111 h 1188564"/>
              <a:gd name="connsiteX13" fmla="*/ 1025324 w 1064006"/>
              <a:gd name="connsiteY13" fmla="*/ 540012 h 1188564"/>
              <a:gd name="connsiteX14" fmla="*/ 1064006 w 1064006"/>
              <a:gd name="connsiteY14" fmla="*/ 598369 h 1188564"/>
              <a:gd name="connsiteX15" fmla="*/ 1000672 w 1064006"/>
              <a:gd name="connsiteY15" fmla="*/ 661703 h 1188564"/>
              <a:gd name="connsiteX16" fmla="*/ 999234 w 1064006"/>
              <a:gd name="connsiteY16" fmla="*/ 661703 h 1188564"/>
              <a:gd name="connsiteX17" fmla="*/ 998628 w 1064006"/>
              <a:gd name="connsiteY17" fmla="*/ 704051 h 1188564"/>
              <a:gd name="connsiteX18" fmla="*/ 1000672 w 1064006"/>
              <a:gd name="connsiteY18" fmla="*/ 704051 h 1188564"/>
              <a:gd name="connsiteX19" fmla="*/ 1064006 w 1064006"/>
              <a:gd name="connsiteY19" fmla="*/ 767385 h 1188564"/>
              <a:gd name="connsiteX20" fmla="*/ 1000672 w 1064006"/>
              <a:gd name="connsiteY20" fmla="*/ 830719 h 1188564"/>
              <a:gd name="connsiteX21" fmla="*/ 961543 w 1064006"/>
              <a:gd name="connsiteY21" fmla="*/ 830719 h 1188564"/>
              <a:gd name="connsiteX22" fmla="*/ 960691 w 1064006"/>
              <a:gd name="connsiteY22" fmla="*/ 839174 h 1188564"/>
              <a:gd name="connsiteX23" fmla="*/ 532003 w 1064006"/>
              <a:gd name="connsiteY23" fmla="*/ 1188564 h 1188564"/>
              <a:gd name="connsiteX24" fmla="*/ 103315 w 1064006"/>
              <a:gd name="connsiteY24" fmla="*/ 839174 h 1188564"/>
              <a:gd name="connsiteX25" fmla="*/ 102463 w 1064006"/>
              <a:gd name="connsiteY25" fmla="*/ 830719 h 1188564"/>
              <a:gd name="connsiteX26" fmla="*/ 63334 w 1064006"/>
              <a:gd name="connsiteY26" fmla="*/ 830719 h 1188564"/>
              <a:gd name="connsiteX27" fmla="*/ 0 w 1064006"/>
              <a:gd name="connsiteY27" fmla="*/ 767385 h 1188564"/>
              <a:gd name="connsiteX28" fmla="*/ 63334 w 1064006"/>
              <a:gd name="connsiteY28" fmla="*/ 704051 h 1188564"/>
              <a:gd name="connsiteX29" fmla="*/ 65381 w 1064006"/>
              <a:gd name="connsiteY29" fmla="*/ 704051 h 1188564"/>
              <a:gd name="connsiteX30" fmla="*/ 64774 w 1064006"/>
              <a:gd name="connsiteY30" fmla="*/ 661703 h 1188564"/>
              <a:gd name="connsiteX31" fmla="*/ 63334 w 1064006"/>
              <a:gd name="connsiteY31" fmla="*/ 661703 h 1188564"/>
              <a:gd name="connsiteX32" fmla="*/ 0 w 1064006"/>
              <a:gd name="connsiteY32" fmla="*/ 598369 h 1188564"/>
              <a:gd name="connsiteX33" fmla="*/ 38682 w 1064006"/>
              <a:gd name="connsiteY33" fmla="*/ 540012 h 1188564"/>
              <a:gd name="connsiteX34" fmla="*/ 62960 w 1064006"/>
              <a:gd name="connsiteY34" fmla="*/ 535110 h 1188564"/>
              <a:gd name="connsiteX35" fmla="*/ 62349 w 1064006"/>
              <a:gd name="connsiteY35" fmla="*/ 492488 h 1188564"/>
              <a:gd name="connsiteX36" fmla="*/ 38682 w 1064006"/>
              <a:gd name="connsiteY36" fmla="*/ 487710 h 1188564"/>
              <a:gd name="connsiteX37" fmla="*/ 0 w 1064006"/>
              <a:gd name="connsiteY37" fmla="*/ 429353 h 1188564"/>
              <a:gd name="connsiteX38" fmla="*/ 38682 w 1064006"/>
              <a:gd name="connsiteY38" fmla="*/ 370996 h 1188564"/>
              <a:gd name="connsiteX39" fmla="*/ 60544 w 1064006"/>
              <a:gd name="connsiteY39" fmla="*/ 366582 h 1188564"/>
              <a:gd name="connsiteX40" fmla="*/ 59920 w 1064006"/>
              <a:gd name="connsiteY40" fmla="*/ 322982 h 1188564"/>
              <a:gd name="connsiteX41" fmla="*/ 38682 w 1064006"/>
              <a:gd name="connsiteY41" fmla="*/ 318695 h 1188564"/>
              <a:gd name="connsiteX42" fmla="*/ 0 w 1064006"/>
              <a:gd name="connsiteY42" fmla="*/ 260338 h 1188564"/>
              <a:gd name="connsiteX43" fmla="*/ 38682 w 1064006"/>
              <a:gd name="connsiteY43" fmla="*/ 201981 h 1188564"/>
              <a:gd name="connsiteX44" fmla="*/ 58129 w 1064006"/>
              <a:gd name="connsiteY44" fmla="*/ 198055 h 1188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64006" h="1188564">
                <a:moveTo>
                  <a:pt x="55291" y="0"/>
                </a:moveTo>
                <a:lnTo>
                  <a:pt x="1008717" y="0"/>
                </a:lnTo>
                <a:lnTo>
                  <a:pt x="1005879" y="198055"/>
                </a:lnTo>
                <a:lnTo>
                  <a:pt x="1025324" y="201981"/>
                </a:lnTo>
                <a:cubicBezTo>
                  <a:pt x="1048056" y="211596"/>
                  <a:pt x="1064006" y="234104"/>
                  <a:pt x="1064006" y="260338"/>
                </a:cubicBezTo>
                <a:cubicBezTo>
                  <a:pt x="1064006" y="286571"/>
                  <a:pt x="1048056" y="309080"/>
                  <a:pt x="1025324" y="318695"/>
                </a:cubicBezTo>
                <a:lnTo>
                  <a:pt x="1004089" y="322982"/>
                </a:lnTo>
                <a:lnTo>
                  <a:pt x="1003464" y="366582"/>
                </a:lnTo>
                <a:lnTo>
                  <a:pt x="1025324" y="370996"/>
                </a:lnTo>
                <a:cubicBezTo>
                  <a:pt x="1048056" y="380611"/>
                  <a:pt x="1064006" y="403119"/>
                  <a:pt x="1064006" y="429353"/>
                </a:cubicBezTo>
                <a:cubicBezTo>
                  <a:pt x="1064006" y="455586"/>
                  <a:pt x="1048056" y="478095"/>
                  <a:pt x="1025324" y="487710"/>
                </a:cubicBezTo>
                <a:lnTo>
                  <a:pt x="1001659" y="492487"/>
                </a:lnTo>
                <a:lnTo>
                  <a:pt x="1001049" y="535111"/>
                </a:lnTo>
                <a:lnTo>
                  <a:pt x="1025324" y="540012"/>
                </a:lnTo>
                <a:cubicBezTo>
                  <a:pt x="1048056" y="549627"/>
                  <a:pt x="1064006" y="572135"/>
                  <a:pt x="1064006" y="598369"/>
                </a:cubicBezTo>
                <a:cubicBezTo>
                  <a:pt x="1064006" y="633347"/>
                  <a:pt x="1035650" y="661703"/>
                  <a:pt x="1000672" y="661703"/>
                </a:cubicBezTo>
                <a:lnTo>
                  <a:pt x="999234" y="661703"/>
                </a:lnTo>
                <a:lnTo>
                  <a:pt x="998628" y="704051"/>
                </a:lnTo>
                <a:lnTo>
                  <a:pt x="1000672" y="704051"/>
                </a:lnTo>
                <a:cubicBezTo>
                  <a:pt x="1035650" y="704051"/>
                  <a:pt x="1064006" y="732407"/>
                  <a:pt x="1064006" y="767385"/>
                </a:cubicBezTo>
                <a:cubicBezTo>
                  <a:pt x="1064006" y="802363"/>
                  <a:pt x="1035650" y="830719"/>
                  <a:pt x="1000672" y="830719"/>
                </a:cubicBezTo>
                <a:lnTo>
                  <a:pt x="961543" y="830719"/>
                </a:lnTo>
                <a:lnTo>
                  <a:pt x="960691" y="839174"/>
                </a:lnTo>
                <a:cubicBezTo>
                  <a:pt x="919889" y="1038571"/>
                  <a:pt x="743463" y="1188564"/>
                  <a:pt x="532003" y="1188564"/>
                </a:cubicBezTo>
                <a:cubicBezTo>
                  <a:pt x="320544" y="1188564"/>
                  <a:pt x="144118" y="1038571"/>
                  <a:pt x="103315" y="839174"/>
                </a:cubicBezTo>
                <a:lnTo>
                  <a:pt x="102463" y="830719"/>
                </a:lnTo>
                <a:lnTo>
                  <a:pt x="63334" y="830719"/>
                </a:lnTo>
                <a:cubicBezTo>
                  <a:pt x="28356" y="830719"/>
                  <a:pt x="0" y="802363"/>
                  <a:pt x="0" y="767385"/>
                </a:cubicBezTo>
                <a:cubicBezTo>
                  <a:pt x="0" y="732407"/>
                  <a:pt x="28356" y="704051"/>
                  <a:pt x="63334" y="704051"/>
                </a:cubicBezTo>
                <a:lnTo>
                  <a:pt x="65381" y="704051"/>
                </a:lnTo>
                <a:lnTo>
                  <a:pt x="64774" y="661703"/>
                </a:lnTo>
                <a:lnTo>
                  <a:pt x="63334" y="661703"/>
                </a:lnTo>
                <a:cubicBezTo>
                  <a:pt x="28356" y="661703"/>
                  <a:pt x="0" y="633347"/>
                  <a:pt x="0" y="598369"/>
                </a:cubicBezTo>
                <a:cubicBezTo>
                  <a:pt x="0" y="572135"/>
                  <a:pt x="15950" y="549627"/>
                  <a:pt x="38682" y="540012"/>
                </a:cubicBezTo>
                <a:lnTo>
                  <a:pt x="62960" y="535110"/>
                </a:lnTo>
                <a:lnTo>
                  <a:pt x="62349" y="492488"/>
                </a:lnTo>
                <a:lnTo>
                  <a:pt x="38682" y="487710"/>
                </a:lnTo>
                <a:cubicBezTo>
                  <a:pt x="15950" y="478095"/>
                  <a:pt x="0" y="455586"/>
                  <a:pt x="0" y="429353"/>
                </a:cubicBezTo>
                <a:cubicBezTo>
                  <a:pt x="0" y="403119"/>
                  <a:pt x="15950" y="380611"/>
                  <a:pt x="38682" y="370996"/>
                </a:cubicBezTo>
                <a:lnTo>
                  <a:pt x="60544" y="366582"/>
                </a:lnTo>
                <a:lnTo>
                  <a:pt x="59920" y="322982"/>
                </a:lnTo>
                <a:lnTo>
                  <a:pt x="38682" y="318695"/>
                </a:lnTo>
                <a:cubicBezTo>
                  <a:pt x="15950" y="309080"/>
                  <a:pt x="0" y="286571"/>
                  <a:pt x="0" y="260338"/>
                </a:cubicBezTo>
                <a:cubicBezTo>
                  <a:pt x="0" y="234104"/>
                  <a:pt x="15950" y="211596"/>
                  <a:pt x="38682" y="201981"/>
                </a:cubicBezTo>
                <a:lnTo>
                  <a:pt x="58129" y="19805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3" name="Oval 239"/>
          <p:cNvSpPr/>
          <p:nvPr/>
        </p:nvSpPr>
        <p:spPr>
          <a:xfrm>
            <a:off x="442914" y="2790084"/>
            <a:ext cx="80962" cy="793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4" name="Oval 240"/>
          <p:cNvSpPr/>
          <p:nvPr/>
        </p:nvSpPr>
        <p:spPr>
          <a:xfrm>
            <a:off x="819150" y="2790083"/>
            <a:ext cx="58738" cy="5873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5" name="Oval 241"/>
          <p:cNvSpPr/>
          <p:nvPr/>
        </p:nvSpPr>
        <p:spPr>
          <a:xfrm>
            <a:off x="639763" y="2804370"/>
            <a:ext cx="57150" cy="587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6" name="Oval 242"/>
          <p:cNvSpPr/>
          <p:nvPr/>
        </p:nvSpPr>
        <p:spPr>
          <a:xfrm>
            <a:off x="317501" y="2571009"/>
            <a:ext cx="80963" cy="8096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7" name="Oval 243"/>
          <p:cNvSpPr/>
          <p:nvPr/>
        </p:nvSpPr>
        <p:spPr>
          <a:xfrm>
            <a:off x="180976" y="2361459"/>
            <a:ext cx="80963" cy="8096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8" name="Oval 244"/>
          <p:cNvSpPr/>
          <p:nvPr/>
        </p:nvSpPr>
        <p:spPr>
          <a:xfrm>
            <a:off x="144464" y="2096346"/>
            <a:ext cx="80962" cy="809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9" name="Oval 245"/>
          <p:cNvSpPr/>
          <p:nvPr/>
        </p:nvSpPr>
        <p:spPr>
          <a:xfrm>
            <a:off x="277814" y="1789959"/>
            <a:ext cx="79375" cy="793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0" name="Oval 246"/>
          <p:cNvSpPr/>
          <p:nvPr/>
        </p:nvSpPr>
        <p:spPr>
          <a:xfrm>
            <a:off x="485776" y="1653434"/>
            <a:ext cx="80963" cy="793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1" name="Oval 247"/>
          <p:cNvSpPr/>
          <p:nvPr/>
        </p:nvSpPr>
        <p:spPr>
          <a:xfrm>
            <a:off x="738189" y="1639146"/>
            <a:ext cx="79375" cy="809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2" name="Oval 248"/>
          <p:cNvSpPr/>
          <p:nvPr/>
        </p:nvSpPr>
        <p:spPr>
          <a:xfrm>
            <a:off x="1008064" y="1810596"/>
            <a:ext cx="79375" cy="793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3" name="Oval 249"/>
          <p:cNvSpPr/>
          <p:nvPr/>
        </p:nvSpPr>
        <p:spPr>
          <a:xfrm>
            <a:off x="1106489" y="2066184"/>
            <a:ext cx="80962" cy="793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4" name="Oval 250"/>
          <p:cNvSpPr/>
          <p:nvPr/>
        </p:nvSpPr>
        <p:spPr>
          <a:xfrm>
            <a:off x="1084263" y="2342409"/>
            <a:ext cx="80962" cy="8096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5" name="Oval 251"/>
          <p:cNvSpPr/>
          <p:nvPr/>
        </p:nvSpPr>
        <p:spPr>
          <a:xfrm>
            <a:off x="933450" y="2590058"/>
            <a:ext cx="58738" cy="5873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6" name="Oval 252"/>
          <p:cNvSpPr/>
          <p:nvPr/>
        </p:nvSpPr>
        <p:spPr>
          <a:xfrm>
            <a:off x="527051" y="2545609"/>
            <a:ext cx="58738" cy="5873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7" name="Oval 253"/>
          <p:cNvSpPr/>
          <p:nvPr/>
        </p:nvSpPr>
        <p:spPr>
          <a:xfrm>
            <a:off x="419101" y="2063008"/>
            <a:ext cx="123825" cy="1254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8" name="Oval 254"/>
          <p:cNvSpPr/>
          <p:nvPr/>
        </p:nvSpPr>
        <p:spPr>
          <a:xfrm>
            <a:off x="668338" y="2318596"/>
            <a:ext cx="182562" cy="1809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9" name="Oval 255"/>
          <p:cNvSpPr/>
          <p:nvPr/>
        </p:nvSpPr>
        <p:spPr>
          <a:xfrm>
            <a:off x="549276" y="2259859"/>
            <a:ext cx="58738" cy="5873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0" name="Oval 256"/>
          <p:cNvSpPr/>
          <p:nvPr/>
        </p:nvSpPr>
        <p:spPr>
          <a:xfrm>
            <a:off x="352425" y="2282084"/>
            <a:ext cx="57150" cy="5873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1" name="Oval 257"/>
          <p:cNvSpPr/>
          <p:nvPr/>
        </p:nvSpPr>
        <p:spPr>
          <a:xfrm>
            <a:off x="666750" y="1837583"/>
            <a:ext cx="58738" cy="5873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2" name="Oval 258"/>
          <p:cNvSpPr/>
          <p:nvPr/>
        </p:nvSpPr>
        <p:spPr>
          <a:xfrm>
            <a:off x="750888" y="1988396"/>
            <a:ext cx="80962" cy="809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3" name="Oval 259"/>
          <p:cNvSpPr/>
          <p:nvPr/>
        </p:nvSpPr>
        <p:spPr>
          <a:xfrm>
            <a:off x="941388" y="2201121"/>
            <a:ext cx="80962" cy="809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4" name="Oval 260"/>
          <p:cNvSpPr/>
          <p:nvPr/>
        </p:nvSpPr>
        <p:spPr>
          <a:xfrm>
            <a:off x="423863" y="1839170"/>
            <a:ext cx="123825" cy="1238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5" name="Oval 261"/>
          <p:cNvSpPr/>
          <p:nvPr/>
        </p:nvSpPr>
        <p:spPr>
          <a:xfrm>
            <a:off x="719138" y="2188421"/>
            <a:ext cx="58737" cy="587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cxnSp>
        <p:nvCxnSpPr>
          <p:cNvPr id="26" name="Straight Connector 262"/>
          <p:cNvCxnSpPr>
            <a:stCxn id="3" idx="6"/>
            <a:endCxn id="5" idx="2"/>
          </p:cNvCxnSpPr>
          <p:nvPr/>
        </p:nvCxnSpPr>
        <p:spPr>
          <a:xfrm>
            <a:off x="523875" y="2829771"/>
            <a:ext cx="115888" cy="31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3"/>
          <p:cNvCxnSpPr>
            <a:stCxn id="5" idx="6"/>
            <a:endCxn id="4" idx="2"/>
          </p:cNvCxnSpPr>
          <p:nvPr/>
        </p:nvCxnSpPr>
        <p:spPr>
          <a:xfrm flipV="1">
            <a:off x="696914" y="2818659"/>
            <a:ext cx="122237" cy="1428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64"/>
          <p:cNvCxnSpPr>
            <a:stCxn id="4" idx="7"/>
            <a:endCxn id="15" idx="3"/>
          </p:cNvCxnSpPr>
          <p:nvPr/>
        </p:nvCxnSpPr>
        <p:spPr>
          <a:xfrm flipV="1">
            <a:off x="869951" y="2639271"/>
            <a:ext cx="73025" cy="1587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65"/>
          <p:cNvCxnSpPr>
            <a:stCxn id="15" idx="7"/>
            <a:endCxn id="14" idx="3"/>
          </p:cNvCxnSpPr>
          <p:nvPr/>
        </p:nvCxnSpPr>
        <p:spPr>
          <a:xfrm flipV="1">
            <a:off x="984251" y="2410671"/>
            <a:ext cx="111125" cy="1873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66"/>
          <p:cNvCxnSpPr>
            <a:stCxn id="14" idx="0"/>
            <a:endCxn id="13" idx="4"/>
          </p:cNvCxnSpPr>
          <p:nvPr/>
        </p:nvCxnSpPr>
        <p:spPr>
          <a:xfrm flipV="1">
            <a:off x="1123951" y="2145559"/>
            <a:ext cx="23813" cy="1968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67"/>
          <p:cNvCxnSpPr>
            <a:stCxn id="13" idx="0"/>
            <a:endCxn id="12" idx="5"/>
          </p:cNvCxnSpPr>
          <p:nvPr/>
        </p:nvCxnSpPr>
        <p:spPr>
          <a:xfrm flipH="1" flipV="1">
            <a:off x="1076326" y="1878859"/>
            <a:ext cx="71438" cy="1873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268"/>
          <p:cNvCxnSpPr>
            <a:stCxn id="12" idx="1"/>
            <a:endCxn id="11" idx="6"/>
          </p:cNvCxnSpPr>
          <p:nvPr/>
        </p:nvCxnSpPr>
        <p:spPr>
          <a:xfrm flipH="1" flipV="1">
            <a:off x="817563" y="1678834"/>
            <a:ext cx="201612" cy="1428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269"/>
          <p:cNvCxnSpPr>
            <a:stCxn id="11" idx="2"/>
            <a:endCxn id="10" idx="6"/>
          </p:cNvCxnSpPr>
          <p:nvPr/>
        </p:nvCxnSpPr>
        <p:spPr>
          <a:xfrm flipH="1">
            <a:off x="566738" y="1678834"/>
            <a:ext cx="171450" cy="1428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270"/>
          <p:cNvCxnSpPr>
            <a:stCxn id="10" idx="2"/>
            <a:endCxn id="9" idx="7"/>
          </p:cNvCxnSpPr>
          <p:nvPr/>
        </p:nvCxnSpPr>
        <p:spPr>
          <a:xfrm flipH="1">
            <a:off x="346075" y="1693121"/>
            <a:ext cx="139700" cy="1079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271"/>
          <p:cNvCxnSpPr>
            <a:stCxn id="9" idx="3"/>
            <a:endCxn id="8" idx="0"/>
          </p:cNvCxnSpPr>
          <p:nvPr/>
        </p:nvCxnSpPr>
        <p:spPr>
          <a:xfrm flipH="1">
            <a:off x="185739" y="1858220"/>
            <a:ext cx="103187" cy="2381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272"/>
          <p:cNvCxnSpPr>
            <a:stCxn id="8" idx="4"/>
            <a:endCxn id="7" idx="0"/>
          </p:cNvCxnSpPr>
          <p:nvPr/>
        </p:nvCxnSpPr>
        <p:spPr>
          <a:xfrm>
            <a:off x="185739" y="2177309"/>
            <a:ext cx="34925" cy="1841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273"/>
          <p:cNvCxnSpPr>
            <a:stCxn id="7" idx="5"/>
            <a:endCxn id="6" idx="1"/>
          </p:cNvCxnSpPr>
          <p:nvPr/>
        </p:nvCxnSpPr>
        <p:spPr>
          <a:xfrm>
            <a:off x="249239" y="2429721"/>
            <a:ext cx="80962" cy="15398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274"/>
          <p:cNvCxnSpPr>
            <a:stCxn id="6" idx="4"/>
            <a:endCxn id="3" idx="1"/>
          </p:cNvCxnSpPr>
          <p:nvPr/>
        </p:nvCxnSpPr>
        <p:spPr>
          <a:xfrm>
            <a:off x="358776" y="2651971"/>
            <a:ext cx="96838" cy="1492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75"/>
          <p:cNvCxnSpPr>
            <a:stCxn id="3" idx="7"/>
            <a:endCxn id="16" idx="4"/>
          </p:cNvCxnSpPr>
          <p:nvPr/>
        </p:nvCxnSpPr>
        <p:spPr>
          <a:xfrm flipV="1">
            <a:off x="511175" y="2604346"/>
            <a:ext cx="46038" cy="1968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276"/>
          <p:cNvCxnSpPr>
            <a:stCxn id="16" idx="6"/>
            <a:endCxn id="15" idx="2"/>
          </p:cNvCxnSpPr>
          <p:nvPr/>
        </p:nvCxnSpPr>
        <p:spPr>
          <a:xfrm>
            <a:off x="585789" y="2574184"/>
            <a:ext cx="347662" cy="444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277"/>
          <p:cNvCxnSpPr>
            <a:stCxn id="16" idx="5"/>
            <a:endCxn id="5" idx="0"/>
          </p:cNvCxnSpPr>
          <p:nvPr/>
        </p:nvCxnSpPr>
        <p:spPr>
          <a:xfrm>
            <a:off x="577851" y="2594820"/>
            <a:ext cx="90488" cy="2095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278"/>
          <p:cNvCxnSpPr>
            <a:stCxn id="4" idx="1"/>
            <a:endCxn id="16" idx="5"/>
          </p:cNvCxnSpPr>
          <p:nvPr/>
        </p:nvCxnSpPr>
        <p:spPr>
          <a:xfrm flipH="1" flipV="1">
            <a:off x="577851" y="2594820"/>
            <a:ext cx="250825" cy="2032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279"/>
          <p:cNvCxnSpPr>
            <a:stCxn id="16" idx="1"/>
            <a:endCxn id="20" idx="5"/>
          </p:cNvCxnSpPr>
          <p:nvPr/>
        </p:nvCxnSpPr>
        <p:spPr>
          <a:xfrm flipH="1" flipV="1">
            <a:off x="401639" y="2331296"/>
            <a:ext cx="134937" cy="2222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280"/>
          <p:cNvCxnSpPr>
            <a:stCxn id="6" idx="7"/>
            <a:endCxn id="16" idx="2"/>
          </p:cNvCxnSpPr>
          <p:nvPr/>
        </p:nvCxnSpPr>
        <p:spPr>
          <a:xfrm flipV="1">
            <a:off x="387351" y="2574184"/>
            <a:ext cx="139700" cy="95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281"/>
          <p:cNvCxnSpPr>
            <a:stCxn id="20" idx="3"/>
            <a:endCxn id="7" idx="7"/>
          </p:cNvCxnSpPr>
          <p:nvPr/>
        </p:nvCxnSpPr>
        <p:spPr>
          <a:xfrm flipH="1">
            <a:off x="249239" y="2331296"/>
            <a:ext cx="111125" cy="412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282"/>
          <p:cNvCxnSpPr>
            <a:stCxn id="6" idx="0"/>
            <a:endCxn id="20" idx="4"/>
          </p:cNvCxnSpPr>
          <p:nvPr/>
        </p:nvCxnSpPr>
        <p:spPr>
          <a:xfrm flipV="1">
            <a:off x="358776" y="2340821"/>
            <a:ext cx="22225" cy="23018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283"/>
          <p:cNvCxnSpPr>
            <a:stCxn id="20" idx="0"/>
            <a:endCxn id="9" idx="4"/>
          </p:cNvCxnSpPr>
          <p:nvPr/>
        </p:nvCxnSpPr>
        <p:spPr>
          <a:xfrm flipH="1" flipV="1">
            <a:off x="317500" y="1869333"/>
            <a:ext cx="63500" cy="4127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284"/>
          <p:cNvCxnSpPr>
            <a:stCxn id="20" idx="1"/>
            <a:endCxn id="8" idx="6"/>
          </p:cNvCxnSpPr>
          <p:nvPr/>
        </p:nvCxnSpPr>
        <p:spPr>
          <a:xfrm flipH="1" flipV="1">
            <a:off x="225426" y="2137620"/>
            <a:ext cx="134938" cy="1524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285"/>
          <p:cNvCxnSpPr>
            <a:stCxn id="9" idx="6"/>
            <a:endCxn id="24" idx="1"/>
          </p:cNvCxnSpPr>
          <p:nvPr/>
        </p:nvCxnSpPr>
        <p:spPr>
          <a:xfrm>
            <a:off x="357189" y="1829645"/>
            <a:ext cx="84137" cy="2698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286"/>
          <p:cNvCxnSpPr>
            <a:stCxn id="24" idx="4"/>
            <a:endCxn id="17" idx="0"/>
          </p:cNvCxnSpPr>
          <p:nvPr/>
        </p:nvCxnSpPr>
        <p:spPr>
          <a:xfrm flipH="1">
            <a:off x="481014" y="1962996"/>
            <a:ext cx="4762" cy="100013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287"/>
          <p:cNvCxnSpPr>
            <a:stCxn id="17" idx="5"/>
            <a:endCxn id="19" idx="1"/>
          </p:cNvCxnSpPr>
          <p:nvPr/>
        </p:nvCxnSpPr>
        <p:spPr>
          <a:xfrm>
            <a:off x="525464" y="2169371"/>
            <a:ext cx="31750" cy="984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88"/>
          <p:cNvCxnSpPr>
            <a:stCxn id="19" idx="5"/>
            <a:endCxn id="18" idx="1"/>
          </p:cNvCxnSpPr>
          <p:nvPr/>
        </p:nvCxnSpPr>
        <p:spPr>
          <a:xfrm>
            <a:off x="600075" y="2309071"/>
            <a:ext cx="95250" cy="36513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89"/>
          <p:cNvCxnSpPr>
            <a:stCxn id="18" idx="5"/>
            <a:endCxn id="15" idx="1"/>
          </p:cNvCxnSpPr>
          <p:nvPr/>
        </p:nvCxnSpPr>
        <p:spPr>
          <a:xfrm>
            <a:off x="823914" y="2474171"/>
            <a:ext cx="119062" cy="1238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90"/>
          <p:cNvCxnSpPr>
            <a:stCxn id="18" idx="3"/>
            <a:endCxn id="16" idx="7"/>
          </p:cNvCxnSpPr>
          <p:nvPr/>
        </p:nvCxnSpPr>
        <p:spPr>
          <a:xfrm flipH="1">
            <a:off x="577851" y="2474171"/>
            <a:ext cx="117475" cy="793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91"/>
          <p:cNvCxnSpPr>
            <a:stCxn id="19" idx="3"/>
            <a:endCxn id="20" idx="6"/>
          </p:cNvCxnSpPr>
          <p:nvPr/>
        </p:nvCxnSpPr>
        <p:spPr>
          <a:xfrm flipH="1">
            <a:off x="409576" y="2309070"/>
            <a:ext cx="147638" cy="158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292"/>
          <p:cNvCxnSpPr>
            <a:stCxn id="17" idx="3"/>
            <a:endCxn id="20" idx="7"/>
          </p:cNvCxnSpPr>
          <p:nvPr/>
        </p:nvCxnSpPr>
        <p:spPr>
          <a:xfrm flipH="1">
            <a:off x="401639" y="2169370"/>
            <a:ext cx="34925" cy="1206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93"/>
          <p:cNvCxnSpPr>
            <a:stCxn id="17" idx="7"/>
            <a:endCxn id="21" idx="3"/>
          </p:cNvCxnSpPr>
          <p:nvPr/>
        </p:nvCxnSpPr>
        <p:spPr>
          <a:xfrm flipV="1">
            <a:off x="525463" y="1888384"/>
            <a:ext cx="150812" cy="1936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94"/>
          <p:cNvCxnSpPr>
            <a:stCxn id="21" idx="7"/>
            <a:endCxn id="11" idx="3"/>
          </p:cNvCxnSpPr>
          <p:nvPr/>
        </p:nvCxnSpPr>
        <p:spPr>
          <a:xfrm flipV="1">
            <a:off x="717551" y="1707409"/>
            <a:ext cx="31750" cy="1397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295"/>
          <p:cNvCxnSpPr>
            <a:stCxn id="24" idx="7"/>
            <a:endCxn id="11" idx="3"/>
          </p:cNvCxnSpPr>
          <p:nvPr/>
        </p:nvCxnSpPr>
        <p:spPr>
          <a:xfrm flipV="1">
            <a:off x="530225" y="1707409"/>
            <a:ext cx="219075" cy="1492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296"/>
          <p:cNvCxnSpPr>
            <a:stCxn id="10" idx="5"/>
            <a:endCxn id="21" idx="1"/>
          </p:cNvCxnSpPr>
          <p:nvPr/>
        </p:nvCxnSpPr>
        <p:spPr>
          <a:xfrm>
            <a:off x="555625" y="1721696"/>
            <a:ext cx="120650" cy="125413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297"/>
          <p:cNvCxnSpPr>
            <a:stCxn id="22" idx="7"/>
            <a:endCxn id="12" idx="3"/>
          </p:cNvCxnSpPr>
          <p:nvPr/>
        </p:nvCxnSpPr>
        <p:spPr>
          <a:xfrm flipV="1">
            <a:off x="819151" y="1878859"/>
            <a:ext cx="200025" cy="1206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298"/>
          <p:cNvCxnSpPr>
            <a:stCxn id="22" idx="0"/>
            <a:endCxn id="11" idx="4"/>
          </p:cNvCxnSpPr>
          <p:nvPr/>
        </p:nvCxnSpPr>
        <p:spPr>
          <a:xfrm flipH="1" flipV="1">
            <a:off x="777876" y="1720109"/>
            <a:ext cx="12700" cy="26828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299"/>
          <p:cNvCxnSpPr>
            <a:stCxn id="22" idx="1"/>
            <a:endCxn id="21" idx="5"/>
          </p:cNvCxnSpPr>
          <p:nvPr/>
        </p:nvCxnSpPr>
        <p:spPr>
          <a:xfrm flipH="1" flipV="1">
            <a:off x="717550" y="1888384"/>
            <a:ext cx="46038" cy="1111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300"/>
          <p:cNvCxnSpPr>
            <a:stCxn id="25" idx="0"/>
            <a:endCxn id="22" idx="4"/>
          </p:cNvCxnSpPr>
          <p:nvPr/>
        </p:nvCxnSpPr>
        <p:spPr>
          <a:xfrm flipV="1">
            <a:off x="749301" y="2069358"/>
            <a:ext cx="41275" cy="119062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301"/>
          <p:cNvCxnSpPr>
            <a:stCxn id="25" idx="4"/>
            <a:endCxn id="18" idx="0"/>
          </p:cNvCxnSpPr>
          <p:nvPr/>
        </p:nvCxnSpPr>
        <p:spPr>
          <a:xfrm>
            <a:off x="749301" y="2247159"/>
            <a:ext cx="11113" cy="7143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302"/>
          <p:cNvCxnSpPr>
            <a:stCxn id="25" idx="1"/>
            <a:endCxn id="17" idx="6"/>
          </p:cNvCxnSpPr>
          <p:nvPr/>
        </p:nvCxnSpPr>
        <p:spPr>
          <a:xfrm flipH="1" flipV="1">
            <a:off x="542926" y="2124921"/>
            <a:ext cx="185738" cy="7143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303"/>
          <p:cNvCxnSpPr>
            <a:stCxn id="18" idx="7"/>
            <a:endCxn id="23" idx="3"/>
          </p:cNvCxnSpPr>
          <p:nvPr/>
        </p:nvCxnSpPr>
        <p:spPr>
          <a:xfrm flipV="1">
            <a:off x="823914" y="2269383"/>
            <a:ext cx="130175" cy="762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304"/>
          <p:cNvCxnSpPr>
            <a:stCxn id="23" idx="0"/>
            <a:endCxn id="12" idx="4"/>
          </p:cNvCxnSpPr>
          <p:nvPr/>
        </p:nvCxnSpPr>
        <p:spPr>
          <a:xfrm flipV="1">
            <a:off x="982664" y="1889971"/>
            <a:ext cx="65087" cy="31115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305"/>
          <p:cNvCxnSpPr>
            <a:stCxn id="23" idx="1"/>
            <a:endCxn id="22" idx="5"/>
          </p:cNvCxnSpPr>
          <p:nvPr/>
        </p:nvCxnSpPr>
        <p:spPr>
          <a:xfrm flipH="1" flipV="1">
            <a:off x="819150" y="2056659"/>
            <a:ext cx="134938" cy="1555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06"/>
          <p:cNvCxnSpPr>
            <a:stCxn id="23" idx="7"/>
            <a:endCxn id="13" idx="3"/>
          </p:cNvCxnSpPr>
          <p:nvPr/>
        </p:nvCxnSpPr>
        <p:spPr>
          <a:xfrm flipV="1">
            <a:off x="1011239" y="2134446"/>
            <a:ext cx="107950" cy="7778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307"/>
          <p:cNvCxnSpPr>
            <a:stCxn id="23" idx="5"/>
            <a:endCxn id="14" idx="1"/>
          </p:cNvCxnSpPr>
          <p:nvPr/>
        </p:nvCxnSpPr>
        <p:spPr>
          <a:xfrm>
            <a:off x="1011239" y="2269384"/>
            <a:ext cx="84137" cy="8572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308"/>
          <p:cNvCxnSpPr>
            <a:stCxn id="15" idx="0"/>
            <a:endCxn id="23" idx="4"/>
          </p:cNvCxnSpPr>
          <p:nvPr/>
        </p:nvCxnSpPr>
        <p:spPr>
          <a:xfrm flipV="1">
            <a:off x="963613" y="2282084"/>
            <a:ext cx="19050" cy="3079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1331913" y="1352559"/>
            <a:ext cx="6089650" cy="60016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a typeface="微软雅黑" panose="020B0503020204020204" pitchFamily="34" charset="-122"/>
              </a:rPr>
              <a:t>问题</a:t>
            </a:r>
            <a:r>
              <a:rPr lang="en-US" altLang="zh-CN" sz="2800" b="1" dirty="0">
                <a:solidFill>
                  <a:srgbClr val="0000FF"/>
                </a:solidFill>
                <a:ea typeface="微软雅黑" panose="020B0503020204020204" pitchFamily="34" charset="-122"/>
              </a:rPr>
              <a:t>1:</a:t>
            </a:r>
            <a:r>
              <a:rPr lang="zh-CN" altLang="en-US" sz="2800" b="1" dirty="0">
                <a:ea typeface="微软雅黑" panose="020B0503020204020204" pitchFamily="34" charset="-122"/>
              </a:rPr>
              <a:t>什么是</a:t>
            </a:r>
            <a:r>
              <a:rPr lang="zh-CN" altLang="en-US" sz="3300" b="1" dirty="0">
                <a:solidFill>
                  <a:srgbClr val="C00000"/>
                </a:solidFill>
                <a:ea typeface="微软雅黑" panose="020B0503020204020204" pitchFamily="34" charset="-122"/>
              </a:rPr>
              <a:t>变量</a:t>
            </a:r>
            <a:r>
              <a:rPr lang="zh-CN" altLang="en-US" sz="2800" b="1" dirty="0">
                <a:ea typeface="微软雅黑" panose="020B0503020204020204" pitchFamily="34" charset="-122"/>
              </a:rPr>
              <a:t>？</a:t>
            </a:r>
            <a:endParaRPr lang="zh-CN" altLang="en-US" sz="2800" b="1" dirty="0">
              <a:ea typeface="微软雅黑" panose="020B0503020204020204" pitchFamily="34" charset="-122"/>
            </a:endParaRPr>
          </a:p>
        </p:txBody>
      </p:sp>
      <p:sp>
        <p:nvSpPr>
          <p:cNvPr id="74" name="Pentagon 15"/>
          <p:cNvSpPr>
            <a:spLocks noChangeArrowheads="1"/>
          </p:cNvSpPr>
          <p:nvPr/>
        </p:nvSpPr>
        <p:spPr bwMode="auto">
          <a:xfrm>
            <a:off x="1646238" y="2083310"/>
            <a:ext cx="5775325" cy="885825"/>
          </a:xfrm>
          <a:prstGeom prst="homePlate">
            <a:avLst>
              <a:gd name="adj" fmla="val 50004"/>
            </a:avLst>
          </a:prstGeom>
          <a:solidFill>
            <a:srgbClr val="1695A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algn="ctr"/>
            <a:endParaRPr lang="en-US" altLang="zh-CN" sz="5600">
              <a:solidFill>
                <a:srgbClr val="000000"/>
              </a:solidFill>
              <a:latin typeface="Gill Sans"/>
              <a:ea typeface="ヒラギノ角ゴ ProN W3"/>
              <a:cs typeface="ヒラギノ角ゴ ProN W3"/>
              <a:sym typeface="Gill Sans"/>
            </a:endParaRP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1646238" y="2139883"/>
            <a:ext cx="54283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变量就相当于是一个容器，可以用来 装各种各样的东西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Rectangle 4"/>
          <p:cNvSpPr>
            <a:spLocks noChangeArrowheads="1"/>
          </p:cNvSpPr>
          <p:nvPr/>
        </p:nvSpPr>
        <p:spPr bwMode="auto">
          <a:xfrm>
            <a:off x="1331914" y="3102692"/>
            <a:ext cx="7735887" cy="60016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a typeface="微软雅黑" panose="020B0503020204020204" pitchFamily="34" charset="-122"/>
              </a:rPr>
              <a:t>问题</a:t>
            </a:r>
            <a:r>
              <a:rPr lang="en-US" altLang="zh-CN" sz="2800" b="1" dirty="0">
                <a:solidFill>
                  <a:srgbClr val="0000FF"/>
                </a:solidFill>
                <a:ea typeface="微软雅黑" panose="020B0503020204020204" pitchFamily="34" charset="-122"/>
              </a:rPr>
              <a:t>2:</a:t>
            </a:r>
            <a:r>
              <a:rPr lang="zh-CN" altLang="en-US" sz="2800" b="1" dirty="0">
                <a:ea typeface="微软雅黑" panose="020B0503020204020204" pitchFamily="34" charset="-122"/>
              </a:rPr>
              <a:t>变量的</a:t>
            </a:r>
            <a:r>
              <a:rPr lang="zh-CN" altLang="en-US" sz="3300" b="1" dirty="0">
                <a:solidFill>
                  <a:srgbClr val="FF0000"/>
                </a:solidFill>
                <a:ea typeface="微软雅黑" panose="020B0503020204020204" pitchFamily="34" charset="-122"/>
              </a:rPr>
              <a:t>赋值公式</a:t>
            </a:r>
            <a:r>
              <a:rPr lang="zh-CN" altLang="en-US" sz="2800" b="1" dirty="0">
                <a:ea typeface="微软雅黑" panose="020B0503020204020204" pitchFamily="34" charset="-122"/>
              </a:rPr>
              <a:t>是什么？</a:t>
            </a:r>
            <a:endParaRPr lang="zh-CN" altLang="en-US" sz="2800" b="1" dirty="0">
              <a:ea typeface="微软雅黑" panose="020B0503020204020204" pitchFamily="34" charset="-122"/>
            </a:endParaRPr>
          </a:p>
        </p:txBody>
      </p:sp>
      <p:sp>
        <p:nvSpPr>
          <p:cNvPr id="78" name="TextBox 6"/>
          <p:cNvSpPr txBox="1">
            <a:spLocks noChangeArrowheads="1"/>
          </p:cNvSpPr>
          <p:nvPr/>
        </p:nvSpPr>
        <p:spPr bwMode="auto">
          <a:xfrm>
            <a:off x="719239" y="381894"/>
            <a:ext cx="1542698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79513" y="478271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716934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5"/>
          <p:cNvSpPr/>
          <p:nvPr/>
        </p:nvSpPr>
        <p:spPr>
          <a:xfrm>
            <a:off x="355294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4" name="Pentagon 15"/>
          <p:cNvSpPr>
            <a:spLocks noChangeArrowheads="1"/>
          </p:cNvSpPr>
          <p:nvPr/>
        </p:nvSpPr>
        <p:spPr bwMode="auto">
          <a:xfrm>
            <a:off x="1648819" y="3806252"/>
            <a:ext cx="2742707" cy="569913"/>
          </a:xfrm>
          <a:prstGeom prst="homePlate">
            <a:avLst>
              <a:gd name="adj" fmla="val 50004"/>
            </a:avLst>
          </a:prstGeom>
          <a:solidFill>
            <a:srgbClr val="1695A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algn="ctr"/>
            <a:endParaRPr lang="en-US" altLang="zh-CN" sz="5600">
              <a:solidFill>
                <a:srgbClr val="000000"/>
              </a:solidFill>
              <a:latin typeface="Gill Sans"/>
              <a:ea typeface="ヒラギノ角ゴ ProN W3"/>
              <a:cs typeface="ヒラギノ角ゴ ProN W3"/>
              <a:sym typeface="Gill Sans"/>
            </a:endParaRPr>
          </a:p>
        </p:txBody>
      </p:sp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1994978" y="3936912"/>
            <a:ext cx="23817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变量名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变量值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75" grpId="0"/>
      <p:bldP spid="76" grpId="0" animBg="1"/>
      <p:bldP spid="84" grpId="0" animBg="1"/>
      <p:bldP spid="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6"/>
          <p:cNvSpPr txBox="1">
            <a:spLocks noChangeArrowheads="1"/>
          </p:cNvSpPr>
          <p:nvPr/>
        </p:nvSpPr>
        <p:spPr bwMode="auto">
          <a:xfrm>
            <a:off x="719240" y="381894"/>
            <a:ext cx="1205813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79513" y="478271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716934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5"/>
          <p:cNvSpPr/>
          <p:nvPr/>
        </p:nvSpPr>
        <p:spPr>
          <a:xfrm>
            <a:off x="355294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3" name="TextBox 6"/>
          <p:cNvSpPr txBox="1">
            <a:spLocks noChangeArrowheads="1"/>
          </p:cNvSpPr>
          <p:nvPr/>
        </p:nvSpPr>
        <p:spPr bwMode="auto">
          <a:xfrm>
            <a:off x="1925053" y="387566"/>
            <a:ext cx="120581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18111" y="1127161"/>
            <a:ext cx="610130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700" b="1" dirty="0">
                <a:latin typeface="黑体" panose="02010609060101010101" pitchFamily="49" charset="-122"/>
                <a:ea typeface="黑体" panose="02010609060101010101" pitchFamily="49" charset="-122"/>
              </a:rPr>
              <a:t>什么是函数？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54" y="2343913"/>
            <a:ext cx="1004156" cy="7786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425" y="1716764"/>
            <a:ext cx="2137904" cy="1663728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69" y="2165690"/>
            <a:ext cx="1053084" cy="1053084"/>
          </a:xfrm>
          <a:prstGeom prst="rect">
            <a:avLst/>
          </a:prstGeom>
        </p:spPr>
      </p:pic>
      <p:sp>
        <p:nvSpPr>
          <p:cNvPr id="91" name="箭头: 右 90"/>
          <p:cNvSpPr/>
          <p:nvPr/>
        </p:nvSpPr>
        <p:spPr>
          <a:xfrm>
            <a:off x="2550694" y="2589818"/>
            <a:ext cx="471244" cy="2015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92" name="箭头: 右 91"/>
          <p:cNvSpPr/>
          <p:nvPr/>
        </p:nvSpPr>
        <p:spPr>
          <a:xfrm>
            <a:off x="6014360" y="2589818"/>
            <a:ext cx="471244" cy="2015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2" name="文本框 1"/>
          <p:cNvSpPr txBox="1"/>
          <p:nvPr/>
        </p:nvSpPr>
        <p:spPr>
          <a:xfrm>
            <a:off x="1648460" y="3719830"/>
            <a:ext cx="52412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将写好的代码程序封装起来，等到重新用到时拿出来用。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91" grpId="0" animBg="1"/>
      <p:bldP spid="9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814578" y="1853411"/>
            <a:ext cx="194310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def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42141" y="1756389"/>
            <a:ext cx="41924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2,...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函数体</a:t>
            </a:r>
            <a:endParaRPr lang="zh-CN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4570735" y="1777385"/>
            <a:ext cx="401073" cy="4087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97165" y="1705377"/>
            <a:ext cx="542660" cy="5530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96290" y="2539365"/>
            <a:ext cx="675640" cy="3270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83260" y="1059815"/>
            <a:ext cx="4608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：自定义函数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2315" y="3435350"/>
            <a:ext cx="77158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其实我们的函数除了自定义的，也有许多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自己定义的函数，称之为内置函数。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19" grpId="0"/>
      <p:bldP spid="24" grpId="0" bldLvl="0" animBg="1"/>
      <p:bldP spid="25" grpId="0" bldLvl="0" animBg="1"/>
      <p:bldP spid="2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有参函数和无参函数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3895" y="1708150"/>
            <a:ext cx="271970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无参函数名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函数体</a:t>
            </a:r>
            <a:endParaRPr lang="zh-CN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1052830"/>
            <a:ext cx="8069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在函数中，我们根据定义函数时用不用参数，将函数分为有参函数和无参函数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895" y="3292475"/>
            <a:ext cx="71507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函数除了自定义的，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也有一些自带的函数，称之为内置函数。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print()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input()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61105" y="1708150"/>
            <a:ext cx="4646930" cy="119888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有参函数名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，参数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函数体</a:t>
            </a:r>
            <a:endParaRPr lang="zh-CN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19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无参函数练习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914015"/>
            <a:ext cx="513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ym typeface="+mn-ea"/>
              </a:rPr>
              <a:t>函数名也属于标识符，和变量名的命名规则相同。</a:t>
            </a:r>
            <a:endParaRPr lang="en-US" altLang="en-US" sz="180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982980"/>
            <a:ext cx="5857875" cy="15716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1670" y="3641725"/>
            <a:ext cx="749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定义函数，并不能让</a:t>
            </a:r>
            <a:r>
              <a:rPr lang="en-US" altLang="zh-CN" sz="1800"/>
              <a:t>python</a:t>
            </a:r>
            <a:r>
              <a:rPr lang="zh-CN" altLang="en-US" sz="1800"/>
              <a:t>运行函数里的内容，只有调用函数名才能使用</a:t>
            </a:r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无参函数练习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3291840"/>
            <a:ext cx="6177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ym typeface="+mn-ea"/>
              </a:rPr>
              <a:t>定义了的函数可以多次调用，这就是函数存在的意义。</a:t>
            </a:r>
            <a:endParaRPr lang="zh-CN" altLang="en-US" sz="18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944245"/>
            <a:ext cx="5915025" cy="2105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有参函数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3291840"/>
            <a:ext cx="7150735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有参函数，也就是在函数定义时会用到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形式参数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，形式参数的作用就是在调用函数时，根据返回的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实际参数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的不同，进行结果的调整。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1670" y="1059815"/>
            <a:ext cx="4646930" cy="193802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有参函数名(形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参1，形参2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: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函数体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函数名(实参1，实参2)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有参函数练习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4014470"/>
            <a:ext cx="7479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 b="1">
                <a:sym typeface="+mn-ea"/>
              </a:rPr>
              <a:t>实际参数</a:t>
            </a:r>
            <a:r>
              <a:rPr lang="zh-CN" altLang="en-US" sz="1800">
                <a:sym typeface="+mn-ea"/>
              </a:rPr>
              <a:t>才是使用函数时具体用到数值，</a:t>
            </a:r>
            <a:r>
              <a:rPr lang="zh-CN" altLang="en-US" sz="1800" b="1">
                <a:sym typeface="+mn-ea"/>
              </a:rPr>
              <a:t>形式参数</a:t>
            </a:r>
            <a:r>
              <a:rPr lang="zh-CN" altLang="en-US" sz="1800">
                <a:sym typeface="+mn-ea"/>
              </a:rPr>
              <a:t>的作用是定义这个函数会用到多少个参数，用在什么地方。</a:t>
            </a:r>
            <a:endParaRPr lang="zh-CN" altLang="en-US" sz="180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951865"/>
            <a:ext cx="5473065" cy="3002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有参函数练习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3954780"/>
            <a:ext cx="390144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>
                <a:sym typeface="+mn-ea"/>
              </a:rPr>
              <a:t>和</a:t>
            </a:r>
            <a:r>
              <a:rPr lang="en-US" altLang="zh-CN" sz="1800">
                <a:sym typeface="+mn-ea"/>
              </a:rPr>
              <a:t>input</a:t>
            </a:r>
            <a:r>
              <a:rPr lang="zh-CN" altLang="en-US" sz="1800">
                <a:sym typeface="+mn-ea"/>
              </a:rPr>
              <a:t>函数配合使用完成有参函数。</a:t>
            </a:r>
            <a:endParaRPr lang="zh-CN" altLang="en-US" sz="18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982980"/>
            <a:ext cx="5422900" cy="2788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def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3261" y="2832578"/>
            <a:ext cx="58769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def</a:t>
            </a:r>
            <a:r>
              <a:rPr lang="en-US" altLang="zh-CN" sz="2400" b="1" dirty="0"/>
              <a:t> </a:t>
            </a:r>
            <a:r>
              <a:rPr lang="en-US" altLang="zh-CN" sz="2400" b="1" dirty="0" err="1">
                <a:solidFill>
                  <a:srgbClr val="FF6600"/>
                </a:solidFill>
              </a:rPr>
              <a:t>findAndAttackDemon</a:t>
            </a:r>
            <a:r>
              <a:rPr lang="en-US" altLang="zh-CN" sz="2400" b="1" dirty="0"/>
              <a:t>():</a:t>
            </a:r>
            <a:endParaRPr lang="en-US" altLang="zh-CN" sz="2400" b="1" dirty="0"/>
          </a:p>
          <a:p>
            <a:r>
              <a:rPr lang="en-US" altLang="zh-CN" sz="2400" b="1" dirty="0"/>
              <a:t>    demon=</a:t>
            </a:r>
            <a:r>
              <a:rPr lang="en-US" altLang="zh-CN" sz="2400" b="1" dirty="0" err="1"/>
              <a:t>mayuan.findNearestEnemy</a:t>
            </a:r>
            <a:r>
              <a:rPr lang="en-US" altLang="zh-CN" sz="2400" b="1" dirty="0"/>
              <a:t>()</a:t>
            </a:r>
            <a:endParaRPr lang="en-US" altLang="zh-CN" sz="2400" b="1" dirty="0"/>
          </a:p>
          <a:p>
            <a:r>
              <a:rPr lang="en-US" altLang="zh-CN" sz="2400" b="1" dirty="0"/>
              <a:t>    if demon:</a:t>
            </a:r>
            <a:endParaRPr lang="en-US" altLang="zh-CN" sz="2400" b="1" dirty="0"/>
          </a:p>
          <a:p>
            <a:r>
              <a:rPr lang="en-US" altLang="zh-CN" sz="2400" b="1" dirty="0"/>
              <a:t>        </a:t>
            </a:r>
            <a:r>
              <a:rPr lang="en-US" altLang="zh-CN" sz="2400" b="1" dirty="0" err="1"/>
              <a:t>mayuan.attack</a:t>
            </a:r>
            <a:r>
              <a:rPr lang="en-US" altLang="zh-CN" sz="2400" b="1" dirty="0"/>
              <a:t>(demon)        	</a:t>
            </a:r>
            <a:r>
              <a:rPr lang="en-US" altLang="zh-CN" sz="2400" b="1" dirty="0" err="1"/>
              <a:t>mayuan.attack</a:t>
            </a:r>
            <a:r>
              <a:rPr lang="en-US" altLang="zh-CN" sz="2400" b="1" dirty="0"/>
              <a:t>(demon)</a:t>
            </a:r>
            <a:endParaRPr lang="zh-CN" altLang="en-US" sz="2000" dirty="0"/>
          </a:p>
        </p:txBody>
      </p:sp>
      <p:sp>
        <p:nvSpPr>
          <p:cNvPr id="19" name="矩形 18"/>
          <p:cNvSpPr/>
          <p:nvPr/>
        </p:nvSpPr>
        <p:spPr>
          <a:xfrm>
            <a:off x="383366" y="1110594"/>
            <a:ext cx="41924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2,...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函数体</a:t>
            </a:r>
            <a:endParaRPr lang="zh-CN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4211960" y="1131590"/>
            <a:ext cx="401073" cy="4087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438390" y="1059582"/>
            <a:ext cx="542660" cy="5530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03745" y="1893543"/>
            <a:ext cx="709432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35668" y="2930401"/>
            <a:ext cx="3104284" cy="28942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" name="直线箭头连接符 10"/>
          <p:cNvCxnSpPr/>
          <p:nvPr/>
        </p:nvCxnSpPr>
        <p:spPr>
          <a:xfrm flipV="1">
            <a:off x="3740369" y="1991366"/>
            <a:ext cx="2376264" cy="9390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TextBox 6"/>
          <p:cNvSpPr txBox="1">
            <a:spLocks noChangeArrowheads="1"/>
          </p:cNvSpPr>
          <p:nvPr/>
        </p:nvSpPr>
        <p:spPr bwMode="auto">
          <a:xfrm>
            <a:off x="6014871" y="1772091"/>
            <a:ext cx="23762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函数名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58461" y="3308221"/>
            <a:ext cx="5516585" cy="149665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10"/>
          <p:cNvCxnSpPr/>
          <p:nvPr/>
        </p:nvCxnSpPr>
        <p:spPr>
          <a:xfrm flipV="1">
            <a:off x="6300191" y="3628331"/>
            <a:ext cx="1240332" cy="7223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3" name="TextBox 6"/>
          <p:cNvSpPr txBox="1">
            <a:spLocks noChangeArrowheads="1"/>
          </p:cNvSpPr>
          <p:nvPr/>
        </p:nvSpPr>
        <p:spPr bwMode="auto">
          <a:xfrm>
            <a:off x="6972575" y="3095603"/>
            <a:ext cx="1135896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函数体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58459" y="4032907"/>
            <a:ext cx="354717" cy="3505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758459" y="4366721"/>
            <a:ext cx="354717" cy="3505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84237" y="3308221"/>
            <a:ext cx="274221" cy="14090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1" grpId="0"/>
      <p:bldP spid="19" grpId="0"/>
      <p:bldP spid="24" grpId="0" animBg="1"/>
      <p:bldP spid="25" grpId="0" animBg="1"/>
      <p:bldP spid="26" grpId="0" animBg="1"/>
      <p:bldP spid="27" grpId="0" animBg="1"/>
      <p:bldP spid="29" grpId="0"/>
      <p:bldP spid="31" grpId="0" animBg="1"/>
      <p:bldP spid="33" grpId="0"/>
      <p:bldP spid="34" grpId="0" animBg="1"/>
      <p:bldP spid="37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【def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关键字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3261" y="1787272"/>
            <a:ext cx="58769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def </a:t>
            </a:r>
            <a:r>
              <a:rPr lang="en-US" altLang="zh-CN" sz="2400" b="1" dirty="0" err="1">
                <a:solidFill>
                  <a:srgbClr val="FF6600"/>
                </a:solidFill>
              </a:rPr>
              <a:t>checkAndAttack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chemeClr val="accent1"/>
                </a:solidFill>
              </a:rPr>
              <a:t>target</a:t>
            </a:r>
            <a:r>
              <a:rPr lang="en-US" altLang="zh-CN" sz="2400" b="1" dirty="0"/>
              <a:t>):</a:t>
            </a:r>
            <a:endParaRPr lang="en-US" altLang="zh-CN" sz="2400" b="1" dirty="0"/>
          </a:p>
          <a:p>
            <a:r>
              <a:rPr lang="en-US" altLang="zh-CN" sz="2400" b="1" dirty="0"/>
              <a:t>    if target:</a:t>
            </a:r>
            <a:endParaRPr lang="en-US" altLang="zh-CN" sz="2400" b="1" dirty="0"/>
          </a:p>
          <a:p>
            <a:r>
              <a:rPr lang="en-US" altLang="zh-CN" sz="2400" b="1" dirty="0"/>
              <a:t>        </a:t>
            </a:r>
            <a:r>
              <a:rPr lang="en-US" altLang="zh-CN" sz="2400" b="1" dirty="0" err="1"/>
              <a:t>mayuan.attack</a:t>
            </a:r>
            <a:r>
              <a:rPr lang="en-US" altLang="zh-CN" sz="2400" b="1" dirty="0"/>
              <a:t>(target)    	</a:t>
            </a:r>
            <a:r>
              <a:rPr lang="en-US" altLang="zh-CN" sz="2400" b="1" dirty="0" err="1"/>
              <a:t>mayuan.goXY</a:t>
            </a:r>
            <a:r>
              <a:rPr lang="en-US" altLang="zh-CN" sz="2400" b="1" dirty="0"/>
              <a:t>(43, 34)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1035668" y="1885095"/>
            <a:ext cx="2376264" cy="3473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" name="直线箭头连接符 10"/>
          <p:cNvCxnSpPr/>
          <p:nvPr/>
        </p:nvCxnSpPr>
        <p:spPr>
          <a:xfrm flipV="1">
            <a:off x="2773242" y="1386366"/>
            <a:ext cx="2409019" cy="5090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TextBox 6"/>
          <p:cNvSpPr txBox="1">
            <a:spLocks noChangeArrowheads="1"/>
          </p:cNvSpPr>
          <p:nvPr/>
        </p:nvSpPr>
        <p:spPr bwMode="auto">
          <a:xfrm>
            <a:off x="5182261" y="924701"/>
            <a:ext cx="1227750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函数名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1406533" y="2262916"/>
            <a:ext cx="2733419" cy="11918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10"/>
          <p:cNvCxnSpPr/>
          <p:nvPr/>
        </p:nvCxnSpPr>
        <p:spPr>
          <a:xfrm flipV="1">
            <a:off x="3951834" y="2606564"/>
            <a:ext cx="2636390" cy="3505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3" name="TextBox 6"/>
          <p:cNvSpPr txBox="1">
            <a:spLocks noChangeArrowheads="1"/>
          </p:cNvSpPr>
          <p:nvPr/>
        </p:nvSpPr>
        <p:spPr bwMode="auto">
          <a:xfrm>
            <a:off x="6851570" y="2262915"/>
            <a:ext cx="1135896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函数体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58459" y="2987601"/>
            <a:ext cx="354717" cy="3505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758459" y="2606564"/>
            <a:ext cx="354717" cy="3505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84237" y="2262915"/>
            <a:ext cx="274221" cy="10940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542623" y="1885095"/>
            <a:ext cx="885361" cy="34241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0" name="直线箭头连接符 10"/>
          <p:cNvCxnSpPr/>
          <p:nvPr/>
        </p:nvCxnSpPr>
        <p:spPr>
          <a:xfrm flipV="1">
            <a:off x="4261031" y="1635646"/>
            <a:ext cx="2327193" cy="29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TextBox 6"/>
          <p:cNvSpPr txBox="1">
            <a:spLocks noChangeArrowheads="1"/>
          </p:cNvSpPr>
          <p:nvPr/>
        </p:nvSpPr>
        <p:spPr bwMode="auto">
          <a:xfrm>
            <a:off x="6617681" y="1320184"/>
            <a:ext cx="801837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参数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TextBox 6"/>
          <p:cNvSpPr txBox="1">
            <a:spLocks noChangeArrowheads="1"/>
          </p:cNvSpPr>
          <p:nvPr/>
        </p:nvSpPr>
        <p:spPr bwMode="auto">
          <a:xfrm>
            <a:off x="1659266" y="3603593"/>
            <a:ext cx="5760251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a</a:t>
            </a:r>
            <a:r>
              <a:rPr lang="en-US" altLang="zh-CN" sz="2400" b="1" dirty="0">
                <a:solidFill>
                  <a:srgbClr val="FF6600"/>
                </a:solidFill>
              </a:rPr>
              <a:t> = </a:t>
            </a:r>
            <a:r>
              <a:rPr lang="en-US" altLang="zh-CN" sz="2400" b="1" dirty="0" err="1"/>
              <a:t>mayaun</a:t>
            </a:r>
            <a:r>
              <a:rPr lang="en-US" altLang="zh-CN" sz="2400" b="1" dirty="0">
                <a:solidFill>
                  <a:srgbClr val="FF6600"/>
                </a:solidFill>
              </a:rPr>
              <a:t>. </a:t>
            </a:r>
            <a:r>
              <a:rPr lang="en-US" altLang="zh-CN" sz="2400" b="1" dirty="0" err="1"/>
              <a:t>findNearestEnemy</a:t>
            </a:r>
            <a:r>
              <a:rPr lang="en-US" altLang="zh-CN" sz="2400" b="1" dirty="0"/>
              <a:t>()</a:t>
            </a:r>
            <a:endParaRPr lang="en-US" altLang="zh-CN" sz="2400" b="1" dirty="0"/>
          </a:p>
          <a:p>
            <a:r>
              <a:rPr lang="en-US" altLang="zh-CN" sz="2400" b="1" dirty="0" err="1">
                <a:solidFill>
                  <a:srgbClr val="FF6600"/>
                </a:solidFill>
              </a:rPr>
              <a:t>checkAndAttack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chemeClr val="accent1"/>
                </a:solidFill>
              </a:rPr>
              <a:t>a</a:t>
            </a:r>
            <a:r>
              <a:rPr lang="en-US" altLang="zh-CN" sz="2400" b="1" dirty="0"/>
              <a:t>)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椭圆 39"/>
          <p:cNvSpPr/>
          <p:nvPr/>
        </p:nvSpPr>
        <p:spPr>
          <a:xfrm flipH="1">
            <a:off x="1572014" y="3537037"/>
            <a:ext cx="542660" cy="5530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41" name="椭圆 40"/>
          <p:cNvSpPr/>
          <p:nvPr/>
        </p:nvSpPr>
        <p:spPr>
          <a:xfrm flipH="1">
            <a:off x="4123902" y="4005890"/>
            <a:ext cx="389194" cy="39667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42" name="直线箭头连接符 10"/>
          <p:cNvCxnSpPr/>
          <p:nvPr/>
        </p:nvCxnSpPr>
        <p:spPr>
          <a:xfrm>
            <a:off x="2114674" y="3903050"/>
            <a:ext cx="1837160" cy="3491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1" grpId="0"/>
      <p:bldP spid="27" grpId="0" animBg="1"/>
      <p:bldP spid="29" grpId="0"/>
      <p:bldP spid="31" grpId="0" animBg="1"/>
      <p:bldP spid="33" grpId="0"/>
      <p:bldP spid="34" grpId="0" animBg="1"/>
      <p:bldP spid="37" grpId="0" animBg="1"/>
      <p:bldP spid="38" grpId="0" animBg="1"/>
      <p:bldP spid="23" grpId="0" animBg="1"/>
      <p:bldP spid="35" grpId="0"/>
      <p:bldP spid="39" grpId="0"/>
      <p:bldP spid="40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591563" y="2192546"/>
            <a:ext cx="19608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打怪升级啦</a:t>
            </a:r>
            <a:endParaRPr lang="zh-CN" altLang="en-US" sz="2800" b="1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036" y="462818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ISPRING_RESOURCE_PATHS_HASH_PRESENTER" val="76ce7ccbcda6cf12636bdb4ab607c4c83d474"/>
  <p:tag name="KSO_WPP_MARK_KEY" val="83e3c5af-de30-4b4e-b092-a4ff05c9b8d8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演示</Application>
  <PresentationFormat>全屏显示(16:9)</PresentationFormat>
  <Paragraphs>152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HandelGotDLig</vt:lpstr>
      <vt:lpstr>汉真广标</vt:lpstr>
      <vt:lpstr>微软雅黑</vt:lpstr>
      <vt:lpstr>Impact</vt:lpstr>
      <vt:lpstr>Times New Roman</vt:lpstr>
      <vt:lpstr>Gill Sans</vt:lpstr>
      <vt:lpstr>ヒラギノ角ゴ ProN W3</vt:lpstr>
      <vt:lpstr>黑体</vt:lpstr>
      <vt:lpstr>Segoe Print</vt:lpstr>
      <vt:lpstr>Arial Unicode MS</vt:lpstr>
      <vt:lpstr>Calibri</vt:lpstr>
      <vt:lpstr>Gill Sans MT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570</cp:revision>
  <cp:lastPrinted>2000-12-31T21:09:00Z</cp:lastPrinted>
  <dcterms:created xsi:type="dcterms:W3CDTF">2015-11-10T12:01:00Z</dcterms:created>
  <dcterms:modified xsi:type="dcterms:W3CDTF">2022-11-18T08:47:38Z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D8D3B8ED73CE47FF9DF8997CD6F56D0B</vt:lpwstr>
  </property>
  <property fmtid="{D5CDD505-2E9C-101B-9397-08002B2CF9AE}" pid="3" name="KSOProductBuildVer">
    <vt:lpwstr>2052-11.1.0.12763</vt:lpwstr>
  </property>
</Properties>
</file>