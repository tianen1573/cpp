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470" r:id="rId5"/>
    <p:sldId id="486" r:id="rId6"/>
    <p:sldId id="493" r:id="rId7"/>
    <p:sldId id="494" r:id="rId8"/>
    <p:sldId id="477" r:id="rId9"/>
    <p:sldId id="478" r:id="rId10"/>
    <p:sldId id="495" r:id="rId11"/>
    <p:sldId id="497" r:id="rId12"/>
    <p:sldId id="446" r:id="rId13"/>
    <p:sldId id="476" r:id="rId14"/>
    <p:sldId id="475" r:id="rId15"/>
    <p:sldId id="479" r:id="rId16"/>
  </p:sldIdLst>
  <p:sldSz cx="9144000" cy="5143500" type="screen16x9"/>
  <p:notesSz cx="6797675" cy="9925050"/>
  <p:custDataLst>
    <p:tags r:id="rId2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753291" y="1923896"/>
            <a:ext cx="163639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244827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情境导入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什么是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循环</a:t>
            </a:r>
            <a:r>
              <a:rPr lang="zh-CN" altLang="en-US" sz="1600" b="1" dirty="0">
                <a:latin typeface="+mn-ea"/>
              </a:rPr>
              <a:t>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1505" y="1560830"/>
            <a:ext cx="45999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</a:rPr>
              <a:t>循环，是指事物周而复始的运动或变化</a:t>
            </a:r>
            <a:endParaRPr lang="zh-CN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120" y="1107974"/>
            <a:ext cx="1152128" cy="931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44" y="2450133"/>
            <a:ext cx="2401539" cy="1501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056822"/>
            <a:ext cx="2027096" cy="20270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矩形 17"/>
          <p:cNvSpPr/>
          <p:nvPr/>
        </p:nvSpPr>
        <p:spPr>
          <a:xfrm>
            <a:off x="1115616" y="4255332"/>
            <a:ext cx="1008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无限循环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29364" y="4255332"/>
            <a:ext cx="1008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有限循环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24525" y="2284095"/>
            <a:ext cx="313817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Python中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的循环则是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反复执行某些代码的一种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数循环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条件循环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1" grpId="0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条件循环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47420"/>
            <a:ext cx="38252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FF0000"/>
                </a:solidFill>
              </a:rPr>
              <a:t>while</a:t>
            </a:r>
            <a:r>
              <a:rPr lang="en-US" sz="2000"/>
              <a:t> </a:t>
            </a:r>
            <a:r>
              <a:rPr lang="zh-CN" altLang="en-US" sz="2000"/>
              <a:t>：当…的时候，在</a:t>
            </a:r>
            <a:r>
              <a:rPr lang="en-US" altLang="zh-CN" sz="2000"/>
              <a:t>…</a:t>
            </a:r>
            <a:r>
              <a:rPr lang="zh-CN" altLang="en-US" sz="2000"/>
              <a:t>期间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661670" y="1605280"/>
            <a:ext cx="6677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关键字</a:t>
            </a:r>
            <a:r>
              <a:rPr lang="zh-CN" altLang="en-US" sz="1800"/>
              <a:t>（保留字）：</a:t>
            </a:r>
            <a:r>
              <a:rPr lang="en-US" altLang="zh-CN" sz="1800"/>
              <a:t>Python</a:t>
            </a:r>
            <a:r>
              <a:rPr lang="zh-CN" altLang="en-US" sz="1800"/>
              <a:t>中具有特殊功能的单词称为</a:t>
            </a:r>
            <a:r>
              <a:rPr lang="zh-CN" altLang="en-US" sz="1800" b="1">
                <a:solidFill>
                  <a:srgbClr val="FF0000"/>
                </a:solidFill>
              </a:rPr>
              <a:t>关键字</a:t>
            </a:r>
            <a:r>
              <a:rPr lang="zh-CN" altLang="en-US" sz="1800"/>
              <a:t>。</a:t>
            </a:r>
            <a:endParaRPr lang="zh-CN" altLang="en-US" sz="1800"/>
          </a:p>
        </p:txBody>
      </p:sp>
      <p:sp>
        <p:nvSpPr>
          <p:cNvPr id="12" name="文本框 11"/>
          <p:cNvSpPr txBox="1"/>
          <p:nvPr/>
        </p:nvSpPr>
        <p:spPr>
          <a:xfrm>
            <a:off x="661670" y="2232660"/>
            <a:ext cx="5544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while</a:t>
            </a:r>
            <a:r>
              <a:rPr lang="zh-CN" altLang="en-US" sz="1800"/>
              <a:t>就是一个关键字，它的作用就是实现条件循环。</a:t>
            </a:r>
            <a:endParaRPr lang="zh-CN" altLang="en-US" sz="1800"/>
          </a:p>
        </p:txBody>
      </p:sp>
      <p:sp>
        <p:nvSpPr>
          <p:cNvPr id="13" name="文本框 12"/>
          <p:cNvSpPr txBox="1"/>
          <p:nvPr/>
        </p:nvSpPr>
        <p:spPr>
          <a:xfrm>
            <a:off x="661670" y="2860040"/>
            <a:ext cx="5676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条件循环：当某个条件成立时，会一直重复进行循环</a:t>
            </a:r>
            <a:r>
              <a:rPr lang="en-US" altLang="zh-CN" sz="1800"/>
              <a:t>,</a:t>
            </a:r>
            <a:endParaRPr lang="en-US" altLang="zh-CN" sz="1800"/>
          </a:p>
          <a:p>
            <a:r>
              <a:rPr lang="zh-CN" altLang="en-US" sz="1800"/>
              <a:t>而当条件不成立时，则会结束循环。</a:t>
            </a:r>
            <a:endParaRPr lang="zh-CN" altLang="en-US" sz="1800"/>
          </a:p>
        </p:txBody>
      </p:sp>
      <p:grpSp>
        <p:nvGrpSpPr>
          <p:cNvPr id="15" name="组合 14"/>
          <p:cNvGrpSpPr/>
          <p:nvPr/>
        </p:nvGrpSpPr>
        <p:grpSpPr>
          <a:xfrm>
            <a:off x="683260" y="3655060"/>
            <a:ext cx="7195820" cy="1226820"/>
            <a:chOff x="1076" y="5756"/>
            <a:chExt cx="11332" cy="1932"/>
          </a:xfrm>
        </p:grpSpPr>
        <p:sp>
          <p:nvSpPr>
            <p:cNvPr id="8" name="文本框 7"/>
            <p:cNvSpPr txBox="1"/>
            <p:nvPr/>
          </p:nvSpPr>
          <p:spPr>
            <a:xfrm>
              <a:off x="4933" y="6041"/>
              <a:ext cx="58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/>
                <a:t>1.</a:t>
              </a:r>
              <a:r>
                <a:rPr lang="zh-CN" altLang="en-US" sz="1800"/>
                <a:t>小明吃了</a:t>
              </a:r>
              <a:r>
                <a:rPr lang="en-US" altLang="zh-CN" sz="1800"/>
                <a:t>50</a:t>
              </a:r>
              <a:r>
                <a:rPr lang="zh-CN" altLang="en-US" sz="1800"/>
                <a:t>颗樱桃。</a:t>
              </a:r>
              <a:endParaRPr lang="zh-CN" altLang="en-US" sz="180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933" y="6912"/>
              <a:ext cx="747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/>
                <a:t>2.</a:t>
              </a:r>
              <a:r>
                <a:rPr lang="zh-CN" altLang="en-US" sz="1800"/>
                <a:t>当小明感觉饿的时候，他一直吃樱桃。</a:t>
              </a:r>
              <a:endParaRPr lang="zh-CN" altLang="en-US" sz="1800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076" y="5756"/>
              <a:ext cx="3910" cy="1932"/>
              <a:chOff x="7879" y="5631"/>
              <a:chExt cx="3910" cy="1932"/>
            </a:xfrm>
          </p:grpSpPr>
          <p:pic>
            <p:nvPicPr>
              <p:cNvPr id="104" name="图片 103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879" y="5631"/>
                <a:ext cx="1932" cy="193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05" name="图片 104"/>
              <p:cNvPicPr/>
              <p:nvPr/>
            </p:nvPicPr>
            <p:blipFill>
              <a:blip r:embed="rId2"/>
              <a:srcRect l="3604" t="5779" r="5474"/>
              <a:stretch>
                <a:fillRect/>
              </a:stretch>
            </p:blipFill>
            <p:spPr>
              <a:xfrm>
                <a:off x="9797" y="5803"/>
                <a:ext cx="1993" cy="14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1" name="左箭头 10"/>
              <p:cNvSpPr/>
              <p:nvPr/>
            </p:nvSpPr>
            <p:spPr>
              <a:xfrm>
                <a:off x="9403" y="6537"/>
                <a:ext cx="431" cy="301"/>
              </a:xfrm>
              <a:prstGeom prst="lef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/>
      <p:bldP spid="10" grpId="1"/>
      <p:bldP spid="12" grpId="0"/>
      <p:bldP spid="12" grpId="1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循环格式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260" y="987425"/>
            <a:ext cx="46615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循环条件：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执行语句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33425" y="1132205"/>
            <a:ext cx="1916430" cy="1520190"/>
            <a:chOff x="1155" y="1896"/>
            <a:chExt cx="3018" cy="2394"/>
          </a:xfrm>
        </p:grpSpPr>
        <p:sp>
          <p:nvSpPr>
            <p:cNvPr id="14" name="矩形 13"/>
            <p:cNvSpPr/>
            <p:nvPr/>
          </p:nvSpPr>
          <p:spPr>
            <a:xfrm>
              <a:off x="1204" y="1896"/>
              <a:ext cx="1120" cy="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cxnSp>
          <p:nvCxnSpPr>
            <p:cNvPr id="15" name="直接箭头连接符 14"/>
            <p:cNvCxnSpPr/>
            <p:nvPr/>
          </p:nvCxnSpPr>
          <p:spPr>
            <a:xfrm flipV="1">
              <a:off x="1757" y="2349"/>
              <a:ext cx="0" cy="136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1155" y="3710"/>
              <a:ext cx="138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b="1"/>
                <a:t>关键字</a:t>
              </a:r>
              <a:endParaRPr lang="zh-CN" altLang="en-US" sz="1800" b="1"/>
            </a:p>
          </p:txBody>
        </p:sp>
        <p:sp>
          <p:nvSpPr>
            <p:cNvPr id="17" name="矩形 16"/>
            <p:cNvSpPr/>
            <p:nvPr/>
          </p:nvSpPr>
          <p:spPr>
            <a:xfrm>
              <a:off x="2324" y="1896"/>
              <a:ext cx="1849" cy="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2230" y="2604"/>
              <a:ext cx="1804" cy="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764540" y="1575435"/>
            <a:ext cx="647700" cy="3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缩进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33425" y="2860040"/>
            <a:ext cx="7513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缩进，一般为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个空格，可以按四下空格，也可以按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Tab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一次空四格。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0" grpId="1" animBg="1"/>
      <p:bldP spid="21" grpId="0"/>
      <p:bldP spid="2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永真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循环例子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7425"/>
            <a:ext cx="6501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2&gt;1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477135"/>
            <a:ext cx="6501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True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 rot="5400000">
            <a:off x="1403350" y="2012950"/>
            <a:ext cx="504190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39750" y="4011930"/>
            <a:ext cx="3998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在</a:t>
            </a:r>
            <a:r>
              <a:rPr lang="en-US" altLang="zh-CN" sz="2000" b="1"/>
              <a:t>Python</a:t>
            </a:r>
            <a:r>
              <a:rPr lang="zh-CN" altLang="en-US" sz="2000" b="1"/>
              <a:t>中</a:t>
            </a:r>
            <a:r>
              <a:rPr lang="en-US" altLang="zh-CN" sz="2000" b="1"/>
              <a:t> 2&gt;1 </a:t>
            </a:r>
            <a:r>
              <a:rPr lang="zh-CN" altLang="en-US" sz="2000" b="1"/>
              <a:t>等于</a:t>
            </a:r>
            <a:r>
              <a:rPr lang="en-US" altLang="zh-CN" sz="2000" b="1"/>
              <a:t> True</a:t>
            </a:r>
            <a:endParaRPr lang="en-US" altLang="zh-CN" sz="2000" b="1"/>
          </a:p>
        </p:txBody>
      </p:sp>
      <p:sp>
        <p:nvSpPr>
          <p:cNvPr id="8" name="文本框 7"/>
          <p:cNvSpPr txBox="1"/>
          <p:nvPr/>
        </p:nvSpPr>
        <p:spPr>
          <a:xfrm>
            <a:off x="3347720" y="1059815"/>
            <a:ext cx="49707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这里</a:t>
            </a:r>
            <a:r>
              <a:rPr lang="en-US" altLang="zh-CN" sz="1800"/>
              <a:t>2&gt;1</a:t>
            </a:r>
            <a:r>
              <a:rPr lang="zh-CN" altLang="zh-CN" sz="1800"/>
              <a:t>是循环条件，我们学过数学都知道。</a:t>
            </a:r>
            <a:endParaRPr lang="zh-CN" altLang="zh-CN" sz="1800"/>
          </a:p>
          <a:p>
            <a:r>
              <a:rPr lang="en-US" altLang="zh-CN" sz="1800"/>
              <a:t>2&gt;1</a:t>
            </a:r>
            <a:r>
              <a:rPr lang="zh-CN" altLang="en-US" sz="1800"/>
              <a:t>是正确的，所以这个循环条件是成立的，</a:t>
            </a:r>
            <a:endParaRPr lang="zh-CN" altLang="en-US" sz="1800"/>
          </a:p>
          <a:p>
            <a:r>
              <a:rPr lang="zh-CN" altLang="en-US" sz="1800"/>
              <a:t>并且是永远成立的。</a:t>
            </a:r>
            <a:endParaRPr lang="zh-CN" altLang="en-US" sz="1800"/>
          </a:p>
          <a:p>
            <a:r>
              <a:rPr lang="zh-CN" altLang="en-US" sz="1800"/>
              <a:t>这样的循环就是永真循环</a:t>
            </a:r>
            <a:r>
              <a:rPr lang="en-US" altLang="en-US" sz="1800"/>
              <a:t>(</a:t>
            </a:r>
            <a:r>
              <a:rPr lang="zh-CN" altLang="en-US" sz="1800"/>
              <a:t>无限循环</a:t>
            </a:r>
            <a:r>
              <a:rPr lang="en-US" altLang="zh-CN" sz="1800"/>
              <a:t>)</a:t>
            </a:r>
            <a:endParaRPr lang="en-US" altLang="zh-CN" sz="1800"/>
          </a:p>
        </p:txBody>
      </p:sp>
      <p:sp>
        <p:nvSpPr>
          <p:cNvPr id="13" name="文本框 12"/>
          <p:cNvSpPr txBox="1"/>
          <p:nvPr/>
        </p:nvSpPr>
        <p:spPr>
          <a:xfrm>
            <a:off x="3347720" y="2784475"/>
            <a:ext cx="4409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在</a:t>
            </a:r>
            <a:r>
              <a:rPr lang="en-US" altLang="zh-CN" sz="1800"/>
              <a:t>Python</a:t>
            </a:r>
            <a:r>
              <a:rPr lang="zh-CN" altLang="en-US" sz="1800"/>
              <a:t>中，我们可以直接用</a:t>
            </a:r>
            <a:r>
              <a:rPr lang="en-US" altLang="zh-CN" sz="1800"/>
              <a:t>True</a:t>
            </a:r>
            <a:r>
              <a:rPr lang="zh-CN" altLang="en-US" sz="1800"/>
              <a:t>来替代永真循环的条件，因为</a:t>
            </a:r>
            <a:r>
              <a:rPr lang="en-US" altLang="zh-CN" sz="1800"/>
              <a:t>True</a:t>
            </a:r>
            <a:r>
              <a:rPr lang="zh-CN" altLang="en-US" sz="1800"/>
              <a:t>就是真，正确的意思。</a:t>
            </a:r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10" y="3724275"/>
            <a:ext cx="3609975" cy="1009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 bldLvl="0" animBg="1"/>
      <p:bldP spid="9" grpId="0"/>
      <p:bldP spid="10" grpId="1" animBg="1"/>
      <p:bldP spid="9" grpId="1"/>
      <p:bldP spid="11" grpId="0"/>
      <p:bldP spid="11" grpId="1"/>
      <p:bldP spid="13" grpId="0"/>
      <p:bldP spid="13" grpId="1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037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布尔值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2052320" y="1420495"/>
            <a:ext cx="1858010" cy="5835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真、正确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4969056" y="1420495"/>
            <a:ext cx="1924050" cy="5835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32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假、错误</a:t>
            </a:r>
            <a:endParaRPr lang="zh-CN" altLang="en-US" sz="32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2339340" y="2428240"/>
            <a:ext cx="108012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8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True</a:t>
            </a:r>
            <a:endParaRPr lang="en-US" altLang="zh-CN" sz="28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5256076" y="2428240"/>
            <a:ext cx="108012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8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False</a:t>
            </a:r>
            <a:endParaRPr lang="en-US" altLang="zh-CN" sz="28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2320" y="3292475"/>
            <a:ext cx="4004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while True Fasle</a:t>
            </a:r>
            <a:r>
              <a:rPr lang="en-US" altLang="zh-CN" sz="2000" b="1"/>
              <a:t> </a:t>
            </a:r>
            <a:r>
              <a:rPr lang="zh-CN" altLang="en-US" sz="2000" b="1"/>
              <a:t>都是关键字</a:t>
            </a:r>
            <a:endParaRPr lang="zh-CN" altLang="en-US" sz="2000" b="1"/>
          </a:p>
        </p:txBody>
      </p:sp>
      <p:sp>
        <p:nvSpPr>
          <p:cNvPr id="8" name="文本框 7"/>
          <p:cNvSpPr txBox="1"/>
          <p:nvPr/>
        </p:nvSpPr>
        <p:spPr>
          <a:xfrm>
            <a:off x="2052320" y="3940175"/>
            <a:ext cx="414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/>
              <a:t>T</a:t>
            </a:r>
            <a:r>
              <a:rPr lang="zh-CN" altLang="en-US" sz="1800" b="1"/>
              <a:t>和</a:t>
            </a:r>
            <a:r>
              <a:rPr lang="en-US" altLang="zh-CN" sz="1800" b="1"/>
              <a:t>F</a:t>
            </a:r>
            <a:r>
              <a:rPr lang="zh-CN" altLang="en-US" sz="1800" b="1"/>
              <a:t>都要大写，</a:t>
            </a:r>
            <a:r>
              <a:rPr lang="en-US" altLang="zh-CN" sz="1800" b="1"/>
              <a:t>true</a:t>
            </a:r>
            <a:r>
              <a:rPr lang="zh-CN" altLang="en-US" sz="1800" b="1"/>
              <a:t>和</a:t>
            </a:r>
            <a:r>
              <a:rPr lang="en-US" altLang="zh-CN" sz="1800" b="1"/>
              <a:t>false</a:t>
            </a:r>
            <a:r>
              <a:rPr lang="zh-CN" altLang="zh-CN" sz="1800" b="1"/>
              <a:t>都是错的</a:t>
            </a:r>
            <a:endParaRPr lang="zh-CN" altLang="zh-CN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练一练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756522" y="1205900"/>
            <a:ext cx="15578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1 == 2</a:t>
            </a:r>
            <a:endParaRPr lang="zh-CN" altLang="zh-CN" sz="2400" b="1" dirty="0">
              <a:latin typeface="+mn-ea"/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756522" y="2156515"/>
            <a:ext cx="1557896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1 &gt; 2</a:t>
            </a:r>
            <a:endParaRPr lang="zh-CN" altLang="zh-CN" sz="2400" b="1" dirty="0">
              <a:latin typeface="+mn-ea"/>
            </a:endParaRPr>
          </a:p>
        </p:txBody>
      </p:sp>
      <p:sp>
        <p:nvSpPr>
          <p:cNvPr id="12" name="矩形 1"/>
          <p:cNvSpPr>
            <a:spLocks noChangeArrowheads="1"/>
          </p:cNvSpPr>
          <p:nvPr/>
        </p:nvSpPr>
        <p:spPr bwMode="auto">
          <a:xfrm>
            <a:off x="756522" y="3035355"/>
            <a:ext cx="226914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5&lt;10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矩形 1"/>
          <p:cNvSpPr>
            <a:spLocks noChangeArrowheads="1"/>
          </p:cNvSpPr>
          <p:nvPr/>
        </p:nvSpPr>
        <p:spPr bwMode="auto">
          <a:xfrm>
            <a:off x="2917840" y="1176690"/>
            <a:ext cx="1557896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False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2917840" y="2141255"/>
            <a:ext cx="1557896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False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2917840" y="3034065"/>
            <a:ext cx="1557896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True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6285" y="3883025"/>
            <a:ext cx="7110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在</a:t>
            </a:r>
            <a:r>
              <a:rPr lang="en-US" altLang="zh-CN" sz="1600"/>
              <a:t>Python</a:t>
            </a:r>
            <a:r>
              <a:rPr lang="zh-CN" altLang="en-US" sz="1600"/>
              <a:t>中，我们的等于用</a:t>
            </a:r>
            <a:r>
              <a:rPr lang="zh-CN" altLang="en-US" sz="1600" b="1"/>
              <a:t>双等号</a:t>
            </a:r>
            <a:r>
              <a:rPr lang="en-US" altLang="en-US" sz="1600" b="1"/>
              <a:t>(</a:t>
            </a:r>
            <a:r>
              <a:rPr lang="en-US" altLang="zh-CN" sz="1600" b="1"/>
              <a:t>==)</a:t>
            </a:r>
            <a:r>
              <a:rPr lang="zh-CN" altLang="en-US" sz="1600"/>
              <a:t>表示，这一点和我们数学中会不太一样。</a:t>
            </a:r>
            <a:endParaRPr lang="zh-CN" altLang="en-US" sz="1600"/>
          </a:p>
          <a:p>
            <a:r>
              <a:rPr lang="zh-CN" altLang="en-US" sz="1600"/>
              <a:t>至于</a:t>
            </a:r>
            <a:r>
              <a:rPr lang="en-US" altLang="zh-CN" sz="1600"/>
              <a:t>Python</a:t>
            </a:r>
            <a:r>
              <a:rPr lang="zh-CN" altLang="en-US" sz="1600"/>
              <a:t>中单等号</a:t>
            </a:r>
            <a:r>
              <a:rPr lang="en-US" altLang="en-US" sz="1600"/>
              <a:t>(=)</a:t>
            </a:r>
            <a:r>
              <a:rPr lang="zh-CN" altLang="en-US" sz="1600"/>
              <a:t>的作用，我们在下节课会讲道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  <p:bldP spid="13" grpId="0"/>
      <p:bldP spid="14" grpId="0"/>
      <p:bldP spid="15" grpId="0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永真循环例子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7425"/>
            <a:ext cx="275717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True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505" y="2787650"/>
            <a:ext cx="27368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True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再见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 rot="5400000">
            <a:off x="1403350" y="2443480"/>
            <a:ext cx="504190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1670" y="4447540"/>
            <a:ext cx="6625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只有缩进了的语句才在循环当中，永真循环下面的代码无法执行。</a:t>
            </a:r>
            <a:endParaRPr lang="zh-CN" altLang="en-US" sz="1800" b="1"/>
          </a:p>
        </p:txBody>
      </p:sp>
      <p:sp>
        <p:nvSpPr>
          <p:cNvPr id="11" name="文本框 10"/>
          <p:cNvSpPr txBox="1"/>
          <p:nvPr/>
        </p:nvSpPr>
        <p:spPr>
          <a:xfrm>
            <a:off x="3636010" y="1118870"/>
            <a:ext cx="3996055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/>
              <a:t>缩进用来决定代码语句之间的关系，</a:t>
            </a:r>
            <a:endParaRPr lang="zh-CN" altLang="en-US" sz="1800"/>
          </a:p>
          <a:p>
            <a:pPr>
              <a:lnSpc>
                <a:spcPct val="140000"/>
              </a:lnSpc>
            </a:pPr>
            <a:r>
              <a:rPr lang="zh-CN" altLang="en-US" sz="1800"/>
              <a:t>如这里</a:t>
            </a:r>
            <a:r>
              <a:rPr lang="en-US" altLang="zh-CN" sz="1800"/>
              <a:t>,</a:t>
            </a:r>
            <a:r>
              <a:rPr lang="zh-CN" altLang="en-US" sz="1800"/>
              <a:t>就决定了第二个</a:t>
            </a:r>
            <a:r>
              <a:rPr lang="en-US" altLang="zh-CN" sz="1800"/>
              <a:t>print()</a:t>
            </a:r>
            <a:r>
              <a:rPr lang="zh-CN" altLang="en-US" sz="1800"/>
              <a:t>到底是在循环里，还是在循环外。</a:t>
            </a:r>
            <a:endParaRPr lang="zh-CN" altLang="en-US" sz="1800"/>
          </a:p>
        </p:txBody>
      </p:sp>
      <p:grpSp>
        <p:nvGrpSpPr>
          <p:cNvPr id="15" name="组合 14"/>
          <p:cNvGrpSpPr/>
          <p:nvPr/>
        </p:nvGrpSpPr>
        <p:grpSpPr>
          <a:xfrm>
            <a:off x="3707765" y="2499995"/>
            <a:ext cx="4044950" cy="1755140"/>
            <a:chOff x="5839" y="3937"/>
            <a:chExt cx="6370" cy="2764"/>
          </a:xfrm>
        </p:grpSpPr>
        <p:sp>
          <p:nvSpPr>
            <p:cNvPr id="12" name="文本框 11"/>
            <p:cNvSpPr txBox="1"/>
            <p:nvPr/>
          </p:nvSpPr>
          <p:spPr>
            <a:xfrm>
              <a:off x="5839" y="3937"/>
              <a:ext cx="637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这里还有一个情况，就是缩进没有对齐。</a:t>
              </a:r>
              <a:endParaRPr lang="zh-CN" altLang="en-US" sz="1600"/>
            </a:p>
            <a:p>
              <a:r>
                <a:rPr lang="zh-CN" altLang="en-US" sz="1600"/>
                <a:t>我们的程序会直接报错。</a:t>
              </a:r>
              <a:endParaRPr lang="zh-CN" altLang="en-US" sz="1600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66" y="4856"/>
              <a:ext cx="4610" cy="184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0" grpId="0" animBg="1"/>
      <p:bldP spid="9" grpId="0"/>
      <p:bldP spid="10" grpId="1" animBg="1"/>
      <p:bldP spid="9" grpId="1"/>
      <p:bldP spid="8" grpId="0"/>
      <p:bldP spid="8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永真循环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7425"/>
            <a:ext cx="650113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False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160" y="2764790"/>
            <a:ext cx="65011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False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print(‘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再见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’)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 rot="5400000">
            <a:off x="1403350" y="2443480"/>
            <a:ext cx="504190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1670" y="4447540"/>
            <a:ext cx="7569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/>
              <a:t>当循环条件不成立时执行语句不会执行，而循环下面的语句是不受影响的。</a:t>
            </a:r>
            <a:endParaRPr lang="zh-CN" altLang="en-US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10" grpId="0" animBg="1"/>
      <p:bldP spid="9" grpId="1"/>
      <p:bldP spid="10" grpId="1" animBg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码猿西游中的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583565" y="987425"/>
            <a:ext cx="4432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ea"/>
              </a:rPr>
              <a:t>码猿西游中</a:t>
            </a:r>
            <a:r>
              <a:rPr lang="en-US" altLang="zh-CN" sz="1800" b="1" dirty="0">
                <a:latin typeface="+mn-ea"/>
              </a:rPr>
              <a:t>while</a:t>
            </a:r>
            <a:r>
              <a:rPr lang="zh-CN" altLang="en-US" sz="1800" b="1" dirty="0">
                <a:latin typeface="+mn-ea"/>
              </a:rPr>
              <a:t>循环的格式也是一样的</a:t>
            </a:r>
            <a:endParaRPr lang="zh-CN" altLang="zh-CN" sz="1800" b="1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752" y="1543313"/>
            <a:ext cx="3307367" cy="2019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矩形 8"/>
          <p:cNvSpPr/>
          <p:nvPr/>
        </p:nvSpPr>
        <p:spPr>
          <a:xfrm>
            <a:off x="2654012" y="2571750"/>
            <a:ext cx="432048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2870036" y="3363838"/>
            <a:ext cx="432048" cy="9361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3375798" y="4155926"/>
            <a:ext cx="11504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缩进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4068509" y="4157196"/>
            <a:ext cx="367240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为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个空格</a:t>
            </a:r>
            <a:endParaRPr lang="zh-CN" altLang="zh-CN" sz="24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829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码猿西游中的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44" y="1169556"/>
            <a:ext cx="1857984" cy="2158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矩形 1"/>
          <p:cNvSpPr>
            <a:spLocks noChangeArrowheads="1"/>
          </p:cNvSpPr>
          <p:nvPr/>
        </p:nvSpPr>
        <p:spPr bwMode="auto">
          <a:xfrm>
            <a:off x="3062615" y="1163960"/>
            <a:ext cx="42484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ea"/>
              </a:rPr>
              <a:t>山妖，最多能承受两次码猿的攻击</a:t>
            </a:r>
            <a:endParaRPr lang="zh-CN" altLang="zh-CN" sz="1800" b="1" dirty="0">
              <a:latin typeface="+mn-ea"/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3134370" y="1566148"/>
            <a:ext cx="42484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(“</a:t>
            </a:r>
            <a:r>
              <a:rPr lang="zh-CN" altLang="en-US" sz="1800" b="1" dirty="0">
                <a:latin typeface="+mn-ea"/>
              </a:rPr>
              <a:t>山妖</a:t>
            </a:r>
            <a:r>
              <a:rPr lang="en-US" altLang="zh-CN" sz="1800" b="1" dirty="0">
                <a:latin typeface="+mn-ea"/>
              </a:rPr>
              <a:t>”)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(“</a:t>
            </a:r>
            <a:r>
              <a:rPr lang="zh-CN" altLang="en-US" sz="1800" b="1" dirty="0">
                <a:latin typeface="+mn-ea"/>
              </a:rPr>
              <a:t>山妖</a:t>
            </a:r>
            <a:r>
              <a:rPr lang="en-US" altLang="zh-CN" sz="1800" b="1" dirty="0">
                <a:latin typeface="+mn-ea"/>
              </a:rPr>
              <a:t>”)</a:t>
            </a:r>
            <a:endParaRPr lang="zh-CN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码猿西游中的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"/>
          <p:cNvSpPr>
            <a:spLocks noChangeArrowheads="1"/>
          </p:cNvSpPr>
          <p:nvPr/>
        </p:nvSpPr>
        <p:spPr bwMode="auto">
          <a:xfrm>
            <a:off x="3851910" y="1450975"/>
            <a:ext cx="44011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ea"/>
              </a:rPr>
              <a:t>巨型山妖，需要我们攻击很多次才能打倒</a:t>
            </a:r>
            <a:endParaRPr lang="zh-CN" altLang="zh-CN" sz="1800" b="1" dirty="0">
              <a:latin typeface="+mn-ea"/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3924687" y="1867667"/>
            <a:ext cx="42484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while</a:t>
            </a:r>
            <a:r>
              <a:rPr lang="en-US" altLang="zh-CN" sz="1800" b="1" dirty="0">
                <a:latin typeface="+mn-ea"/>
              </a:rPr>
              <a:t> True:</a:t>
            </a:r>
            <a:endParaRPr lang="en-US" altLang="zh-CN" sz="1800" b="1" dirty="0">
              <a:latin typeface="+mn-ea"/>
            </a:endParaRPr>
          </a:p>
          <a:p>
            <a:pPr lvl="1"/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(“</a:t>
            </a:r>
            <a:r>
              <a:rPr lang="zh-CN" altLang="en-US" sz="1800" b="1" dirty="0">
                <a:latin typeface="+mn-ea"/>
              </a:rPr>
              <a:t>巨型山妖</a:t>
            </a:r>
            <a:r>
              <a:rPr lang="en-US" altLang="zh-CN" sz="1800" b="1" dirty="0">
                <a:latin typeface="+mn-ea"/>
              </a:rPr>
              <a:t>”)</a:t>
            </a:r>
            <a:endParaRPr lang="en-US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917" y="1163960"/>
            <a:ext cx="3330167" cy="25681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码猿西游中的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841" y="1061100"/>
            <a:ext cx="2248095" cy="11812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6"/>
          <p:cNvSpPr txBox="1">
            <a:spLocks noChangeArrowheads="1"/>
          </p:cNvSpPr>
          <p:nvPr/>
        </p:nvSpPr>
        <p:spPr bwMode="auto">
          <a:xfrm>
            <a:off x="656752" y="2357244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让码猿不断向东前进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3526141" y="1093042"/>
            <a:ext cx="3281396" cy="9233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while </a:t>
            </a:r>
            <a:r>
              <a:rPr lang="en-US" altLang="zh-CN" sz="18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True</a:t>
            </a:r>
            <a:r>
              <a:rPr lang="zh-CN" altLang="en-US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：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  </a:t>
            </a:r>
            <a:r>
              <a:rPr lang="en-US" altLang="zh-CN" sz="18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mayuan.turnEast</a:t>
            </a:r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()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  </a:t>
            </a:r>
            <a:r>
              <a:rPr lang="en-US" altLang="zh-CN" sz="18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mayuan.go</a:t>
            </a:r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() 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6"/>
          <p:cNvSpPr txBox="1">
            <a:spLocks noChangeArrowheads="1"/>
          </p:cNvSpPr>
          <p:nvPr/>
        </p:nvSpPr>
        <p:spPr bwMode="auto">
          <a:xfrm>
            <a:off x="3526141" y="2430011"/>
            <a:ext cx="3281396" cy="9233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while </a:t>
            </a:r>
            <a:r>
              <a:rPr lang="en-US" altLang="zh-CN" sz="18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False</a:t>
            </a:r>
            <a:r>
              <a:rPr lang="zh-CN" altLang="en-US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：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  </a:t>
            </a:r>
            <a:r>
              <a:rPr lang="en-US" altLang="zh-CN" sz="18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mayuan.turnEast</a:t>
            </a:r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()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  <a:p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  </a:t>
            </a:r>
            <a:r>
              <a:rPr lang="en-US" altLang="zh-CN" sz="18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mayuan.go</a:t>
            </a:r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(</a:t>
            </a:r>
            <a:r>
              <a:rPr lang="en-US" altLang="zh-CN" sz="1800" b="1" kern="0" dirty="0">
                <a:solidFill>
                  <a:schemeClr val="accent2"/>
                </a:solidFill>
                <a:latin typeface="微软雅黑" panose="020B0503020204020204" pitchFamily="34" charset="-122"/>
                <a:cs typeface="+mn-ea"/>
                <a:sym typeface="+mn-lt"/>
              </a:rPr>
              <a:t>50</a:t>
            </a:r>
            <a:r>
              <a:rPr lang="en-US" altLang="zh-CN" sz="18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) </a:t>
            </a:r>
            <a:endParaRPr lang="en-US" altLang="zh-CN" sz="18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tags/tag1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1304</Words>
  <Application>WPS 演示</Application>
  <PresentationFormat>全屏显示(16:9)</PresentationFormat>
  <Paragraphs>182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466</cp:revision>
  <cp:lastPrinted>2000-12-31T21:09:00Z</cp:lastPrinted>
  <dcterms:created xsi:type="dcterms:W3CDTF">2015-11-10T12:01:00Z</dcterms:created>
  <dcterms:modified xsi:type="dcterms:W3CDTF">2022-09-16T08:59:21Z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2F24B678F41B45A99F8DE8D45071F4C6</vt:lpwstr>
  </property>
  <property fmtid="{D5CDD505-2E9C-101B-9397-08002B2CF9AE}" pid="3" name="KSOProductBuildVer">
    <vt:lpwstr>2052-11.1.0.12358</vt:lpwstr>
  </property>
</Properties>
</file>