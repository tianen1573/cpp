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17" r:id="rId2"/>
    <p:sldId id="485" r:id="rId3"/>
    <p:sldId id="489" r:id="rId4"/>
    <p:sldId id="484" r:id="rId5"/>
    <p:sldId id="496" r:id="rId6"/>
    <p:sldId id="481" r:id="rId7"/>
    <p:sldId id="482" r:id="rId8"/>
    <p:sldId id="483" r:id="rId9"/>
    <p:sldId id="491" r:id="rId10"/>
    <p:sldId id="502" r:id="rId11"/>
    <p:sldId id="490" r:id="rId12"/>
  </p:sldIdLst>
  <p:sldSz cx="9144000" cy="5143500" type="screen16x9"/>
  <p:notesSz cx="6797675" cy="9925050"/>
  <p:custDataLst>
    <p:tags r:id="rId14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94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756093" y="2192546"/>
            <a:ext cx="3631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码猿西游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46964" y="2192546"/>
            <a:ext cx="4450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自我介绍、纪律、卫生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前景与作用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298944" y="1923678"/>
            <a:ext cx="6048359" cy="21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学习</a:t>
            </a:r>
            <a:r>
              <a:rPr lang="en-US" altLang="zh-CN" sz="1800" dirty="0"/>
              <a:t>Python</a:t>
            </a:r>
            <a:r>
              <a:rPr lang="zh-CN" altLang="en-US" sz="1800" dirty="0"/>
              <a:t>的好处有：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使用人数快速增长，成为世界上最流行的编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程语言之一。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编程是目前最简单的编程语言之一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是最适合编程人工智能的语言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为什么我们要学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F0502020204030204"/>
                <a:ea typeface="等线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545357" y="2192546"/>
            <a:ext cx="405328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码猿西游</a:t>
            </a:r>
            <a:r>
              <a:rPr lang="en-US" altLang="zh-CN" sz="2800" b="1" dirty="0"/>
              <a:t>】</a:t>
            </a:r>
          </a:p>
          <a:p>
            <a:pPr algn="ctr"/>
            <a:r>
              <a:rPr lang="en-US" altLang="zh-CN" sz="2800" b="1" dirty="0"/>
              <a:t>Python  L0</a:t>
            </a:r>
            <a:r>
              <a:rPr lang="zh-CN" altLang="zh-CN" sz="2800" b="1" dirty="0"/>
              <a:t>课程体系</a:t>
            </a:r>
            <a:endParaRPr lang="en-US" altLang="zh-CN" sz="2800" b="1" dirty="0"/>
          </a:p>
          <a:p>
            <a:pPr algn="ctr"/>
            <a:r>
              <a:rPr lang="zh-CN" altLang="en-US" sz="2800" b="1" dirty="0">
                <a:sym typeface="+mn-ea"/>
              </a:rPr>
              <a:t>http://xy.imayuan.com/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第一课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花果山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48422" y="2192546"/>
            <a:ext cx="144716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/>
              <a:t>6</a:t>
            </a:r>
            <a:r>
              <a:rPr lang="zh-CN" altLang="en-US" sz="2800" b="1" dirty="0"/>
              <a:t>个关卡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注释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注释</a:t>
            </a:r>
            <a:r>
              <a:rPr lang="zh-CN" altLang="en-US" sz="2400" b="1" dirty="0"/>
              <a:t>”是干什么用的？</a:t>
            </a:r>
            <a:endParaRPr lang="zh-CN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2463" y="1745751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“</a:t>
            </a:r>
            <a:r>
              <a:rPr lang="zh-CN" altLang="en-US" sz="2400" dirty="0">
                <a:solidFill>
                  <a:srgbClr val="FF0000"/>
                </a:solidFill>
              </a:rPr>
              <a:t>注释</a:t>
            </a:r>
            <a:r>
              <a:rPr lang="zh-CN" altLang="en-US" sz="2400" dirty="0"/>
              <a:t>”是为了让我们更容易读懂代码而人为添加上去的</a:t>
            </a:r>
            <a:endParaRPr lang="en-US" altLang="zh-CN" sz="2400" dirty="0"/>
          </a:p>
        </p:txBody>
      </p:sp>
      <p:sp>
        <p:nvSpPr>
          <p:cNvPr id="27" name="矩形 26"/>
          <p:cNvSpPr/>
          <p:nvPr/>
        </p:nvSpPr>
        <p:spPr>
          <a:xfrm>
            <a:off x="508444" y="2415274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注释</a:t>
            </a:r>
            <a:r>
              <a:rPr lang="zh-CN" altLang="en-US" sz="2400" b="1" dirty="0"/>
              <a:t>”一般是放在什么位置？</a:t>
            </a:r>
            <a:endParaRPr lang="zh-CN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1404636" y="3352101"/>
            <a:ext cx="430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FF6600"/>
                </a:solidFill>
              </a:rPr>
              <a:t>#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r="12264" b="27636"/>
          <a:stretch>
            <a:fillRect/>
          </a:stretch>
        </p:blipFill>
        <p:spPr>
          <a:xfrm>
            <a:off x="2609518" y="2994366"/>
            <a:ext cx="3924964" cy="16657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/>
              <a:t>生活中的“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”有哪些？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002644"/>
            <a:ext cx="1352340" cy="1752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912492"/>
            <a:ext cx="2202055" cy="1636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</a:rPr>
              <a:t>4</a:t>
            </a:r>
            <a:r>
              <a:rPr lang="zh-CN" altLang="en-US" sz="24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/>
              <a:t>码猿西游中的“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”有哪些？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52" y="2002644"/>
            <a:ext cx="1944216" cy="16298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r="7011"/>
          <a:stretch>
            <a:fillRect/>
          </a:stretch>
        </p:blipFill>
        <p:spPr>
          <a:xfrm>
            <a:off x="6386234" y="1953257"/>
            <a:ext cx="1339834" cy="1636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937" y="1912492"/>
            <a:ext cx="2088232" cy="1676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937" y="1912492"/>
            <a:ext cx="2088232" cy="2329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34614" y="1245988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zh-CN" altLang="en-US" sz="2400" b="1" dirty="0"/>
              <a:t>”就是指一个“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”做出的行动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1739307" y="1956631"/>
            <a:ext cx="8135079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zh-CN" altLang="en-US" sz="2400" b="1" dirty="0"/>
              <a:t>”的调用：</a:t>
            </a:r>
            <a:r>
              <a:rPr lang="zh-CN" altLang="en-US" sz="2400" b="1" u="sng" dirty="0">
                <a:solidFill>
                  <a:srgbClr val="FF0000"/>
                </a:solidFill>
              </a:rPr>
              <a:t>对象名</a:t>
            </a:r>
            <a:r>
              <a:rPr lang="en-US" altLang="zh-CN" sz="2400" b="1" u="sng" dirty="0">
                <a:solidFill>
                  <a:srgbClr val="FF0000"/>
                </a:solidFill>
              </a:rPr>
              <a:t>.</a:t>
            </a:r>
            <a:r>
              <a:rPr lang="zh-CN" altLang="en-US" sz="2400" b="1" u="sng" dirty="0">
                <a:solidFill>
                  <a:srgbClr val="FF0000"/>
                </a:solidFill>
              </a:rPr>
              <a:t>方法名</a:t>
            </a:r>
            <a:r>
              <a:rPr lang="en-US" altLang="zh-CN" sz="2400" b="1" u="sng" dirty="0">
                <a:solidFill>
                  <a:srgbClr val="FF0000"/>
                </a:solidFill>
              </a:rPr>
              <a:t>(</a:t>
            </a:r>
            <a:r>
              <a:rPr lang="zh-CN" altLang="en-US" sz="2400" b="1" u="sng" dirty="0">
                <a:solidFill>
                  <a:srgbClr val="FF0000"/>
                </a:solidFill>
              </a:rPr>
              <a:t>参数</a:t>
            </a:r>
            <a:r>
              <a:rPr lang="en-US" altLang="zh-CN" sz="2400" b="1" u="sng" dirty="0">
                <a:solidFill>
                  <a:srgbClr val="FF0000"/>
                </a:solidFill>
              </a:rPr>
              <a:t>)</a:t>
            </a:r>
            <a:endParaRPr lang="zh-CN" altLang="en-US" sz="2000" u="sng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003798"/>
            <a:ext cx="1222263" cy="1363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矩形 15"/>
          <p:cNvSpPr/>
          <p:nvPr/>
        </p:nvSpPr>
        <p:spPr>
          <a:xfrm>
            <a:off x="467544" y="3465856"/>
            <a:ext cx="2016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mayuan.go</a:t>
            </a:r>
            <a:r>
              <a:rPr lang="en-US" altLang="zh-CN" sz="2400" b="1" dirty="0">
                <a:solidFill>
                  <a:srgbClr val="FF0000"/>
                </a:solidFill>
              </a:rPr>
              <a:t>()</a:t>
            </a:r>
            <a:endParaRPr lang="zh-CN" altLang="en-US" sz="20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00216 L 0.22465 -0.0021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5293" y="1343231"/>
            <a:ext cx="8135079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zh-CN" altLang="en-US" sz="2400" b="1" dirty="0"/>
              <a:t>”是一串文本信息，给计算机的字符串两端需</a:t>
            </a:r>
            <a:r>
              <a:rPr lang="zh-CN" altLang="en-US" sz="2400" b="1" dirty="0">
                <a:solidFill>
                  <a:srgbClr val="FF0000"/>
                </a:solidFill>
              </a:rPr>
              <a:t>引号</a:t>
            </a:r>
          </a:p>
        </p:txBody>
      </p:sp>
      <p:sp>
        <p:nvSpPr>
          <p:cNvPr id="16" name="矩形 15"/>
          <p:cNvSpPr/>
          <p:nvPr/>
        </p:nvSpPr>
        <p:spPr>
          <a:xfrm>
            <a:off x="899592" y="2321540"/>
            <a:ext cx="42202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</a:rPr>
              <a:t>“hello  world”</a:t>
            </a:r>
            <a:endParaRPr lang="en-US" altLang="zh-CN" sz="2400" b="1" u="sng" dirty="0" err="1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D122C7-A490-5B88-B0B5-BF78D668002D}"/>
              </a:ext>
            </a:extLst>
          </p:cNvPr>
          <p:cNvSpPr/>
          <p:nvPr/>
        </p:nvSpPr>
        <p:spPr>
          <a:xfrm>
            <a:off x="909310" y="2786148"/>
            <a:ext cx="42202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‘hello  world’</a:t>
            </a:r>
            <a:endParaRPr lang="en-US" altLang="zh-CN" sz="24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222</Words>
  <Application>Microsoft Office PowerPoint</Application>
  <PresentationFormat>全屏显示(16:9)</PresentationFormat>
  <Paragraphs>45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HandelGotDLig</vt:lpstr>
      <vt:lpstr>等线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373</cp:revision>
  <cp:lastPrinted>2000-12-31T21:09:00Z</cp:lastPrinted>
  <dcterms:created xsi:type="dcterms:W3CDTF">2015-11-10T12:01:00Z</dcterms:created>
  <dcterms:modified xsi:type="dcterms:W3CDTF">2023-05-08T07:56:58Z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F49618318A3B4A15ACF6BA0C41195011</vt:lpwstr>
  </property>
  <property fmtid="{D5CDD505-2E9C-101B-9397-08002B2CF9AE}" pid="3" name="KSOProductBuildVer">
    <vt:lpwstr>2052-11.1.0.10700</vt:lpwstr>
  </property>
</Properties>
</file>