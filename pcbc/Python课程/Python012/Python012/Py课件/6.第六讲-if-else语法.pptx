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485" r:id="rId2"/>
    <p:sldId id="470" r:id="rId3"/>
    <p:sldId id="495" r:id="rId4"/>
    <p:sldId id="480" r:id="rId5"/>
    <p:sldId id="492" r:id="rId6"/>
    <p:sldId id="491" r:id="rId7"/>
    <p:sldId id="496" r:id="rId8"/>
    <p:sldId id="506" r:id="rId9"/>
    <p:sldId id="507" r:id="rId10"/>
    <p:sldId id="508" r:id="rId11"/>
    <p:sldId id="493" r:id="rId12"/>
    <p:sldId id="482" r:id="rId13"/>
    <p:sldId id="499" r:id="rId14"/>
    <p:sldId id="497" r:id="rId15"/>
    <p:sldId id="500" r:id="rId16"/>
    <p:sldId id="490" r:id="rId17"/>
  </p:sldIdLst>
  <p:sldSz cx="9144000" cy="5143500" type="screen16x9"/>
  <p:notesSz cx="6797675" cy="9925050"/>
  <p:custDataLst>
    <p:tags r:id="rId19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8E18A"/>
    <a:srgbClr val="215F27"/>
    <a:srgbClr val="FF6600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06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31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PythonL0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797431" y="1853411"/>
            <a:ext cx="197739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7281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课前回顾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1081068"/>
            <a:ext cx="741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什么是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if </a:t>
            </a:r>
            <a:r>
              <a:rPr lang="zh-CN" altLang="en-US" sz="1600" b="1" dirty="0">
                <a:latin typeface="+mn-ea"/>
              </a:rPr>
              <a:t>，举几个生活中的例子吧？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2094" y="1563638"/>
            <a:ext cx="21977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如果</a:t>
            </a:r>
            <a:r>
              <a:rPr lang="zh-CN" altLang="en-US" sz="2000" b="1" dirty="0">
                <a:solidFill>
                  <a:schemeClr val="accent1"/>
                </a:solidFill>
              </a:rPr>
              <a:t>   表示判断</a:t>
            </a:r>
            <a:endParaRPr lang="en-US" altLang="zh-CN" sz="2000" b="1" dirty="0">
              <a:solidFill>
                <a:schemeClr val="accent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1560" y="2067694"/>
            <a:ext cx="74168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判断的语法是怎样的？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11560" y="3219822"/>
            <a:ext cx="7416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下列</a:t>
            </a:r>
            <a:r>
              <a:rPr lang="en-US" altLang="zh-CN" sz="1800" b="1" dirty="0">
                <a:solidFill>
                  <a:srgbClr val="FF0000"/>
                </a:solidFill>
              </a:rPr>
              <a:t>if</a:t>
            </a:r>
            <a:r>
              <a:rPr lang="zh-CN" altLang="en-US" sz="1600" b="1" dirty="0">
                <a:latin typeface="+mn-ea"/>
              </a:rPr>
              <a:t>判断语句的判断类型是什么？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92460" y="3725570"/>
            <a:ext cx="47716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demon = </a:t>
            </a:r>
            <a:r>
              <a:rPr lang="en-US" altLang="zh-CN" sz="1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mayuan.findNearestEnemy</a:t>
            </a:r>
            <a:r>
              <a:rPr lang="en-US" altLang="zh-CN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()</a:t>
            </a:r>
          </a:p>
          <a:p>
            <a:r>
              <a:rPr lang="en-US" altLang="zh-CN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if demon:</a:t>
            </a:r>
          </a:p>
          <a:p>
            <a:r>
              <a:rPr lang="en-US" altLang="zh-CN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	</a:t>
            </a:r>
            <a:r>
              <a:rPr lang="en-US" altLang="zh-CN" sz="1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mayuan.attack</a:t>
            </a:r>
            <a:r>
              <a:rPr lang="en-US" altLang="zh-CN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(demon)</a:t>
            </a:r>
            <a:endParaRPr lang="zh-CN" altLang="zh-CN" sz="18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934136" y="1615901"/>
            <a:ext cx="19979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如果</a:t>
            </a:r>
            <a:r>
              <a:rPr lang="zh-CN" altLang="en-US" b="1" dirty="0">
                <a:solidFill>
                  <a:schemeClr val="accent1"/>
                </a:solidFill>
              </a:rPr>
              <a:t>下雨了，出门带伞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292080" y="1615901"/>
            <a:ext cx="19979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如果</a:t>
            </a:r>
            <a:r>
              <a:rPr lang="zh-CN" altLang="en-US" b="1" dirty="0">
                <a:solidFill>
                  <a:schemeClr val="accent1"/>
                </a:solidFill>
              </a:rPr>
              <a:t>手机没电了，需要充电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43608" y="2501483"/>
            <a:ext cx="2616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if</a:t>
            </a:r>
            <a:r>
              <a:rPr lang="zh-CN" altLang="en-US" sz="1800" b="1" dirty="0"/>
              <a:t> </a:t>
            </a:r>
            <a:r>
              <a:rPr lang="zh-CN" altLang="en-US" sz="1600" b="1" dirty="0">
                <a:solidFill>
                  <a:schemeClr val="accent1"/>
                </a:solidFill>
              </a:rPr>
              <a:t>判断条件</a:t>
            </a:r>
            <a:r>
              <a:rPr lang="zh-CN" altLang="en-US" sz="1800" b="1" dirty="0"/>
              <a:t>：</a:t>
            </a:r>
            <a:endParaRPr lang="en-US" altLang="zh-CN" sz="1800" b="1" dirty="0"/>
          </a:p>
          <a:p>
            <a:r>
              <a:rPr lang="en-US" altLang="zh-CN" sz="1800" b="1" dirty="0"/>
              <a:t>	</a:t>
            </a:r>
            <a:r>
              <a:rPr lang="zh-CN" altLang="en-US" sz="1600" b="1" dirty="0">
                <a:solidFill>
                  <a:schemeClr val="accent1"/>
                </a:solidFill>
              </a:rPr>
              <a:t>需要执行的语句</a:t>
            </a:r>
            <a:endParaRPr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62094" y="4040544"/>
            <a:ext cx="901594" cy="3269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6" name="直线箭头连接符 10"/>
          <p:cNvCxnSpPr/>
          <p:nvPr/>
        </p:nvCxnSpPr>
        <p:spPr>
          <a:xfrm>
            <a:off x="1763688" y="4252182"/>
            <a:ext cx="4324738" cy="234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7" name="TextBox 6"/>
          <p:cNvSpPr txBox="1">
            <a:spLocks noChangeArrowheads="1"/>
          </p:cNvSpPr>
          <p:nvPr/>
        </p:nvSpPr>
        <p:spPr bwMode="auto">
          <a:xfrm>
            <a:off x="6088426" y="4301941"/>
            <a:ext cx="861977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cs typeface="+mn-ea"/>
                <a:sym typeface="+mn-lt"/>
              </a:rPr>
              <a:t>变量</a:t>
            </a:r>
            <a:endParaRPr lang="en-US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2" grpId="0"/>
      <p:bldP spid="21" grpId="0"/>
      <p:bldP spid="23" grpId="0"/>
      <p:bldP spid="24" grpId="0"/>
      <p:bldP spid="25" grpId="0" animBg="1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PythonL0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813943" y="1853411"/>
            <a:ext cx="194437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关键字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else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关键字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52145" y="987425"/>
            <a:ext cx="377571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else</a:t>
            </a:r>
            <a:r>
              <a:rPr lang="zh-CN" altLang="en-US" sz="2800" b="1" dirty="0">
                <a:solidFill>
                  <a:srgbClr val="FF0000"/>
                </a:solidFill>
              </a:rPr>
              <a:t>：</a:t>
            </a:r>
            <a:r>
              <a:rPr lang="zh-CN" altLang="en-US" sz="2800" b="1" dirty="0">
                <a:solidFill>
                  <a:schemeClr val="tx1"/>
                </a:solidFill>
              </a:rPr>
              <a:t>否则</a:t>
            </a:r>
          </a:p>
        </p:txBody>
      </p:sp>
      <p:sp>
        <p:nvSpPr>
          <p:cNvPr id="21" name="矩形 20"/>
          <p:cNvSpPr/>
          <p:nvPr/>
        </p:nvSpPr>
        <p:spPr>
          <a:xfrm>
            <a:off x="652145" y="1635760"/>
            <a:ext cx="31673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判断条件：手机电量</a:t>
            </a:r>
            <a:endParaRPr lang="zh-CN" altLang="en-US" sz="2000" dirty="0"/>
          </a:p>
        </p:txBody>
      </p:sp>
      <p:sp>
        <p:nvSpPr>
          <p:cNvPr id="23" name="矩形 22"/>
          <p:cNvSpPr/>
          <p:nvPr/>
        </p:nvSpPr>
        <p:spPr>
          <a:xfrm>
            <a:off x="5364088" y="1779662"/>
            <a:ext cx="31683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如果（</a:t>
            </a:r>
            <a:r>
              <a:rPr lang="en-US" altLang="zh-CN" sz="2000" b="1" dirty="0"/>
              <a:t>if</a:t>
            </a:r>
            <a:r>
              <a:rPr lang="zh-CN" altLang="en-US" sz="2000" b="1" dirty="0"/>
              <a:t>）手机有电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玩手机游戏</a:t>
            </a:r>
            <a:endParaRPr lang="en-US" altLang="zh-CN" sz="20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55" y="2793484"/>
            <a:ext cx="1276040" cy="7629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矩形 13"/>
          <p:cNvSpPr/>
          <p:nvPr/>
        </p:nvSpPr>
        <p:spPr>
          <a:xfrm>
            <a:off x="2391656" y="2787774"/>
            <a:ext cx="6232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92D050"/>
                </a:solidFill>
                <a:sym typeface="Wingdings 2" panose="05020102010507070707" pitchFamily="18" charset="2"/>
              </a:rPr>
              <a:t></a:t>
            </a:r>
            <a:endParaRPr lang="zh-CN" altLang="en-US" sz="3600" dirty="0">
              <a:solidFill>
                <a:srgbClr val="92D05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2787774"/>
            <a:ext cx="1440160" cy="7686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355" y="3978275"/>
            <a:ext cx="1292860" cy="7150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8" name="矩形 17"/>
          <p:cNvSpPr/>
          <p:nvPr/>
        </p:nvSpPr>
        <p:spPr>
          <a:xfrm>
            <a:off x="2391656" y="3898239"/>
            <a:ext cx="6232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565" y="3930414"/>
            <a:ext cx="1126678" cy="9079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" name="矩形 21"/>
          <p:cNvSpPr/>
          <p:nvPr/>
        </p:nvSpPr>
        <p:spPr>
          <a:xfrm>
            <a:off x="5364088" y="3296949"/>
            <a:ext cx="31683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否则（</a:t>
            </a:r>
            <a:r>
              <a:rPr lang="en-US" altLang="zh-CN" sz="2000" b="1" dirty="0"/>
              <a:t>else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先给手机充电</a:t>
            </a:r>
            <a:endParaRPr lang="en-US" altLang="zh-CN" sz="2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2" grpId="0"/>
      <p:bldP spid="21" grpId="0"/>
      <p:bldP spid="23" grpId="0"/>
      <p:bldP spid="14" grpId="0"/>
      <p:bldP spid="18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else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关键字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2082" y="2141473"/>
            <a:ext cx="8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开始</a:t>
            </a:r>
          </a:p>
        </p:txBody>
      </p:sp>
      <p:sp>
        <p:nvSpPr>
          <p:cNvPr id="2" name="箭头: 右 1"/>
          <p:cNvSpPr/>
          <p:nvPr/>
        </p:nvSpPr>
        <p:spPr>
          <a:xfrm>
            <a:off x="1356142" y="2285489"/>
            <a:ext cx="1296144" cy="197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735747" y="2141473"/>
            <a:ext cx="14287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判断条件</a:t>
            </a:r>
          </a:p>
        </p:txBody>
      </p:sp>
      <p:sp>
        <p:nvSpPr>
          <p:cNvPr id="17" name="箭头: 右 16"/>
          <p:cNvSpPr/>
          <p:nvPr/>
        </p:nvSpPr>
        <p:spPr>
          <a:xfrm rot="19402483">
            <a:off x="4086691" y="1792526"/>
            <a:ext cx="1296144" cy="197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/>
          <p:cNvSpPr/>
          <p:nvPr/>
        </p:nvSpPr>
        <p:spPr>
          <a:xfrm rot="2087589">
            <a:off x="4079845" y="2781617"/>
            <a:ext cx="1296144" cy="197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 rot="19441337">
            <a:off x="4196003" y="1479547"/>
            <a:ext cx="8153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</a:rPr>
              <a:t>成立</a:t>
            </a:r>
          </a:p>
        </p:txBody>
      </p:sp>
      <p:sp>
        <p:nvSpPr>
          <p:cNvPr id="24" name="矩形 23"/>
          <p:cNvSpPr/>
          <p:nvPr/>
        </p:nvSpPr>
        <p:spPr>
          <a:xfrm rot="2054358">
            <a:off x="4251935" y="2942911"/>
            <a:ext cx="8153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</a:rPr>
              <a:t>否则</a:t>
            </a:r>
          </a:p>
        </p:txBody>
      </p:sp>
      <p:sp>
        <p:nvSpPr>
          <p:cNvPr id="25" name="矩形 24"/>
          <p:cNvSpPr/>
          <p:nvPr/>
        </p:nvSpPr>
        <p:spPr>
          <a:xfrm>
            <a:off x="5460598" y="1214441"/>
            <a:ext cx="1296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动作</a:t>
            </a:r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26" name="矩形 25"/>
          <p:cNvSpPr/>
          <p:nvPr/>
        </p:nvSpPr>
        <p:spPr>
          <a:xfrm>
            <a:off x="5460598" y="3004266"/>
            <a:ext cx="1296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动作</a:t>
            </a:r>
            <a:r>
              <a:rPr lang="en-US" altLang="zh-CN" sz="2400" b="1" dirty="0"/>
              <a:t>2</a:t>
            </a:r>
            <a:endParaRPr lang="zh-CN" altLang="en-US" sz="24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616585" y="4156075"/>
            <a:ext cx="8235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/>
              <a:t>if</a:t>
            </a:r>
            <a:r>
              <a:rPr lang="zh-CN" altLang="en-US" sz="1800"/>
              <a:t>和</a:t>
            </a:r>
            <a:r>
              <a:rPr lang="en-US" altLang="zh-CN" sz="1800"/>
              <a:t>else</a:t>
            </a:r>
            <a:r>
              <a:rPr lang="zh-CN" altLang="en-US" sz="1800"/>
              <a:t>配合，就是双分支结构，根据条件的成立与否，各有一种选择。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3" grpId="0"/>
      <p:bldP spid="2" grpId="0" bldLvl="0" animBg="1"/>
      <p:bldP spid="16" grpId="0"/>
      <p:bldP spid="17" grpId="0" bldLvl="0" animBg="1"/>
      <p:bldP spid="18" grpId="0" bldLvl="0" animBg="1"/>
      <p:bldP spid="22" grpId="0"/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if-else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4215" y="1491630"/>
            <a:ext cx="3877783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if</a:t>
            </a:r>
            <a:r>
              <a:rPr lang="zh-CN" altLang="en-US" sz="2400" b="1" dirty="0"/>
              <a:t> </a:t>
            </a:r>
            <a:r>
              <a:rPr lang="zh-CN" altLang="en-US" sz="2000" b="1" dirty="0"/>
              <a:t>判断条件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/>
              <a:t>	</a:t>
            </a:r>
            <a:r>
              <a:rPr lang="zh-CN" altLang="en-US" sz="2000" b="1" dirty="0"/>
              <a:t>执行语句</a:t>
            </a:r>
            <a:r>
              <a:rPr lang="en-US" altLang="zh-CN" sz="2000" b="1" dirty="0"/>
              <a:t>1</a:t>
            </a:r>
          </a:p>
          <a:p>
            <a:r>
              <a:rPr lang="en-US" altLang="zh-CN" sz="2400" b="1" dirty="0">
                <a:solidFill>
                  <a:srgbClr val="FF0000"/>
                </a:solidFill>
              </a:rPr>
              <a:t>else 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	</a:t>
            </a:r>
            <a:r>
              <a:rPr lang="zh-CN" altLang="en-US" sz="2000" b="1" dirty="0"/>
              <a:t>执行语句</a:t>
            </a:r>
            <a:r>
              <a:rPr lang="en-US" altLang="zh-CN" sz="2000" b="1" dirty="0"/>
              <a:t>2</a:t>
            </a:r>
          </a:p>
        </p:txBody>
      </p:sp>
      <p:sp>
        <p:nvSpPr>
          <p:cNvPr id="2" name="矩形 1"/>
          <p:cNvSpPr/>
          <p:nvPr/>
        </p:nvSpPr>
        <p:spPr>
          <a:xfrm>
            <a:off x="716719" y="1956777"/>
            <a:ext cx="709432" cy="3269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箭头连接符 10"/>
          <p:cNvCxnSpPr/>
          <p:nvPr/>
        </p:nvCxnSpPr>
        <p:spPr>
          <a:xfrm>
            <a:off x="1316204" y="2149026"/>
            <a:ext cx="807524" cy="15125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1829290" y="3619039"/>
            <a:ext cx="861977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cs typeface="+mn-ea"/>
                <a:sym typeface="+mn-lt"/>
              </a:rPr>
              <a:t>缩进</a:t>
            </a:r>
            <a:endParaRPr lang="en-US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83568" y="2676857"/>
            <a:ext cx="709432" cy="3269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" name="直线箭头连接符 10"/>
          <p:cNvCxnSpPr/>
          <p:nvPr/>
        </p:nvCxnSpPr>
        <p:spPr>
          <a:xfrm>
            <a:off x="1038284" y="2808043"/>
            <a:ext cx="1085444" cy="910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4283498" y="1563732"/>
            <a:ext cx="3877783" cy="1569660"/>
          </a:xfrm>
          <a:prstGeom prst="rect">
            <a:avLst/>
          </a:prstGeom>
          <a:ln w="57150"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if</a:t>
            </a:r>
            <a:r>
              <a:rPr lang="zh-CN" altLang="en-US" sz="2400" b="1" dirty="0"/>
              <a:t> </a:t>
            </a:r>
            <a:r>
              <a:rPr lang="zh-CN" altLang="en-US" sz="2000" b="1" dirty="0"/>
              <a:t>手机有电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/>
              <a:t>	</a:t>
            </a:r>
            <a:r>
              <a:rPr lang="zh-CN" altLang="en-US" sz="2000" b="1" dirty="0"/>
              <a:t>玩手机游戏</a:t>
            </a:r>
            <a:endParaRPr lang="en-US" altLang="zh-CN" sz="2000" b="1" dirty="0"/>
          </a:p>
          <a:p>
            <a:r>
              <a:rPr lang="en-US" altLang="zh-CN" sz="2400" b="1" dirty="0">
                <a:solidFill>
                  <a:srgbClr val="FF0000"/>
                </a:solidFill>
              </a:rPr>
              <a:t>else 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	</a:t>
            </a:r>
            <a:r>
              <a:rPr lang="zh-CN" altLang="en-US" sz="2000" b="1" dirty="0"/>
              <a:t>先给手机充电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3" grpId="0"/>
      <p:bldP spid="2" grpId="0" animBg="1"/>
      <p:bldP spid="17" grpId="0"/>
      <p:bldP spid="19" grpId="0" animBg="1"/>
      <p:bldP spid="21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注意点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11560" y="1563638"/>
            <a:ext cx="3877783" cy="1569660"/>
          </a:xfrm>
          <a:prstGeom prst="rect">
            <a:avLst/>
          </a:prstGeom>
          <a:ln w="57150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if</a:t>
            </a:r>
            <a:r>
              <a:rPr lang="zh-CN" altLang="en-US" sz="2400" b="1" dirty="0"/>
              <a:t> </a:t>
            </a:r>
            <a:r>
              <a:rPr lang="zh-CN" altLang="en-US" sz="2000" b="1" dirty="0"/>
              <a:t>手机有电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/>
              <a:t>	</a:t>
            </a:r>
            <a:r>
              <a:rPr lang="zh-CN" altLang="en-US" sz="2000" b="1" dirty="0"/>
              <a:t>玩手机游戏</a:t>
            </a:r>
            <a:endParaRPr lang="en-US" altLang="zh-CN" sz="2000" b="1" dirty="0"/>
          </a:p>
          <a:p>
            <a:r>
              <a:rPr lang="en-US" altLang="zh-CN" sz="2000" b="1" dirty="0">
                <a:solidFill>
                  <a:srgbClr val="FF0000"/>
                </a:solidFill>
              </a:rPr>
              <a:t>	</a:t>
            </a:r>
            <a:r>
              <a:rPr lang="en-US" altLang="zh-CN" sz="2400" b="1" dirty="0">
                <a:solidFill>
                  <a:srgbClr val="FF0000"/>
                </a:solidFill>
              </a:rPr>
              <a:t>else 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	</a:t>
            </a:r>
            <a:r>
              <a:rPr lang="zh-CN" altLang="en-US" sz="2000" b="1" dirty="0"/>
              <a:t>先给手机充电</a:t>
            </a:r>
          </a:p>
        </p:txBody>
      </p:sp>
      <p:sp>
        <p:nvSpPr>
          <p:cNvPr id="14" name="矩形 13"/>
          <p:cNvSpPr/>
          <p:nvPr/>
        </p:nvSpPr>
        <p:spPr>
          <a:xfrm>
            <a:off x="563302" y="1899431"/>
            <a:ext cx="110022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8000" b="1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zh-CN" altLang="en-US" sz="7200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45582" y="2353985"/>
            <a:ext cx="709432" cy="3269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0"/>
          <p:cNvCxnSpPr/>
          <p:nvPr/>
        </p:nvCxnSpPr>
        <p:spPr>
          <a:xfrm>
            <a:off x="928290" y="2571750"/>
            <a:ext cx="460746" cy="15841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1176862" y="4141410"/>
            <a:ext cx="1911668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schemeClr val="accent1"/>
                </a:solidFill>
                <a:latin typeface="微软雅黑" panose="020B0503020204020204" pitchFamily="34" charset="-122"/>
                <a:cs typeface="+mn-ea"/>
                <a:sym typeface="+mn-lt"/>
              </a:rPr>
              <a:t>不需要缩进</a:t>
            </a:r>
            <a:endParaRPr lang="en-US" altLang="zh-CN" sz="2400" b="1" kern="0" dirty="0">
              <a:solidFill>
                <a:schemeClr val="accent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94617" y="1563638"/>
            <a:ext cx="3877783" cy="1508105"/>
          </a:xfrm>
          <a:prstGeom prst="rect">
            <a:avLst/>
          </a:prstGeom>
          <a:ln w="57150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if</a:t>
            </a:r>
            <a:r>
              <a:rPr lang="zh-CN" altLang="en-US" sz="2400" b="1" dirty="0"/>
              <a:t> </a:t>
            </a:r>
            <a:r>
              <a:rPr lang="zh-CN" altLang="en-US" sz="2000" b="1" dirty="0"/>
              <a:t>手机有电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/>
              <a:t>	</a:t>
            </a:r>
            <a:r>
              <a:rPr lang="zh-CN" altLang="en-US" sz="2000" b="1" dirty="0"/>
              <a:t>玩手机游戏</a:t>
            </a:r>
            <a:endParaRPr lang="en-US" altLang="zh-CN" sz="2000" b="1" dirty="0"/>
          </a:p>
          <a:p>
            <a:r>
              <a:rPr lang="en-US" altLang="zh-CN" sz="2400" b="1" dirty="0">
                <a:solidFill>
                  <a:srgbClr val="FF0000"/>
                </a:solidFill>
              </a:rPr>
              <a:t>else 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zh-CN" altLang="en-US" sz="2000" b="1" dirty="0"/>
              <a:t>先给手机充电</a:t>
            </a:r>
          </a:p>
        </p:txBody>
      </p:sp>
      <p:sp>
        <p:nvSpPr>
          <p:cNvPr id="23" name="矩形 22"/>
          <p:cNvSpPr/>
          <p:nvPr/>
        </p:nvSpPr>
        <p:spPr>
          <a:xfrm>
            <a:off x="6771587" y="1809859"/>
            <a:ext cx="110022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8000" b="1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zh-CN" altLang="en-US" sz="7200" dirty="0">
              <a:solidFill>
                <a:srgbClr val="FF0000"/>
              </a:solidFill>
            </a:endParaRPr>
          </a:p>
        </p:txBody>
      </p:sp>
      <p:cxnSp>
        <p:nvCxnSpPr>
          <p:cNvPr id="25" name="直线箭头连接符 10"/>
          <p:cNvCxnSpPr/>
          <p:nvPr/>
        </p:nvCxnSpPr>
        <p:spPr>
          <a:xfrm>
            <a:off x="4427984" y="3033415"/>
            <a:ext cx="644109" cy="11225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6" name="TextBox 6"/>
          <p:cNvSpPr txBox="1">
            <a:spLocks noChangeArrowheads="1"/>
          </p:cNvSpPr>
          <p:nvPr/>
        </p:nvSpPr>
        <p:spPr bwMode="auto">
          <a:xfrm>
            <a:off x="4859919" y="4141410"/>
            <a:ext cx="1911668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srgbClr val="C00000"/>
                </a:solidFill>
                <a:latin typeface="微软雅黑" panose="020B0503020204020204" pitchFamily="34" charset="-122"/>
                <a:cs typeface="+mn-ea"/>
                <a:sym typeface="+mn-lt"/>
              </a:rPr>
              <a:t>需要</a:t>
            </a:r>
            <a:r>
              <a:rPr lang="zh-CN" altLang="en-US" sz="2400" b="1" kern="0" dirty="0">
                <a:solidFill>
                  <a:schemeClr val="accent1"/>
                </a:solidFill>
                <a:latin typeface="微软雅黑" panose="020B0503020204020204" pitchFamily="34" charset="-122"/>
                <a:cs typeface="+mn-ea"/>
                <a:sym typeface="+mn-lt"/>
              </a:rPr>
              <a:t>缩进</a:t>
            </a:r>
            <a:endParaRPr lang="en-US" altLang="zh-CN" sz="2400" b="1" kern="0" dirty="0">
              <a:solidFill>
                <a:schemeClr val="accent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322121" y="2706474"/>
            <a:ext cx="709432" cy="3269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>
                <a:solidFill>
                  <a:srgbClr val="FF0000"/>
                </a:solidFill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21" grpId="0"/>
      <p:bldP spid="14" grpId="0"/>
      <p:bldP spid="15" grpId="0" animBg="1"/>
      <p:bldP spid="18" grpId="0"/>
      <p:bldP spid="22" grpId="0"/>
      <p:bldP spid="23" grpId="0"/>
      <p:bldP spid="26" grpId="0"/>
      <p:bldP spid="17" grpId="0" animBg="1"/>
      <p:bldP spid="17" grpId="1" animBg="1"/>
      <p:bldP spid="17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双分支语句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3147695"/>
            <a:ext cx="6932930" cy="142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这就是一个简单的双分支语句。</a:t>
            </a:r>
          </a:p>
          <a:p>
            <a:pPr>
              <a:lnSpc>
                <a:spcPct val="16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储存了成绩，当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a&lt;60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时，我们就输出不及格，</a:t>
            </a:r>
          </a:p>
          <a:p>
            <a:pPr>
              <a:lnSpc>
                <a:spcPct val="160000"/>
              </a:lnSpc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否则，也就是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a&lt;60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不成立的情况下我们输出及格。</a:t>
            </a:r>
            <a:endParaRPr lang="en-US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1059815"/>
            <a:ext cx="3984625" cy="2134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input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的结合使用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3291840"/>
            <a:ext cx="6932930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这是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input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和双分支语句结合的一个程序。我们可以看到，这是由</a:t>
            </a:r>
          </a:p>
          <a:p>
            <a:pPr>
              <a:lnSpc>
                <a:spcPct val="16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input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获取我们输入的开门密码，来判断是否应该开门的一个程序。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70" y="982980"/>
            <a:ext cx="5631180" cy="2221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input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的结合使用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1505" y="3004820"/>
            <a:ext cx="6932930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这里我们进行了买票身高的判断，如果小于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米则可以免票。</a:t>
            </a:r>
          </a:p>
          <a:p>
            <a:pPr>
              <a:lnSpc>
                <a:spcPct val="16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否则则需要花费四十元，来买一张门票。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70" y="963295"/>
            <a:ext cx="5012055" cy="1918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【if-else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while】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97508" y="1795949"/>
            <a:ext cx="3877783" cy="1568450"/>
          </a:xfrm>
          <a:prstGeom prst="rect">
            <a:avLst/>
          </a:prstGeom>
          <a:ln w="57150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if</a:t>
            </a:r>
            <a:r>
              <a:rPr lang="zh-CN" altLang="en-US" sz="2400" b="1" dirty="0"/>
              <a:t> </a:t>
            </a:r>
            <a:r>
              <a:rPr lang="zh-CN" altLang="en-US" sz="2000" b="1" dirty="0"/>
              <a:t>判断条件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/>
              <a:t>	</a:t>
            </a:r>
            <a:r>
              <a:rPr lang="zh-CN" altLang="en-US" sz="2000" b="1" dirty="0"/>
              <a:t>执行语句1</a:t>
            </a:r>
            <a:endParaRPr lang="en-US" altLang="zh-CN" sz="2000" b="1" dirty="0"/>
          </a:p>
          <a:p>
            <a:r>
              <a:rPr lang="en-US" altLang="zh-CN" sz="2400" b="1" dirty="0">
                <a:solidFill>
                  <a:srgbClr val="FF0000"/>
                </a:solidFill>
              </a:rPr>
              <a:t>else 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	</a:t>
            </a:r>
            <a:r>
              <a:rPr lang="zh-CN" altLang="en-US" sz="2000" b="1" dirty="0">
                <a:sym typeface="+mn-ea"/>
              </a:rPr>
              <a:t>执行语句</a:t>
            </a:r>
            <a:r>
              <a:rPr lang="en-US" altLang="zh-CN" sz="2000" b="1" dirty="0">
                <a:sym typeface="+mn-ea"/>
              </a:rPr>
              <a:t>2</a:t>
            </a:r>
          </a:p>
        </p:txBody>
      </p:sp>
      <p:sp>
        <p:nvSpPr>
          <p:cNvPr id="12" name="矩形 11"/>
          <p:cNvSpPr/>
          <p:nvPr/>
        </p:nvSpPr>
        <p:spPr>
          <a:xfrm>
            <a:off x="2844061" y="1262276"/>
            <a:ext cx="3877783" cy="461665"/>
          </a:xfrm>
          <a:prstGeom prst="rect">
            <a:avLst/>
          </a:prstGeom>
          <a:ln w="57150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While</a:t>
            </a:r>
            <a:r>
              <a:rPr lang="zh-CN" altLang="en-US" sz="2000" b="1" dirty="0"/>
              <a:t>循环条件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zh-CN" altLang="en-US" sz="2000" b="1" dirty="0"/>
          </a:p>
        </p:txBody>
      </p:sp>
      <p:sp>
        <p:nvSpPr>
          <p:cNvPr id="13" name="矩形 12"/>
          <p:cNvSpPr/>
          <p:nvPr/>
        </p:nvSpPr>
        <p:spPr>
          <a:xfrm>
            <a:off x="2997689" y="1795949"/>
            <a:ext cx="709432" cy="1440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711130" y="2279704"/>
            <a:ext cx="709432" cy="3269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711130" y="2909168"/>
            <a:ext cx="709432" cy="3269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1" grpId="0"/>
      <p:bldP spid="12" grpId="0"/>
      <p:bldP spid="13" grpId="0" bldLvl="0" animBg="1"/>
      <p:bldP spid="14" grpId="0" bldLvl="0" animBg="1"/>
      <p:bldP spid="16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的使用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37381" y="1059582"/>
            <a:ext cx="1363935" cy="14020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矩形 14"/>
          <p:cNvSpPr/>
          <p:nvPr/>
        </p:nvSpPr>
        <p:spPr>
          <a:xfrm>
            <a:off x="395536" y="2819712"/>
            <a:ext cx="1997093" cy="400110"/>
          </a:xfrm>
          <a:prstGeom prst="rect">
            <a:avLst/>
          </a:prstGeom>
          <a:ln w="57150">
            <a:noFill/>
          </a:ln>
        </p:spPr>
        <p:txBody>
          <a:bodyPr wrap="square">
            <a:spAutoFit/>
          </a:bodyPr>
          <a:lstStyle/>
          <a:p>
            <a:r>
              <a:rPr lang="en-US" altLang="zh-CN" sz="2000" b="1" dirty="0"/>
              <a:t>X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Y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20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30</a:t>
            </a:r>
            <a:r>
              <a:rPr lang="zh-CN" altLang="en-US" sz="2000" b="1" dirty="0"/>
              <a:t>）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424" y="1160234"/>
            <a:ext cx="1308796" cy="14020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矩形 16"/>
          <p:cNvSpPr/>
          <p:nvPr/>
        </p:nvSpPr>
        <p:spPr>
          <a:xfrm>
            <a:off x="2987824" y="1163043"/>
            <a:ext cx="3877783" cy="1323439"/>
          </a:xfrm>
          <a:prstGeom prst="rect">
            <a:avLst/>
          </a:prstGeom>
          <a:ln w="57150"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/>
              <a:t>如果（</a:t>
            </a:r>
            <a:r>
              <a:rPr lang="en-US" altLang="zh-CN" sz="2000" b="1" dirty="0"/>
              <a:t>if</a:t>
            </a:r>
            <a:r>
              <a:rPr lang="zh-CN" altLang="en-US" sz="2000" b="1" dirty="0"/>
              <a:t>）敌人存在：</a:t>
            </a:r>
            <a:endParaRPr lang="en-US" altLang="zh-CN" sz="2000" b="1" dirty="0"/>
          </a:p>
          <a:p>
            <a:r>
              <a:rPr lang="en-US" altLang="zh-CN" sz="2000" b="1" dirty="0"/>
              <a:t>	</a:t>
            </a:r>
            <a:r>
              <a:rPr lang="zh-CN" altLang="en-US" sz="2000" b="1" dirty="0"/>
              <a:t>码猿攻击敌人</a:t>
            </a:r>
            <a:endParaRPr lang="en-US" altLang="zh-CN" sz="2000" b="1" dirty="0"/>
          </a:p>
          <a:p>
            <a:r>
              <a:rPr lang="zh-CN" altLang="en-US" sz="2000" b="1" dirty="0"/>
              <a:t>否则（</a:t>
            </a:r>
            <a:r>
              <a:rPr lang="en-US" altLang="zh-CN" sz="2000" b="1" dirty="0"/>
              <a:t>else</a:t>
            </a:r>
            <a:r>
              <a:rPr lang="zh-CN" altLang="en-US" sz="2000" b="1" dirty="0"/>
              <a:t>）：</a:t>
            </a:r>
            <a:endParaRPr lang="en-US" altLang="zh-CN" sz="2000" b="1" dirty="0"/>
          </a:p>
          <a:p>
            <a:r>
              <a:rPr lang="en-US" altLang="zh-CN" sz="2000" b="1" dirty="0"/>
              <a:t>	</a:t>
            </a:r>
            <a:r>
              <a:rPr lang="zh-CN" altLang="en-US" sz="2000" b="1" dirty="0"/>
              <a:t>回到师傅身边</a:t>
            </a:r>
          </a:p>
        </p:txBody>
      </p:sp>
      <p:sp>
        <p:nvSpPr>
          <p:cNvPr id="19" name="矩形 18"/>
          <p:cNvSpPr/>
          <p:nvPr/>
        </p:nvSpPr>
        <p:spPr>
          <a:xfrm>
            <a:off x="2392629" y="2931790"/>
            <a:ext cx="5184576" cy="400110"/>
          </a:xfrm>
          <a:prstGeom prst="rect">
            <a:avLst/>
          </a:prstGeom>
          <a:ln w="57150">
            <a:noFill/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demon = </a:t>
            </a:r>
            <a:r>
              <a:rPr lang="en-US" altLang="zh-CN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mayuan.findNearestEnemy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()</a:t>
            </a:r>
          </a:p>
        </p:txBody>
      </p:sp>
      <p:sp>
        <p:nvSpPr>
          <p:cNvPr id="20" name="矩形 19"/>
          <p:cNvSpPr/>
          <p:nvPr/>
        </p:nvSpPr>
        <p:spPr>
          <a:xfrm>
            <a:off x="2392629" y="3435846"/>
            <a:ext cx="5184576" cy="1323439"/>
          </a:xfrm>
          <a:prstGeom prst="rect">
            <a:avLst/>
          </a:prstGeom>
          <a:ln w="57150">
            <a:noFill/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if demon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：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	</a:t>
            </a:r>
            <a:r>
              <a:rPr lang="en-US" altLang="zh-CN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mayuan.attack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</a:t>
            </a:r>
            <a:r>
              <a:rPr lang="en-US" altLang="zh-CN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denom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  <a:p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else:</a:t>
            </a:r>
          </a:p>
          <a:p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	</a:t>
            </a:r>
            <a:r>
              <a:rPr lang="en-US" altLang="zh-CN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mayuan.goXY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(20,30)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5" grpId="0"/>
      <p:bldP spid="17" grpId="0"/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627887" y="1853411"/>
            <a:ext cx="23164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/>
              <a:t>新的攻击方法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横扫千军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TextBox 6"/>
          <p:cNvSpPr txBox="1">
            <a:spLocks noChangeArrowheads="1"/>
          </p:cNvSpPr>
          <p:nvPr/>
        </p:nvSpPr>
        <p:spPr bwMode="auto">
          <a:xfrm>
            <a:off x="691957" y="1132096"/>
            <a:ext cx="273630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 err="1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mayuan.cleave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()</a:t>
            </a: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4283715" y="1131579"/>
            <a:ext cx="2952328" cy="83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schemeClr val="accent1"/>
                </a:solidFill>
                <a:latin typeface="微软雅黑" panose="020B0503020204020204" pitchFamily="34" charset="-122"/>
                <a:cs typeface="+mn-ea"/>
                <a:sym typeface="+mn-lt"/>
              </a:rPr>
              <a:t>码猿大棒一挥，周围的敌人灰飞烟灭</a:t>
            </a:r>
            <a:endParaRPr lang="en-US" altLang="zh-CN" sz="2400" b="1" kern="0" dirty="0">
              <a:solidFill>
                <a:schemeClr val="accent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TextBox 6"/>
          <p:cNvSpPr txBox="1">
            <a:spLocks noChangeArrowheads="1"/>
          </p:cNvSpPr>
          <p:nvPr/>
        </p:nvSpPr>
        <p:spPr bwMode="auto">
          <a:xfrm>
            <a:off x="691957" y="1899831"/>
            <a:ext cx="2952328" cy="4616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srgbClr val="C00000"/>
                </a:solidFill>
                <a:latin typeface="微软雅黑" panose="020B0503020204020204" pitchFamily="34" charset="-122"/>
                <a:cs typeface="+mn-ea"/>
                <a:sym typeface="+mn-lt"/>
              </a:rPr>
              <a:t>冷却时间：</a:t>
            </a:r>
            <a:r>
              <a:rPr lang="en-US" altLang="zh-CN" sz="2400" b="1" kern="0" dirty="0">
                <a:solidFill>
                  <a:srgbClr val="C00000"/>
                </a:solidFill>
                <a:latin typeface="微软雅黑" panose="020B0503020204020204" pitchFamily="34" charset="-122"/>
                <a:cs typeface="+mn-ea"/>
                <a:sym typeface="+mn-lt"/>
              </a:rPr>
              <a:t>10s</a:t>
            </a:r>
          </a:p>
        </p:txBody>
      </p:sp>
      <p:sp>
        <p:nvSpPr>
          <p:cNvPr id="20" name="TextBox 6"/>
          <p:cNvSpPr txBox="1">
            <a:spLocks noChangeArrowheads="1"/>
          </p:cNvSpPr>
          <p:nvPr/>
        </p:nvSpPr>
        <p:spPr bwMode="auto">
          <a:xfrm>
            <a:off x="691957" y="2667546"/>
            <a:ext cx="4392488" cy="4616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 err="1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mayuan.</a:t>
            </a:r>
            <a:r>
              <a:rPr lang="en-US" altLang="zh-CN" sz="2400" b="1" kern="0" dirty="0" err="1">
                <a:solidFill>
                  <a:schemeClr val="accent1"/>
                </a:solidFill>
                <a:latin typeface="微软雅黑" panose="020B0503020204020204" pitchFamily="34" charset="-122"/>
                <a:cs typeface="+mn-ea"/>
                <a:sym typeface="+mn-lt"/>
              </a:rPr>
              <a:t>isReady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(</a:t>
            </a:r>
            <a:r>
              <a:rPr lang="en-US" altLang="zh-CN" sz="2400" b="1" kern="0" dirty="0">
                <a:solidFill>
                  <a:srgbClr val="FFC000"/>
                </a:solidFill>
                <a:latin typeface="微软雅黑" panose="020B0503020204020204" pitchFamily="34" charset="-122"/>
                <a:cs typeface="+mn-ea"/>
                <a:sym typeface="+mn-lt"/>
              </a:rPr>
              <a:t>"cleave"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):</a:t>
            </a:r>
          </a:p>
        </p:txBody>
      </p:sp>
      <p:sp>
        <p:nvSpPr>
          <p:cNvPr id="21" name="TextBox 6"/>
          <p:cNvSpPr txBox="1">
            <a:spLocks noChangeArrowheads="1"/>
          </p:cNvSpPr>
          <p:nvPr/>
        </p:nvSpPr>
        <p:spPr bwMode="auto">
          <a:xfrm>
            <a:off x="691957" y="3435261"/>
            <a:ext cx="4672383" cy="4616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schemeClr val="accent1"/>
                </a:solidFill>
                <a:latin typeface="微软雅黑" panose="020B0503020204020204" pitchFamily="34" charset="-122"/>
                <a:cs typeface="+mn-ea"/>
                <a:sym typeface="+mn-lt"/>
              </a:rPr>
              <a:t>检测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pitchFamily="34" charset="-122"/>
                <a:cs typeface="+mn-ea"/>
                <a:sym typeface="+mn-lt"/>
              </a:rPr>
              <a:t>“</a:t>
            </a:r>
            <a:r>
              <a:rPr lang="en-US" altLang="zh-CN" sz="2400" b="1" kern="0" dirty="0">
                <a:solidFill>
                  <a:srgbClr val="FFC000"/>
                </a:solidFill>
                <a:latin typeface="微软雅黑" panose="020B0503020204020204" pitchFamily="34" charset="-122"/>
                <a:cs typeface="+mn-ea"/>
                <a:sym typeface="+mn-lt"/>
              </a:rPr>
              <a:t>cleave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pitchFamily="34" charset="-122"/>
                <a:cs typeface="+mn-ea"/>
                <a:sym typeface="+mn-lt"/>
              </a:rPr>
              <a:t>”</a:t>
            </a:r>
            <a:r>
              <a:rPr lang="zh-CN" altLang="en-US" sz="2400" b="1" kern="0" dirty="0">
                <a:solidFill>
                  <a:schemeClr val="accent1"/>
                </a:solidFill>
                <a:latin typeface="微软雅黑" panose="020B0503020204020204" pitchFamily="34" charset="-122"/>
                <a:cs typeface="+mn-ea"/>
                <a:sym typeface="+mn-lt"/>
              </a:rPr>
              <a:t>技能是否准备好</a:t>
            </a:r>
            <a:endParaRPr lang="en-US" altLang="zh-CN" sz="2400" b="1" kern="0" dirty="0">
              <a:solidFill>
                <a:schemeClr val="accent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5" grpId="0"/>
      <p:bldP spid="17" grpId="0"/>
      <p:bldP spid="19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横扫千军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TextBox 6"/>
          <p:cNvSpPr txBox="1">
            <a:spLocks noChangeArrowheads="1"/>
          </p:cNvSpPr>
          <p:nvPr/>
        </p:nvSpPr>
        <p:spPr bwMode="auto">
          <a:xfrm>
            <a:off x="2123728" y="1851670"/>
            <a:ext cx="4896544" cy="8299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if </a:t>
            </a:r>
            <a:r>
              <a:rPr lang="en-US" altLang="zh-CN" sz="2400" b="1" kern="0" dirty="0" err="1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mayuan.isReady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(</a:t>
            </a:r>
            <a:r>
              <a:rPr lang="en-US" altLang="zh-CN" sz="2400" b="1" kern="0" dirty="0">
                <a:solidFill>
                  <a:srgbClr val="FFC000"/>
                </a:solidFill>
                <a:latin typeface="微软雅黑" panose="020B0503020204020204" pitchFamily="34" charset="-122"/>
                <a:cs typeface="+mn-ea"/>
                <a:sym typeface="+mn-lt"/>
              </a:rPr>
              <a:t>"cleave"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):</a:t>
            </a:r>
          </a:p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      </a:t>
            </a:r>
            <a:r>
              <a:rPr lang="en-US" altLang="zh-CN" sz="2400" b="1" kern="0" dirty="0" err="1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mayuan.</a:t>
            </a:r>
            <a:r>
              <a:rPr lang="en-US" altLang="zh-CN" sz="2400" b="1" kern="0" dirty="0" err="1">
                <a:solidFill>
                  <a:srgbClr val="FFC000"/>
                </a:solidFill>
                <a:latin typeface="微软雅黑" panose="020B0503020204020204" pitchFamily="34" charset="-122"/>
                <a:cs typeface="+mn-ea"/>
                <a:sym typeface="+mn-lt"/>
              </a:rPr>
              <a:t>cleave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(demon)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863843" y="2192546"/>
            <a:ext cx="34163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打怪升级啦！！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36" y="462818"/>
            <a:ext cx="1150456" cy="1283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  <p:tag name="COMMONDATA" val="eyJoZGlkIjoiNzE1MTRiZGNmZGQyODMxZWY5ZTk1Nzk2OTA5ZmQ2YzIifQ=="/>
  <p:tag name="KSO_WPP_MARK_KEY" val="2085b59a-0b85-45aa-a39e-1225a384ea81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Office PowerPoint</Application>
  <PresentationFormat>全屏显示(16:9)</PresentationFormat>
  <Paragraphs>113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HandelGotDLig</vt:lpstr>
      <vt:lpstr>微软雅黑</vt:lpstr>
      <vt:lpstr>Arial</vt:lpstr>
      <vt:lpstr>Calibri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491</cp:revision>
  <cp:lastPrinted>2000-12-31T21:09:00Z</cp:lastPrinted>
  <dcterms:created xsi:type="dcterms:W3CDTF">2015-11-10T12:01:00Z</dcterms:created>
  <dcterms:modified xsi:type="dcterms:W3CDTF">2023-11-05T03:24:20Z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F04ACAFCA48D49F1ADB495091097A87A</vt:lpwstr>
  </property>
  <property fmtid="{D5CDD505-2E9C-101B-9397-08002B2CF9AE}" pid="3" name="KSOProductBuildVer">
    <vt:lpwstr>2052-11.1.0.12598</vt:lpwstr>
  </property>
</Properties>
</file>