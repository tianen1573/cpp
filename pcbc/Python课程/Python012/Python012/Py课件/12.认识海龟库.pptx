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485" r:id="rId2"/>
    <p:sldId id="317" r:id="rId3"/>
    <p:sldId id="497" r:id="rId4"/>
    <p:sldId id="525" r:id="rId5"/>
    <p:sldId id="563" r:id="rId6"/>
    <p:sldId id="548" r:id="rId7"/>
    <p:sldId id="526" r:id="rId8"/>
    <p:sldId id="549" r:id="rId9"/>
    <p:sldId id="550" r:id="rId10"/>
    <p:sldId id="551" r:id="rId11"/>
    <p:sldId id="552" r:id="rId12"/>
    <p:sldId id="553" r:id="rId13"/>
    <p:sldId id="554" r:id="rId14"/>
    <p:sldId id="555" r:id="rId15"/>
    <p:sldId id="556" r:id="rId16"/>
    <p:sldId id="557" r:id="rId17"/>
    <p:sldId id="558" r:id="rId18"/>
    <p:sldId id="559" r:id="rId19"/>
    <p:sldId id="562" r:id="rId20"/>
  </p:sldIdLst>
  <p:sldSz cx="9144000" cy="5143500" type="screen16x9"/>
  <p:notesSz cx="6797675" cy="9925050"/>
  <p:custDataLst>
    <p:tags r:id="rId22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8">
          <p15:clr>
            <a:srgbClr val="A4A3A4"/>
          </p15:clr>
        </p15:guide>
        <p15:guide id="2" pos="285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F5F5F5"/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39" autoAdjust="0"/>
    <p:restoredTop sz="95212" autoAdjust="0"/>
  </p:normalViewPr>
  <p:slideViewPr>
    <p:cSldViewPr>
      <p:cViewPr varScale="1">
        <p:scale>
          <a:sx n="114" d="100"/>
          <a:sy n="114" d="100"/>
        </p:scale>
        <p:origin x="518" y="82"/>
      </p:cViewPr>
      <p:guideLst>
        <p:guide orient="horz" pos="1588"/>
        <p:guide pos="28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  <a:t>2023/6/1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2023/6/1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2023/6/1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2023/6/1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  <a:t>2023/6/1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认识海龟库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什么是海龟库？</a:t>
            </a:r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什么是海龟库？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61670" y="1059180"/>
            <a:ext cx="3036570" cy="3207385"/>
            <a:chOff x="1042" y="1668"/>
            <a:chExt cx="4782" cy="5051"/>
          </a:xfrm>
        </p:grpSpPr>
        <p:pic>
          <p:nvPicPr>
            <p:cNvPr id="100" name="图片 99"/>
            <p:cNvPicPr/>
            <p:nvPr>
              <p:custDataLst>
                <p:tags r:id="rId1"/>
              </p:custDataLst>
            </p:nvPr>
          </p:nvPicPr>
          <p:blipFill>
            <a:blip r:embed="rId3"/>
            <a:srcRect r="18606"/>
            <a:stretch>
              <a:fillRect/>
            </a:stretch>
          </p:blipFill>
          <p:spPr>
            <a:xfrm>
              <a:off x="1042" y="1668"/>
              <a:ext cx="4782" cy="401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文本框 2"/>
            <p:cNvSpPr txBox="1"/>
            <p:nvPr/>
          </p:nvSpPr>
          <p:spPr>
            <a:xfrm>
              <a:off x="2210" y="6091"/>
              <a:ext cx="311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/>
                <a:t>是这只海龟吗？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041140" y="1059180"/>
            <a:ext cx="2012315" cy="3207385"/>
            <a:chOff x="6364" y="1668"/>
            <a:chExt cx="3169" cy="5051"/>
          </a:xfrm>
        </p:grpSpPr>
        <p:pic>
          <p:nvPicPr>
            <p:cNvPr id="101" name="图片 100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6633" y="1668"/>
              <a:ext cx="2901" cy="412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" name="文本框 10"/>
            <p:cNvSpPr txBox="1"/>
            <p:nvPr/>
          </p:nvSpPr>
          <p:spPr>
            <a:xfrm>
              <a:off x="6364" y="6091"/>
              <a:ext cx="3088" cy="628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sz="2000">
                  <a:sym typeface="+mn-ea"/>
                </a:rPr>
                <a:t>还是这只海龟？</a:t>
              </a:r>
              <a:endParaRPr lang="zh-CN" altLang="en-US" sz="200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660515" y="1203325"/>
            <a:ext cx="1706880" cy="3063240"/>
            <a:chOff x="10489" y="1895"/>
            <a:chExt cx="2688" cy="4824"/>
          </a:xfrm>
        </p:grpSpPr>
        <p:grpSp>
          <p:nvGrpSpPr>
            <p:cNvPr id="14" name="组合 13"/>
            <p:cNvGrpSpPr/>
            <p:nvPr/>
          </p:nvGrpSpPr>
          <p:grpSpPr>
            <a:xfrm>
              <a:off x="10602" y="1895"/>
              <a:ext cx="2310" cy="2101"/>
              <a:chOff x="10602" y="2008"/>
              <a:chExt cx="2310" cy="2101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10602" y="2008"/>
                <a:ext cx="2311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turtle</a:t>
                </a:r>
              </a:p>
            </p:txBody>
          </p:sp>
          <p:pic>
            <p:nvPicPr>
              <p:cNvPr id="13" name="图片 1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56" y="2927"/>
                <a:ext cx="1094" cy="1182"/>
              </a:xfrm>
              <a:prstGeom prst="rect">
                <a:avLst/>
              </a:prstGeom>
            </p:spPr>
          </p:pic>
        </p:grpSp>
        <p:sp>
          <p:nvSpPr>
            <p:cNvPr id="15" name="文本框 14"/>
            <p:cNvSpPr txBox="1"/>
            <p:nvPr/>
          </p:nvSpPr>
          <p:spPr>
            <a:xfrm>
              <a:off x="10489" y="6091"/>
              <a:ext cx="26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zh-CN" sz="2000">
                  <a:solidFill>
                    <a:srgbClr val="FF0000"/>
                  </a:solidFill>
                </a:rPr>
                <a:t>是这一只海龟</a:t>
              </a:r>
            </a:p>
          </p:txBody>
        </p:sp>
        <p:cxnSp>
          <p:nvCxnSpPr>
            <p:cNvPr id="16" name="直接箭头连接符 15"/>
            <p:cNvCxnSpPr/>
            <p:nvPr/>
          </p:nvCxnSpPr>
          <p:spPr>
            <a:xfrm flipH="1" flipV="1">
              <a:off x="11623" y="4163"/>
              <a:ext cx="64" cy="175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什么是海龟库？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1131570"/>
            <a:ext cx="18605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/>
              <a:t>库的概念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683895" y="1707515"/>
            <a:ext cx="8396605" cy="2618740"/>
            <a:chOff x="1077" y="2689"/>
            <a:chExt cx="13223" cy="4124"/>
          </a:xfrm>
        </p:grpSpPr>
        <p:pic>
          <p:nvPicPr>
            <p:cNvPr id="101" name="图片 100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077" y="2689"/>
              <a:ext cx="3430" cy="412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" name="文本框 7"/>
            <p:cNvSpPr txBox="1"/>
            <p:nvPr/>
          </p:nvSpPr>
          <p:spPr>
            <a:xfrm>
              <a:off x="4592" y="2689"/>
              <a:ext cx="9708" cy="40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80000"/>
                </a:lnSpc>
              </a:pPr>
              <a:r>
                <a:rPr lang="zh-CN" altLang="en-US" sz="1800" b="1"/>
                <a:t>库，你可以把它理解为</a:t>
              </a:r>
              <a:r>
                <a:rPr lang="en-US" altLang="zh-CN" sz="1800" b="1"/>
                <a:t>Python</a:t>
              </a:r>
              <a:r>
                <a:rPr lang="zh-CN" altLang="en-US" sz="1800" b="1"/>
                <a:t>的一个朋友。</a:t>
              </a:r>
            </a:p>
            <a:p>
              <a:pPr>
                <a:lnSpc>
                  <a:spcPct val="180000"/>
                </a:lnSpc>
              </a:pPr>
              <a:r>
                <a:rPr lang="zh-CN" altLang="en-US" sz="1800" b="1"/>
                <a:t>每个人都有自己擅长的和不擅长的事情。</a:t>
              </a:r>
            </a:p>
            <a:p>
              <a:pPr>
                <a:lnSpc>
                  <a:spcPct val="180000"/>
                </a:lnSpc>
              </a:pPr>
              <a:r>
                <a:rPr lang="zh-CN" altLang="en-US" sz="1800" b="1"/>
                <a:t>而我们的</a:t>
              </a:r>
              <a:r>
                <a:rPr lang="en-US" altLang="zh-CN" sz="1800" b="1"/>
                <a:t>Python</a:t>
              </a:r>
              <a:r>
                <a:rPr lang="zh-CN" altLang="en-US" sz="1800" b="1"/>
                <a:t>也不例外。对于一些不太擅长的事，</a:t>
              </a:r>
            </a:p>
            <a:p>
              <a:pPr>
                <a:lnSpc>
                  <a:spcPct val="180000"/>
                </a:lnSpc>
              </a:pPr>
              <a:r>
                <a:rPr lang="zh-CN" altLang="en-US" sz="1800" b="1"/>
                <a:t>可以选择导入相应的库，让他的</a:t>
              </a:r>
              <a:r>
                <a:rPr lang="en-US" altLang="zh-CN" sz="1800" b="1"/>
                <a:t>“</a:t>
              </a:r>
              <a:r>
                <a:rPr lang="zh-CN" altLang="en-US" sz="1800" b="1"/>
                <a:t>库朋友</a:t>
              </a:r>
              <a:r>
                <a:rPr lang="en-US" altLang="zh-CN" sz="1800" b="1"/>
                <a:t>”</a:t>
              </a:r>
              <a:r>
                <a:rPr lang="zh-CN" altLang="en-US" sz="1800" b="1"/>
                <a:t>们帮助自己完成。</a:t>
              </a:r>
            </a:p>
            <a:p>
              <a:pPr>
                <a:lnSpc>
                  <a:spcPct val="180000"/>
                </a:lnSpc>
              </a:pPr>
              <a:r>
                <a:rPr lang="zh-CN" altLang="en-US" sz="1800" b="1"/>
                <a:t>而我们今天学习的内容，正好是海龟</a:t>
              </a:r>
              <a:r>
                <a:rPr lang="en-US" altLang="zh-CN" sz="1800" b="1"/>
                <a:t>(turtle)</a:t>
              </a:r>
              <a:r>
                <a:rPr lang="zh-CN" altLang="en-US" sz="1800" b="1"/>
                <a:t>库他所擅长的。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模块及导入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" name="图片 9" descr="C:/Users/ADMINI~1/AppData/Local/Temp/kaimatting/20201021160032/output_aiMatting_20201021160222.pngoutput_aiMatting_20201021160222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7F7F7">
                  <a:alpha val="100000"/>
                </a:srgbClr>
              </a:clrFrom>
              <a:clrTo>
                <a:srgbClr val="F7F7F7">
                  <a:alpha val="100000"/>
                  <a:alpha val="0"/>
                </a:srgbClr>
              </a:clrTo>
            </a:clrChange>
          </a:blip>
          <a:srcRect l="-1100" t="-837" r="-885" b="-1033"/>
          <a:stretch>
            <a:fillRect/>
          </a:stretch>
        </p:blipFill>
        <p:spPr>
          <a:xfrm>
            <a:off x="539552" y="1049767"/>
            <a:ext cx="3798570" cy="2233136"/>
          </a:xfrm>
          <a:prstGeom prst="rect">
            <a:avLst/>
          </a:prstGeom>
        </p:spPr>
      </p:pic>
      <p:sp>
        <p:nvSpPr>
          <p:cNvPr id="11" name="文本框 4"/>
          <p:cNvSpPr txBox="1"/>
          <p:nvPr/>
        </p:nvSpPr>
        <p:spPr>
          <a:xfrm>
            <a:off x="1624925" y="2594246"/>
            <a:ext cx="1362075" cy="5530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30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模块</a:t>
            </a:r>
          </a:p>
        </p:txBody>
      </p:sp>
      <p:sp>
        <p:nvSpPr>
          <p:cNvPr id="12" name="文本框 10"/>
          <p:cNvSpPr txBox="1"/>
          <p:nvPr/>
        </p:nvSpPr>
        <p:spPr>
          <a:xfrm>
            <a:off x="4621419" y="1728086"/>
            <a:ext cx="4226747" cy="1129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>
                <a:solidFill>
                  <a:schemeClr val="accent5"/>
                </a:solidFill>
                <a:latin typeface="+mj-ea"/>
                <a:ea typeface="+mj-ea"/>
                <a:cs typeface="+mj-ea"/>
              </a:rPr>
              <a:t>模块</a:t>
            </a:r>
            <a:r>
              <a:rPr lang="zh-CN" altLang="en-US" sz="1500" dirty="0">
                <a:latin typeface="+mj-ea"/>
                <a:ea typeface="+mj-ea"/>
                <a:cs typeface="+mj-ea"/>
              </a:rPr>
              <a:t>是一个保存了Python代码的文件（</a:t>
            </a:r>
            <a:r>
              <a:rPr lang="en-US" altLang="zh-CN" sz="1500" dirty="0">
                <a:latin typeface="+mj-ea"/>
                <a:ea typeface="+mj-ea"/>
                <a:cs typeface="+mj-ea"/>
              </a:rPr>
              <a:t>.</a:t>
            </a:r>
            <a:r>
              <a:rPr lang="en-US" altLang="zh-CN" sz="1500" dirty="0" err="1">
                <a:latin typeface="+mj-ea"/>
                <a:ea typeface="+mj-ea"/>
                <a:cs typeface="+mj-ea"/>
              </a:rPr>
              <a:t>py</a:t>
            </a:r>
            <a:r>
              <a:rPr lang="zh-CN" altLang="en-US" sz="1500" dirty="0">
                <a:latin typeface="+mj-ea"/>
                <a:ea typeface="+mj-ea"/>
                <a:cs typeface="+mj-ea"/>
              </a:rPr>
              <a:t>）。</a:t>
            </a:r>
          </a:p>
          <a:p>
            <a:pPr>
              <a:lnSpc>
                <a:spcPct val="150000"/>
              </a:lnSpc>
            </a:pPr>
            <a:r>
              <a:rPr lang="zh-CN" altLang="en-US" sz="1500" b="1" dirty="0">
                <a:solidFill>
                  <a:schemeClr val="accent5"/>
                </a:solidFill>
                <a:latin typeface="+mj-ea"/>
                <a:ea typeface="+mj-ea"/>
                <a:cs typeface="+mj-ea"/>
              </a:rPr>
              <a:t>模块</a:t>
            </a:r>
            <a:r>
              <a:rPr lang="zh-CN" altLang="en-US" sz="1500" dirty="0">
                <a:latin typeface="+mj-ea"/>
                <a:ea typeface="+mj-ea"/>
                <a:cs typeface="+mj-ea"/>
              </a:rPr>
              <a:t>能定义函数，类和变量，也能包含可执行的代码。</a:t>
            </a:r>
          </a:p>
        </p:txBody>
      </p:sp>
      <p:sp>
        <p:nvSpPr>
          <p:cNvPr id="14" name="文本框 2"/>
          <p:cNvSpPr txBox="1"/>
          <p:nvPr/>
        </p:nvSpPr>
        <p:spPr>
          <a:xfrm>
            <a:off x="2673219" y="3467996"/>
            <a:ext cx="2612708" cy="32194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latin typeface="+mj-ea"/>
                <a:ea typeface="+mj-ea"/>
                <a:cs typeface="+mj-ea"/>
              </a:rPr>
              <a:t>import &lt;</a:t>
            </a:r>
            <a:r>
              <a:rPr lang="zh-CN" altLang="en-US" sz="1500" dirty="0">
                <a:latin typeface="+mj-ea"/>
                <a:ea typeface="+mj-ea"/>
                <a:cs typeface="+mj-ea"/>
              </a:rPr>
              <a:t>模块</a:t>
            </a:r>
            <a:r>
              <a:rPr lang="en-US" altLang="zh-CN" sz="1500" dirty="0">
                <a:latin typeface="+mj-ea"/>
                <a:ea typeface="+mj-ea"/>
                <a:cs typeface="+mj-ea"/>
              </a:rPr>
              <a:t>&gt; [as &lt;</a:t>
            </a:r>
            <a:r>
              <a:rPr lang="zh-CN" altLang="en-US" sz="1500" dirty="0">
                <a:latin typeface="+mj-ea"/>
                <a:ea typeface="+mj-ea"/>
                <a:cs typeface="+mj-ea"/>
              </a:rPr>
              <a:t>别名</a:t>
            </a:r>
            <a:r>
              <a:rPr lang="en-US" altLang="zh-CN" sz="1500" dirty="0">
                <a:latin typeface="+mj-ea"/>
                <a:ea typeface="+mj-ea"/>
                <a:cs typeface="+mj-ea"/>
              </a:rPr>
              <a:t>&gt;] </a:t>
            </a:r>
          </a:p>
        </p:txBody>
      </p:sp>
      <p:sp>
        <p:nvSpPr>
          <p:cNvPr id="16" name="文本框 9"/>
          <p:cNvSpPr txBox="1"/>
          <p:nvPr/>
        </p:nvSpPr>
        <p:spPr>
          <a:xfrm>
            <a:off x="2716558" y="3905194"/>
            <a:ext cx="2095500" cy="575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&gt;&gt;&gt;</a:t>
            </a:r>
            <a:r>
              <a:rPr lang="en-US" altLang="zh-CN" sz="1050">
                <a:solidFill>
                  <a:srgbClr val="7030A0"/>
                </a:solidFill>
              </a:rPr>
              <a:t> </a:t>
            </a:r>
            <a:r>
              <a:rPr lang="zh-CN" altLang="en-US" sz="1050">
                <a:solidFill>
                  <a:srgbClr val="FF760B"/>
                </a:solidFill>
              </a:rPr>
              <a:t>import</a:t>
            </a:r>
            <a:r>
              <a:rPr lang="en-US" altLang="zh-CN" sz="1050"/>
              <a:t> math</a:t>
            </a:r>
          </a:p>
          <a:p>
            <a:r>
              <a:rPr lang="en-US" altLang="zh-CN" sz="1050" b="1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&gt;&gt;&gt;</a:t>
            </a:r>
            <a:r>
              <a:rPr lang="en-US" altLang="zh-CN" sz="1050">
                <a:solidFill>
                  <a:srgbClr val="7030A0"/>
                </a:solidFill>
              </a:rPr>
              <a:t> </a:t>
            </a:r>
            <a:r>
              <a:rPr lang="en-US" altLang="zh-CN" sz="1050"/>
              <a:t>math.sqrt(2)</a:t>
            </a:r>
          </a:p>
          <a:p>
            <a:r>
              <a:rPr lang="en-US" altLang="zh-CN" sz="1050">
                <a:solidFill>
                  <a:srgbClr val="0204FF"/>
                </a:solidFill>
              </a:rPr>
              <a:t>1.4142135623730951</a:t>
            </a:r>
          </a:p>
        </p:txBody>
      </p:sp>
      <p:sp>
        <p:nvSpPr>
          <p:cNvPr id="17" name="文本框 10"/>
          <p:cNvSpPr txBox="1"/>
          <p:nvPr/>
        </p:nvSpPr>
        <p:spPr>
          <a:xfrm>
            <a:off x="4987794" y="3905194"/>
            <a:ext cx="2095976" cy="575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&gt;&gt;&gt;</a:t>
            </a:r>
            <a:r>
              <a:rPr lang="en-US" altLang="zh-CN" sz="1050">
                <a:solidFill>
                  <a:srgbClr val="7030A0"/>
                </a:solidFill>
              </a:rPr>
              <a:t> </a:t>
            </a:r>
            <a:r>
              <a:rPr lang="zh-CN" altLang="en-US" sz="1050">
                <a:solidFill>
                  <a:srgbClr val="FF760B"/>
                </a:solidFill>
              </a:rPr>
              <a:t>import</a:t>
            </a:r>
            <a:r>
              <a:rPr lang="en-US" altLang="zh-CN" sz="1050"/>
              <a:t> math </a:t>
            </a:r>
            <a:r>
              <a:rPr lang="zh-CN" altLang="en-US" sz="1050">
                <a:solidFill>
                  <a:srgbClr val="FF760B"/>
                </a:solidFill>
              </a:rPr>
              <a:t>as</a:t>
            </a:r>
            <a:r>
              <a:rPr lang="en-US" altLang="zh-CN" sz="1050"/>
              <a:t> m</a:t>
            </a:r>
          </a:p>
          <a:p>
            <a:r>
              <a:rPr lang="en-US" altLang="zh-CN" sz="1050" b="1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&gt;&gt;&gt;</a:t>
            </a:r>
            <a:r>
              <a:rPr lang="en-US" altLang="zh-CN" sz="1050">
                <a:solidFill>
                  <a:srgbClr val="7030A0"/>
                </a:solidFill>
              </a:rPr>
              <a:t> </a:t>
            </a:r>
            <a:r>
              <a:rPr lang="en-US" altLang="zh-CN" sz="1050"/>
              <a:t>m.sqrt(2)</a:t>
            </a:r>
          </a:p>
          <a:p>
            <a:r>
              <a:rPr lang="en-US" altLang="zh-CN" sz="1050">
                <a:solidFill>
                  <a:srgbClr val="0204FF"/>
                </a:solidFill>
              </a:rPr>
              <a:t>1.4142135623730951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1" animBg="1"/>
      <p:bldP spid="14" grpId="2" bldLvl="0" animBg="1"/>
      <p:bldP spid="16" grpId="1"/>
      <p:bldP spid="16" grpId="2"/>
      <p:bldP spid="17" grpId="1"/>
      <p:bldP spid="17" grpId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ym typeface="+mn-ea"/>
              </a:rPr>
              <a:t>召唤海龟先生</a:t>
            </a:r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召唤海龟先生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683895" y="1706880"/>
            <a:ext cx="1005205" cy="12084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2331720" y="1685925"/>
            <a:ext cx="51822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就像刚刚讲的，我们的海龟先生，是我们</a:t>
            </a:r>
            <a:r>
              <a:rPr lang="en-US" altLang="zh-CN"/>
              <a:t>Python</a:t>
            </a:r>
            <a:r>
              <a:rPr lang="zh-CN" altLang="en-US"/>
              <a:t>的一位好朋友，</a:t>
            </a:r>
          </a:p>
          <a:p>
            <a:r>
              <a:rPr lang="zh-CN" altLang="en-US"/>
              <a:t>那么我们如果需要他的帮助的话我们应该怎么做呢？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331720" y="2413000"/>
            <a:ext cx="1783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海龟先生，你来一下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331720" y="2924810"/>
            <a:ext cx="23768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import turtle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932045" y="2996565"/>
            <a:ext cx="22999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import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：导入，引进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331720" y="3651885"/>
            <a:ext cx="2926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/>
              <a:t>导入海龟库，召唤海龟先生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召唤海龟先生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83260" y="1131570"/>
            <a:ext cx="7091680" cy="1077595"/>
            <a:chOff x="1076" y="1782"/>
            <a:chExt cx="11168" cy="1697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6" y="1782"/>
              <a:ext cx="4759" cy="781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1076" y="2949"/>
              <a:ext cx="11168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/>
                <a:t>我们成功的召唤了海龟先生，但是我们运行这一句代码，有</a:t>
              </a:r>
              <a:r>
                <a:rPr lang="zh-CN" altLang="en-US" sz="1600">
                  <a:solidFill>
                    <a:srgbClr val="FF0000"/>
                  </a:solidFill>
                </a:rPr>
                <a:t>什么事情发生</a:t>
              </a:r>
              <a:r>
                <a:rPr lang="zh-CN" altLang="en-US" sz="1600"/>
                <a:t>吗？</a:t>
              </a:r>
              <a:endParaRPr lang="en-US" altLang="zh-CN" sz="1600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683260" y="2454910"/>
            <a:ext cx="56692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我们要告诉海龟先生，我们想让他帮助我们做的事情是什么。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683260" y="3037205"/>
            <a:ext cx="4653280" cy="1560195"/>
            <a:chOff x="1076" y="4783"/>
            <a:chExt cx="7328" cy="2457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6" y="4783"/>
              <a:ext cx="6399" cy="1541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1076" y="6710"/>
              <a:ext cx="7328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/>
                <a:t>我们再加上这一句代码，看看会有什么事情发生。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ym typeface="+mn-ea"/>
              </a:rPr>
              <a:t>海龟先生的能力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605530" y="924560"/>
            <a:ext cx="1808480" cy="1647190"/>
            <a:chOff x="5678" y="1456"/>
            <a:chExt cx="2848" cy="2594"/>
          </a:xfrm>
        </p:grpSpPr>
        <p:pic>
          <p:nvPicPr>
            <p:cNvPr id="101" name="图片 100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293" y="1456"/>
              <a:ext cx="1618" cy="194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15"/>
            <p:cNvSpPr txBox="1"/>
            <p:nvPr/>
          </p:nvSpPr>
          <p:spPr>
            <a:xfrm>
              <a:off x="5678" y="3520"/>
              <a:ext cx="2848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/>
                <a:t>海龟先生的能力是</a:t>
              </a: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2628265" y="4107815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/>
              <a:t>圆、圈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796925" y="3021330"/>
            <a:ext cx="6918960" cy="1031875"/>
            <a:chOff x="1076" y="4758"/>
            <a:chExt cx="10896" cy="1625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6" y="4843"/>
              <a:ext cx="6399" cy="1541"/>
            </a:xfrm>
            <a:prstGeom prst="rect">
              <a:avLst/>
            </a:prstGeom>
          </p:spPr>
        </p:pic>
        <p:sp>
          <p:nvSpPr>
            <p:cNvPr id="25" name="文本框 24"/>
            <p:cNvSpPr txBox="1"/>
            <p:nvPr/>
          </p:nvSpPr>
          <p:spPr>
            <a:xfrm>
              <a:off x="7654" y="4758"/>
              <a:ext cx="4319" cy="11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8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Python</a:t>
              </a:r>
              <a:r>
                <a:rPr lang="zh-CN" altLang="en-US" sz="18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的语法规则，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8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非常的接近于纯英语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356100" y="3939540"/>
            <a:ext cx="2883535" cy="1021080"/>
            <a:chOff x="6860" y="6204"/>
            <a:chExt cx="4541" cy="1608"/>
          </a:xfrm>
        </p:grpSpPr>
        <p:cxnSp>
          <p:nvCxnSpPr>
            <p:cNvPr id="26" name="直接箭头连接符 25"/>
            <p:cNvCxnSpPr/>
            <p:nvPr/>
          </p:nvCxnSpPr>
          <p:spPr>
            <a:xfrm flipH="1" flipV="1">
              <a:off x="6860" y="6204"/>
              <a:ext cx="1116" cy="85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/>
            <p:cNvSpPr txBox="1"/>
            <p:nvPr/>
          </p:nvSpPr>
          <p:spPr>
            <a:xfrm>
              <a:off x="8221" y="7056"/>
              <a:ext cx="140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/>
                <a:t>圆的半径</a:t>
              </a:r>
            </a:p>
          </p:txBody>
        </p:sp>
        <p:pic>
          <p:nvPicPr>
            <p:cNvPr id="102" name="图片 101"/>
            <p:cNvPicPr/>
            <p:nvPr/>
          </p:nvPicPr>
          <p:blipFill>
            <a:blip r:embed="rId4"/>
            <a:srcRect l="16298" r="14714"/>
            <a:stretch>
              <a:fillRect/>
            </a:stretch>
          </p:blipFill>
          <p:spPr>
            <a:xfrm>
              <a:off x="9809" y="6318"/>
              <a:ext cx="1593" cy="1494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0" name="组合 9"/>
          <p:cNvGrpSpPr/>
          <p:nvPr/>
        </p:nvGrpSpPr>
        <p:grpSpPr>
          <a:xfrm>
            <a:off x="683895" y="924560"/>
            <a:ext cx="3167380" cy="2096770"/>
            <a:chOff x="1077" y="1456"/>
            <a:chExt cx="4988" cy="3302"/>
          </a:xfrm>
        </p:grpSpPr>
        <p:grpSp>
          <p:nvGrpSpPr>
            <p:cNvPr id="2" name="组合 1"/>
            <p:cNvGrpSpPr/>
            <p:nvPr/>
          </p:nvGrpSpPr>
          <p:grpSpPr>
            <a:xfrm>
              <a:off x="1077" y="1456"/>
              <a:ext cx="4988" cy="3302"/>
              <a:chOff x="1077" y="1456"/>
              <a:chExt cx="4988" cy="3302"/>
            </a:xfrm>
          </p:grpSpPr>
          <p:cxnSp>
            <p:nvCxnSpPr>
              <p:cNvPr id="12" name="直接箭头连接符 11"/>
              <p:cNvCxnSpPr/>
              <p:nvPr/>
            </p:nvCxnSpPr>
            <p:spPr>
              <a:xfrm flipH="1">
                <a:off x="4365" y="2349"/>
                <a:ext cx="1701" cy="226"/>
              </a:xfrm>
              <a:prstGeom prst="straightConnector1">
                <a:avLst/>
              </a:prstGeom>
              <a:ln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" name="组合 16"/>
              <p:cNvGrpSpPr/>
              <p:nvPr/>
            </p:nvGrpSpPr>
            <p:grpSpPr>
              <a:xfrm>
                <a:off x="1077" y="1456"/>
                <a:ext cx="2948" cy="3302"/>
                <a:chOff x="1077" y="1456"/>
                <a:chExt cx="2948" cy="3302"/>
              </a:xfrm>
            </p:grpSpPr>
            <p:pic>
              <p:nvPicPr>
                <p:cNvPr id="3" name="图片 2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77" y="1456"/>
                  <a:ext cx="2949" cy="2526"/>
                </a:xfrm>
                <a:prstGeom prst="rect">
                  <a:avLst/>
                </a:prstGeom>
              </p:spPr>
            </p:pic>
            <p:sp>
              <p:nvSpPr>
                <p:cNvPr id="13" name="文本框 12"/>
                <p:cNvSpPr txBox="1"/>
                <p:nvPr/>
              </p:nvSpPr>
              <p:spPr>
                <a:xfrm>
                  <a:off x="1757" y="3936"/>
                  <a:ext cx="1408" cy="82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zh-CN" sz="2800" b="1">
                      <a:solidFill>
                        <a:schemeClr val="tx1"/>
                      </a:solidFill>
                    </a:rPr>
                    <a:t>绘图</a:t>
                  </a:r>
                </a:p>
              </p:txBody>
            </p:sp>
          </p:grpSp>
        </p:grpSp>
        <p:grpSp>
          <p:nvGrpSpPr>
            <p:cNvPr id="30" name="组合 29"/>
            <p:cNvGrpSpPr/>
            <p:nvPr/>
          </p:nvGrpSpPr>
          <p:grpSpPr>
            <a:xfrm>
              <a:off x="2608" y="2459"/>
              <a:ext cx="1076" cy="570"/>
              <a:chOff x="2608" y="2459"/>
              <a:chExt cx="1076" cy="570"/>
            </a:xfrm>
          </p:grpSpPr>
          <p:cxnSp>
            <p:nvCxnSpPr>
              <p:cNvPr id="28" name="直接连接符 27"/>
              <p:cNvCxnSpPr/>
              <p:nvPr/>
            </p:nvCxnSpPr>
            <p:spPr>
              <a:xfrm>
                <a:off x="2608" y="2699"/>
                <a:ext cx="1077" cy="33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文本框 28"/>
              <p:cNvSpPr txBox="1"/>
              <p:nvPr/>
            </p:nvSpPr>
            <p:spPr>
              <a:xfrm rot="1140000">
                <a:off x="2836" y="2459"/>
                <a:ext cx="756" cy="4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/>
                  <a:t>100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" y="945515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835785" y="915035"/>
            <a:ext cx="3840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/>
              <a:t>那么我们了解了海龟先生的能力之后，</a:t>
            </a:r>
          </a:p>
          <a:p>
            <a:pPr>
              <a:lnSpc>
                <a:spcPct val="150000"/>
              </a:lnSpc>
            </a:pPr>
            <a:r>
              <a:rPr lang="zh-CN" altLang="en-US" sz="1600"/>
              <a:t>让他来帮助我们完成更复杂的图案绘制。</a:t>
            </a:r>
            <a:endParaRPr lang="en-US" altLang="zh-CN" sz="1600"/>
          </a:p>
        </p:txBody>
      </p:sp>
      <p:sp>
        <p:nvSpPr>
          <p:cNvPr id="8" name="文本框 7"/>
          <p:cNvSpPr txBox="1"/>
          <p:nvPr/>
        </p:nvSpPr>
        <p:spPr>
          <a:xfrm>
            <a:off x="3337560" y="1859915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如何绘制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四个圆圈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" y="2373630"/>
            <a:ext cx="3529965" cy="202438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83260" y="4436110"/>
            <a:ext cx="8022590" cy="459740"/>
            <a:chOff x="1076" y="6986"/>
            <a:chExt cx="12634" cy="724"/>
          </a:xfrm>
        </p:grpSpPr>
        <p:sp>
          <p:nvSpPr>
            <p:cNvPr id="11" name="文本框 10"/>
            <p:cNvSpPr txBox="1"/>
            <p:nvPr/>
          </p:nvSpPr>
          <p:spPr>
            <a:xfrm>
              <a:off x="1076" y="7107"/>
              <a:ext cx="840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/>
                <a:t>这样确实是可以，但在编写代码之前，我们要再学习一个小技巧！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9582" y="6986"/>
              <a:ext cx="41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>
                  <a:solidFill>
                    <a:srgbClr val="FF0000"/>
                  </a:solidFill>
                </a:rPr>
                <a:t>给海龟先生改名字</a:t>
              </a: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4500245" y="2839720"/>
            <a:ext cx="33832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同学们，想一想改名字的作用是什么呢？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373630"/>
            <a:ext cx="2850515" cy="351155"/>
          </a:xfrm>
          <a:prstGeom prst="rect">
            <a:avLst/>
          </a:prstGeom>
        </p:spPr>
      </p:pic>
      <p:cxnSp>
        <p:nvCxnSpPr>
          <p:cNvPr id="23" name="直接箭头连接符 22"/>
          <p:cNvCxnSpPr/>
          <p:nvPr/>
        </p:nvCxnSpPr>
        <p:spPr>
          <a:xfrm flipV="1">
            <a:off x="3491865" y="2533015"/>
            <a:ext cx="1044575" cy="7810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4536440" y="3261360"/>
            <a:ext cx="2824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减少写海龟先生名字的代码量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50" y="2404110"/>
            <a:ext cx="3613785" cy="19634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9" grpId="0"/>
      <p:bldP spid="19" grpId="1"/>
      <p:bldP spid="31" grpId="0"/>
      <p:bldP spid="3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683895" y="945515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835785" y="915035"/>
            <a:ext cx="3230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/>
              <a:t>我们成功绘制出了四个圆圈了吗？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701925" y="1563370"/>
            <a:ext cx="348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那么到底如何绘制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四个圆圈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61670" y="3641725"/>
            <a:ext cx="2316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第一种办法，改变圆的大小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2774315" y="2355215"/>
            <a:ext cx="30276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同学们，想一想，问题出在了哪里？</a:t>
            </a:r>
            <a:endParaRPr lang="en-US" altLang="zh-CN"/>
          </a:p>
        </p:txBody>
      </p:sp>
      <p:sp>
        <p:nvSpPr>
          <p:cNvPr id="31" name="文本框 30"/>
          <p:cNvSpPr txBox="1"/>
          <p:nvPr/>
        </p:nvSpPr>
        <p:spPr>
          <a:xfrm>
            <a:off x="2774315" y="2787650"/>
            <a:ext cx="26212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让圆圈不要完全重叠在一起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70" y="2355215"/>
            <a:ext cx="2109470" cy="11461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550" y="2355215"/>
            <a:ext cx="3037840" cy="1659255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/>
        </p:nvCxnSpPr>
        <p:spPr>
          <a:xfrm flipV="1">
            <a:off x="3148330" y="3435350"/>
            <a:ext cx="2432050" cy="38227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407410" y="4299585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其他的方法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" y="987425"/>
            <a:ext cx="3269615" cy="177673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11505" y="2860040"/>
            <a:ext cx="132969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左转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:left</a:t>
            </a:r>
          </a:p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右转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:right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3996055" y="987425"/>
            <a:ext cx="4504055" cy="3281680"/>
            <a:chOff x="6293" y="1555"/>
            <a:chExt cx="7093" cy="5168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4" y="1555"/>
              <a:ext cx="6073" cy="5169"/>
            </a:xfrm>
            <a:prstGeom prst="rect">
              <a:avLst/>
            </a:prstGeom>
          </p:spPr>
        </p:pic>
        <p:sp>
          <p:nvSpPr>
            <p:cNvPr id="10" name="右箭头 9"/>
            <p:cNvSpPr/>
            <p:nvPr/>
          </p:nvSpPr>
          <p:spPr>
            <a:xfrm>
              <a:off x="6293" y="2689"/>
              <a:ext cx="907" cy="90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156325" y="1779270"/>
            <a:ext cx="3087370" cy="1098550"/>
            <a:chOff x="9695" y="2802"/>
            <a:chExt cx="4862" cy="1730"/>
          </a:xfrm>
        </p:grpSpPr>
        <p:sp>
          <p:nvSpPr>
            <p:cNvPr id="14" name="圆角矩形 13"/>
            <p:cNvSpPr/>
            <p:nvPr/>
          </p:nvSpPr>
          <p:spPr>
            <a:xfrm>
              <a:off x="9695" y="2802"/>
              <a:ext cx="1361" cy="68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11169" y="3256"/>
              <a:ext cx="3389" cy="1277"/>
              <a:chOff x="11169" y="3256"/>
              <a:chExt cx="3389" cy="1277"/>
            </a:xfrm>
          </p:grpSpPr>
          <p:cxnSp>
            <p:nvCxnSpPr>
              <p:cNvPr id="15" name="直接箭头连接符 14"/>
              <p:cNvCxnSpPr/>
              <p:nvPr/>
            </p:nvCxnSpPr>
            <p:spPr>
              <a:xfrm flipH="1" flipV="1">
                <a:off x="11169" y="3256"/>
                <a:ext cx="2454" cy="637"/>
              </a:xfrm>
              <a:prstGeom prst="straightConnector1">
                <a:avLst/>
              </a:prstGeom>
              <a:ln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本框 15"/>
              <p:cNvSpPr txBox="1"/>
              <p:nvPr/>
            </p:nvSpPr>
            <p:spPr>
              <a:xfrm>
                <a:off x="12870" y="4050"/>
                <a:ext cx="1688" cy="4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zh-CN" b="1"/>
                  <a:t>右转的度数</a:t>
                </a:r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638175" y="3863975"/>
            <a:ext cx="2712720" cy="742315"/>
            <a:chOff x="1005" y="6085"/>
            <a:chExt cx="4272" cy="1169"/>
          </a:xfrm>
        </p:grpSpPr>
        <p:grpSp>
          <p:nvGrpSpPr>
            <p:cNvPr id="2" name="组合 1"/>
            <p:cNvGrpSpPr/>
            <p:nvPr/>
          </p:nvGrpSpPr>
          <p:grpSpPr>
            <a:xfrm>
              <a:off x="1005" y="6085"/>
              <a:ext cx="4273" cy="420"/>
              <a:chOff x="1005" y="6085"/>
              <a:chExt cx="4273" cy="420"/>
            </a:xfrm>
          </p:grpSpPr>
          <p:sp>
            <p:nvSpPr>
              <p:cNvPr id="18" name="文本框 17"/>
              <p:cNvSpPr txBox="1"/>
              <p:nvPr/>
            </p:nvSpPr>
            <p:spPr>
              <a:xfrm rot="5400000">
                <a:off x="994" y="6096"/>
                <a:ext cx="420" cy="39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zh-CN" altLang="en-US" sz="1050"/>
                  <a:t>➤</a:t>
                </a: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 rot="10800000">
                <a:off x="2282" y="6085"/>
                <a:ext cx="420" cy="39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zh-CN" altLang="en-US" sz="1050"/>
                  <a:t>➤</a:t>
                </a: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 rot="16200000">
                <a:off x="3570" y="6096"/>
                <a:ext cx="420" cy="39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zh-CN" altLang="en-US" sz="1050"/>
                  <a:t>➤</a:t>
                </a: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4858" y="6085"/>
                <a:ext cx="420" cy="39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zh-CN" altLang="en-US" sz="1050"/>
                  <a:t>➤</a:t>
                </a: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1644" y="6724"/>
              <a:ext cx="3168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/>
                <a:t>改变海龟先生的方向</a:t>
              </a:r>
              <a:endParaRPr lang="en-US" altLang="zh-CN" sz="1600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95" y="1131570"/>
            <a:ext cx="2703195" cy="230060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67995" y="3639185"/>
            <a:ext cx="46278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我们可以看的出，我们写的这几句代码的重复的内容很多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67995" y="4138295"/>
            <a:ext cx="67824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那么</a:t>
            </a:r>
            <a:r>
              <a:rPr lang="en-US" altLang="zh-CN"/>
              <a:t>Python</a:t>
            </a:r>
            <a:r>
              <a:rPr lang="zh-CN" altLang="en-US"/>
              <a:t>中有一个非常的好用的功能，叫循环，可以让我们减少去编写重复的功能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3348355" y="1131570"/>
            <a:ext cx="5205730" cy="2163445"/>
            <a:chOff x="5273" y="1782"/>
            <a:chExt cx="8198" cy="3407"/>
          </a:xfrm>
        </p:grpSpPr>
        <p:sp>
          <p:nvSpPr>
            <p:cNvPr id="10" name="右箭头 9"/>
            <p:cNvSpPr/>
            <p:nvPr/>
          </p:nvSpPr>
          <p:spPr>
            <a:xfrm>
              <a:off x="5273" y="2575"/>
              <a:ext cx="907" cy="90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33" y="1782"/>
              <a:ext cx="6838" cy="3407"/>
            </a:xfrm>
            <a:prstGeom prst="rect">
              <a:avLst/>
            </a:prstGeom>
          </p:spPr>
        </p:pic>
      </p:grpSp>
      <p:grpSp>
        <p:nvGrpSpPr>
          <p:cNvPr id="8" name="组合 7"/>
          <p:cNvGrpSpPr/>
          <p:nvPr/>
        </p:nvGrpSpPr>
        <p:grpSpPr>
          <a:xfrm>
            <a:off x="4211955" y="1563370"/>
            <a:ext cx="4880610" cy="2451735"/>
            <a:chOff x="6633" y="2462"/>
            <a:chExt cx="7686" cy="3861"/>
          </a:xfrm>
        </p:grpSpPr>
        <p:sp>
          <p:nvSpPr>
            <p:cNvPr id="12" name="矩形 11"/>
            <p:cNvSpPr/>
            <p:nvPr/>
          </p:nvSpPr>
          <p:spPr>
            <a:xfrm>
              <a:off x="6633" y="3369"/>
              <a:ext cx="1361" cy="6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6633" y="4164"/>
              <a:ext cx="1361" cy="6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" name="直接箭头连接符 18"/>
            <p:cNvCxnSpPr/>
            <p:nvPr/>
          </p:nvCxnSpPr>
          <p:spPr>
            <a:xfrm>
              <a:off x="7588" y="4915"/>
              <a:ext cx="2674" cy="949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/>
          </p:nvSpPr>
          <p:spPr>
            <a:xfrm>
              <a:off x="10262" y="5405"/>
              <a:ext cx="3488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/>
                <a:t>这里各需要打四个空格</a:t>
              </a:r>
            </a:p>
            <a:p>
              <a:r>
                <a:rPr lang="en-US" altLang="zh-CN" sz="1600" b="1"/>
                <a:t>Python</a:t>
              </a:r>
              <a:r>
                <a:rPr lang="zh-CN" altLang="en-US" sz="1600" b="1"/>
                <a:t>中称为缩进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12870" y="2575"/>
              <a:ext cx="454" cy="7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3471" y="2462"/>
              <a:ext cx="848" cy="11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/>
                <a:t>冒号</a:t>
              </a:r>
            </a:p>
            <a:p>
              <a:r>
                <a:rPr lang="zh-CN" altLang="en-US" b="1"/>
                <a:t>不要</a:t>
              </a:r>
            </a:p>
            <a:p>
              <a:r>
                <a:rPr lang="zh-CN" altLang="en-US" b="1"/>
                <a:t>忘记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爱的魔力转圈圈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爱的魔力转圈圈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l="27321" t="26100" r="27440" b="22452"/>
          <a:stretch>
            <a:fillRect/>
          </a:stretch>
        </p:blipFill>
        <p:spPr>
          <a:xfrm>
            <a:off x="3644900" y="1131570"/>
            <a:ext cx="1450975" cy="138811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12140" y="2643505"/>
            <a:ext cx="6050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b="1"/>
              <a:t>我们成功的利用了循环，帮助完成重复的部分，</a:t>
            </a:r>
          </a:p>
          <a:p>
            <a:r>
              <a:rPr lang="zh-CN" altLang="en-US" sz="1800" b="1"/>
              <a:t>那么如果需要画</a:t>
            </a:r>
            <a:r>
              <a:rPr lang="en-US" altLang="zh-CN" sz="1800" b="1"/>
              <a:t>100</a:t>
            </a:r>
            <a:r>
              <a:rPr lang="zh-CN" altLang="en-US" sz="1800" b="1"/>
              <a:t>个圆呢，同学们觉得该怎么修改代码？</a:t>
            </a:r>
          </a:p>
        </p:txBody>
      </p:sp>
      <p:pic>
        <p:nvPicPr>
          <p:cNvPr id="101" name="图片 100"/>
          <p:cNvPicPr/>
          <p:nvPr/>
        </p:nvPicPr>
        <p:blipFill>
          <a:blip r:embed="rId3"/>
          <a:stretch>
            <a:fillRect/>
          </a:stretch>
        </p:blipFill>
        <p:spPr>
          <a:xfrm>
            <a:off x="5580380" y="1059180"/>
            <a:ext cx="1005205" cy="12084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" name="文本框 17"/>
          <p:cNvSpPr txBox="1"/>
          <p:nvPr/>
        </p:nvSpPr>
        <p:spPr>
          <a:xfrm>
            <a:off x="1619885" y="4795520"/>
            <a:ext cx="1427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改变循环的次数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4399786" y="3867894"/>
            <a:ext cx="2764502" cy="1193815"/>
            <a:chOff x="6702" y="5751"/>
            <a:chExt cx="5140" cy="2297"/>
          </a:xfrm>
        </p:grpSpPr>
        <p:sp>
          <p:nvSpPr>
            <p:cNvPr id="17" name="右箭头 16"/>
            <p:cNvSpPr/>
            <p:nvPr/>
          </p:nvSpPr>
          <p:spPr>
            <a:xfrm>
              <a:off x="6702" y="5751"/>
              <a:ext cx="907" cy="90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594" y="7565"/>
              <a:ext cx="2248" cy="483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dirty="0">
                  <a:sym typeface="+mn-ea"/>
                </a:rPr>
                <a:t>改变右转的度数</a:t>
              </a:r>
              <a:endParaRPr lang="zh-CN" altLang="en-US" dirty="0"/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EE40D8D1-F549-FD14-9E1B-B4D9ACEB8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882" y="964346"/>
            <a:ext cx="2554491" cy="171254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EBAC1C9D-E177-0357-F2DC-94A21F88AA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209" y="3282305"/>
            <a:ext cx="2336831" cy="151894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CA06F6BF-F4ED-B9AF-A1E9-3F2568E02E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7984" y="3288665"/>
            <a:ext cx="2386384" cy="15570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爱的魔力转圈圈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61670" y="1059180"/>
            <a:ext cx="3434080" cy="3054985"/>
            <a:chOff x="1042" y="1668"/>
            <a:chExt cx="5408" cy="4811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rcRect l="4636" r="4040"/>
            <a:stretch>
              <a:fillRect/>
            </a:stretch>
          </p:blipFill>
          <p:spPr>
            <a:xfrm>
              <a:off x="1042" y="1668"/>
              <a:ext cx="4137" cy="4069"/>
            </a:xfrm>
            <a:prstGeom prst="rect">
              <a:avLst/>
            </a:prstGeom>
          </p:spPr>
        </p:pic>
        <p:sp>
          <p:nvSpPr>
            <p:cNvPr id="3" name="文本框 2"/>
            <p:cNvSpPr txBox="1"/>
            <p:nvPr/>
          </p:nvSpPr>
          <p:spPr>
            <a:xfrm>
              <a:off x="1042" y="5949"/>
              <a:ext cx="5408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/>
                <a:t>同学们，觉得这个图案像是什么呢？</a:t>
              </a:r>
            </a:p>
          </p:txBody>
        </p:sp>
      </p:grpSp>
      <p:pic>
        <p:nvPicPr>
          <p:cNvPr id="103" name="图片 102"/>
          <p:cNvPicPr/>
          <p:nvPr/>
        </p:nvPicPr>
        <p:blipFill>
          <a:blip r:embed="rId3"/>
          <a:stretch>
            <a:fillRect/>
          </a:stretch>
        </p:blipFill>
        <p:spPr>
          <a:xfrm>
            <a:off x="3491865" y="1059180"/>
            <a:ext cx="2490470" cy="16687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图片 103"/>
          <p:cNvPicPr/>
          <p:nvPr/>
        </p:nvPicPr>
        <p:blipFill>
          <a:blip r:embed="rId4"/>
          <a:srcRect l="3827" t="14000" r="10864" b="18185"/>
          <a:stretch>
            <a:fillRect/>
          </a:stretch>
        </p:blipFill>
        <p:spPr>
          <a:xfrm>
            <a:off x="6228715" y="995045"/>
            <a:ext cx="1807845" cy="17964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" name="图片 104"/>
          <p:cNvPicPr/>
          <p:nvPr/>
        </p:nvPicPr>
        <p:blipFill>
          <a:blip r:embed="rId5"/>
          <a:stretch>
            <a:fillRect/>
          </a:stretch>
        </p:blipFill>
        <p:spPr>
          <a:xfrm>
            <a:off x="5364480" y="2931795"/>
            <a:ext cx="2065655" cy="1549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BAC1479D-238F-D4F8-F7B7-B9198C9DD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1044738"/>
            <a:ext cx="2873572" cy="2103076"/>
          </a:xfrm>
          <a:prstGeom prst="rect">
            <a:avLst/>
          </a:prstGeom>
        </p:spPr>
      </p:pic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爱的魔力转圈圈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61670" y="1016000"/>
            <a:ext cx="2654935" cy="3098165"/>
            <a:chOff x="1042" y="1600"/>
            <a:chExt cx="4181" cy="4879"/>
          </a:xfrm>
        </p:grpSpPr>
        <p:sp>
          <p:nvSpPr>
            <p:cNvPr id="3" name="文本框 2"/>
            <p:cNvSpPr txBox="1"/>
            <p:nvPr/>
          </p:nvSpPr>
          <p:spPr>
            <a:xfrm>
              <a:off x="1042" y="5949"/>
              <a:ext cx="3168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/>
                <a:t>给图案添加新的颜色</a:t>
              </a: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rcRect l="3072" r="2951"/>
            <a:stretch>
              <a:fillRect/>
            </a:stretch>
          </p:blipFill>
          <p:spPr>
            <a:xfrm>
              <a:off x="1087" y="1600"/>
              <a:ext cx="4136" cy="4153"/>
            </a:xfrm>
            <a:prstGeom prst="rect">
              <a:avLst/>
            </a:prstGeom>
          </p:spPr>
        </p:pic>
      </p:grpSp>
      <p:grpSp>
        <p:nvGrpSpPr>
          <p:cNvPr id="13" name="组合 12"/>
          <p:cNvGrpSpPr/>
          <p:nvPr/>
        </p:nvGrpSpPr>
        <p:grpSpPr>
          <a:xfrm>
            <a:off x="3636010" y="1275715"/>
            <a:ext cx="4608830" cy="377825"/>
            <a:chOff x="5726" y="2009"/>
            <a:chExt cx="7258" cy="595"/>
          </a:xfrm>
        </p:grpSpPr>
        <p:sp>
          <p:nvSpPr>
            <p:cNvPr id="10" name="文本框 9"/>
            <p:cNvSpPr txBox="1"/>
            <p:nvPr/>
          </p:nvSpPr>
          <p:spPr>
            <a:xfrm>
              <a:off x="10580" y="2122"/>
              <a:ext cx="2404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修改颜色为</a:t>
              </a:r>
              <a:r>
                <a:rPr lang="en-US" altLang="zh-CN" b="1" dirty="0"/>
                <a:t>‘</a:t>
              </a:r>
              <a:r>
                <a:rPr lang="zh-CN" altLang="en-US" b="1" dirty="0">
                  <a:solidFill>
                    <a:srgbClr val="0070C0"/>
                  </a:solidFill>
                </a:rPr>
                <a:t>蓝色</a:t>
              </a:r>
              <a:r>
                <a:rPr lang="en-US" altLang="zh-CN" b="1" dirty="0"/>
                <a:t>’</a:t>
              </a:r>
            </a:p>
          </p:txBody>
        </p:sp>
        <p:cxnSp>
          <p:nvCxnSpPr>
            <p:cNvPr id="11" name="直接箭头连接符 10"/>
            <p:cNvCxnSpPr>
              <a:stCxn id="10" idx="1"/>
            </p:cNvCxnSpPr>
            <p:nvPr/>
          </p:nvCxnSpPr>
          <p:spPr>
            <a:xfrm flipH="1" flipV="1">
              <a:off x="9355" y="2349"/>
              <a:ext cx="1225" cy="1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圆角矩形 11"/>
            <p:cNvSpPr/>
            <p:nvPr/>
          </p:nvSpPr>
          <p:spPr>
            <a:xfrm>
              <a:off x="5726" y="2009"/>
              <a:ext cx="3402" cy="585"/>
            </a:xfrm>
            <a:prstGeom prst="round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979545" y="1851660"/>
            <a:ext cx="4810125" cy="3046095"/>
            <a:chOff x="6267" y="2916"/>
            <a:chExt cx="7575" cy="4797"/>
          </a:xfrm>
        </p:grpSpPr>
        <p:sp>
          <p:nvSpPr>
            <p:cNvPr id="14" name="文本框 13"/>
            <p:cNvSpPr txBox="1"/>
            <p:nvPr/>
          </p:nvSpPr>
          <p:spPr>
            <a:xfrm>
              <a:off x="10489" y="2916"/>
              <a:ext cx="3353" cy="47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1.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红色：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red</a:t>
              </a:r>
            </a:p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2.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橙色：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orange</a:t>
              </a:r>
            </a:p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3.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黄色：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yellow</a:t>
              </a:r>
            </a:p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4.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绿色：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green</a:t>
              </a:r>
            </a:p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5.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蓝色：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blue</a:t>
              </a:r>
            </a:p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6.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紫色：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purple</a:t>
              </a:r>
            </a:p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7.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白色：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white</a:t>
              </a:r>
            </a:p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8.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黑色：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black</a:t>
              </a:r>
            </a:p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9.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灰色：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grey</a:t>
              </a:r>
            </a:p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10.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粉色：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pink</a:t>
              </a:r>
            </a:p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11.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金色：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gold</a:t>
              </a:r>
            </a:p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12.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银色：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silver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267" y="4931"/>
              <a:ext cx="30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</a:rPr>
                <a:t>更</a:t>
              </a:r>
              <a:r>
                <a:rPr lang="zh-CN" altLang="en-US" sz="2000" b="1" dirty="0">
                  <a:solidFill>
                    <a:srgbClr val="FFC000"/>
                  </a:solidFill>
                </a:rPr>
                <a:t>多</a:t>
              </a:r>
              <a:r>
                <a:rPr lang="zh-CN" altLang="en-US" sz="2000" b="1" dirty="0">
                  <a:solidFill>
                    <a:srgbClr val="FFFF00"/>
                  </a:solidFill>
                </a:rPr>
                <a:t>的</a:t>
              </a:r>
              <a:r>
                <a:rPr lang="zh-CN" altLang="en-US" sz="2000" b="1" dirty="0">
                  <a:solidFill>
                    <a:srgbClr val="92D050"/>
                  </a:solidFill>
                </a:rPr>
                <a:t>颜</a:t>
              </a:r>
              <a:r>
                <a:rPr lang="zh-CN" altLang="en-US" sz="2000" b="1" dirty="0">
                  <a:solidFill>
                    <a:srgbClr val="00B0F0"/>
                  </a:solidFill>
                </a:rPr>
                <a:t>色</a:t>
              </a:r>
              <a:r>
                <a:rPr lang="zh-CN" altLang="en-US" sz="2000" b="1" dirty="0">
                  <a:solidFill>
                    <a:srgbClr val="0070C0"/>
                  </a:solidFill>
                </a:rPr>
                <a:t>选</a:t>
              </a:r>
              <a:r>
                <a:rPr lang="zh-CN" altLang="en-US" sz="2000" b="1" dirty="0">
                  <a:solidFill>
                    <a:srgbClr val="7030A0"/>
                  </a:solidFill>
                </a:rPr>
                <a:t>择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83895" y="535305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导入海龟库的代码？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83895" y="1951355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画圆的代码？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83895" y="3367405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左转右转的代码？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498340" y="1068705"/>
            <a:ext cx="289496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/>
              <a:t>import turtle:导入海龟库</a:t>
            </a:r>
          </a:p>
          <a:p>
            <a:pPr>
              <a:lnSpc>
                <a:spcPct val="150000"/>
              </a:lnSpc>
            </a:pPr>
            <a:r>
              <a:rPr lang="zh-CN" altLang="en-US" sz="2000"/>
              <a:t>as t：给海龟改名字叫t</a:t>
            </a:r>
          </a:p>
          <a:p>
            <a:pPr>
              <a:lnSpc>
                <a:spcPct val="150000"/>
              </a:lnSpc>
            </a:pPr>
            <a:r>
              <a:rPr lang="zh-CN" altLang="en-US" sz="2000"/>
              <a:t>t.circle(100):画圆                 t.right(90):右转                     </a:t>
            </a:r>
          </a:p>
          <a:p>
            <a:pPr>
              <a:lnSpc>
                <a:spcPct val="150000"/>
              </a:lnSpc>
            </a:pPr>
            <a:r>
              <a:rPr lang="zh-CN" altLang="en-US" sz="2000"/>
              <a:t>t.left(90):左转</a:t>
            </a:r>
          </a:p>
          <a:p>
            <a:pPr>
              <a:lnSpc>
                <a:spcPct val="150000"/>
              </a:lnSpc>
            </a:pPr>
            <a:r>
              <a:rPr lang="en-US" altLang="zh-CN" sz="2000"/>
              <a:t>t.color(‘red’):</a:t>
            </a:r>
            <a:r>
              <a:rPr lang="zh-CN" altLang="en-US" sz="2000"/>
              <a:t>颜色                       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498340" y="62865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/>
              <a:t>笔记内容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83895" y="996950"/>
            <a:ext cx="33921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import turtle as t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83895" y="2357120"/>
            <a:ext cx="33921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t.circle(50)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83895" y="3766185"/>
            <a:ext cx="3392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t.left(90)</a:t>
            </a:r>
          </a:p>
          <a:p>
            <a:r>
              <a:rPr lang="en-US" altLang="zh-CN" sz="2000"/>
              <a:t>t.right(90)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6ce7ccbcda6cf12636bdb4ab607c4c83d474"/>
  <p:tag name="KSO_WPP_MARK_KEY" val="ea1da7ba-1d6a-407c-a9d3-f6ea2a9efd65"/>
  <p:tag name="COMMONDATA" val="eyJoZGlkIjoiNzE1MTRiZGNmZGQyODMxZWY5ZTk1Nzk2OTA5ZmQ2Yz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100,&quot;width&quot;:11323}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803</Words>
  <Application>Microsoft Office PowerPoint</Application>
  <PresentationFormat>全屏显示(16:9)</PresentationFormat>
  <Paragraphs>137</Paragraphs>
  <Slides>19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HandelGotDLig</vt:lpstr>
      <vt:lpstr>思源黑体 CN Normal</vt:lpstr>
      <vt:lpstr>宋体</vt:lpstr>
      <vt:lpstr>微软雅黑</vt:lpstr>
      <vt:lpstr>Arial</vt:lpstr>
      <vt:lpstr>Calibri</vt:lpstr>
      <vt:lpstr>Impact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hp</cp:lastModifiedBy>
  <cp:revision>408</cp:revision>
  <cp:lastPrinted>2000-12-31T21:09:00Z</cp:lastPrinted>
  <dcterms:created xsi:type="dcterms:W3CDTF">2015-11-10T12:01:00Z</dcterms:created>
  <dcterms:modified xsi:type="dcterms:W3CDTF">2023-06-01T06:53:32Z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7D6C7A3794864DDE8214939D13F2BD40</vt:lpwstr>
  </property>
  <property fmtid="{D5CDD505-2E9C-101B-9397-08002B2CF9AE}" pid="3" name="KSOProductBuildVer">
    <vt:lpwstr>2052-11.1.0.12763</vt:lpwstr>
  </property>
</Properties>
</file>