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485" r:id="rId2"/>
    <p:sldId id="497" r:id="rId3"/>
    <p:sldId id="317" r:id="rId4"/>
    <p:sldId id="499" r:id="rId5"/>
    <p:sldId id="500" r:id="rId6"/>
    <p:sldId id="489" r:id="rId7"/>
    <p:sldId id="502" r:id="rId8"/>
    <p:sldId id="501" r:id="rId9"/>
    <p:sldId id="503" r:id="rId10"/>
    <p:sldId id="506" r:id="rId11"/>
    <p:sldId id="504" r:id="rId12"/>
    <p:sldId id="514" r:id="rId13"/>
    <p:sldId id="515" r:id="rId14"/>
    <p:sldId id="517" r:id="rId15"/>
    <p:sldId id="518" r:id="rId16"/>
    <p:sldId id="519" r:id="rId17"/>
    <p:sldId id="520" r:id="rId18"/>
    <p:sldId id="521" r:id="rId19"/>
    <p:sldId id="522" r:id="rId20"/>
    <p:sldId id="523" r:id="rId21"/>
    <p:sldId id="524" r:id="rId22"/>
  </p:sldIdLst>
  <p:sldSz cx="9144000" cy="5143500" type="screen16x9"/>
  <p:notesSz cx="6797675" cy="9925050"/>
  <p:custDataLst>
    <p:tags r:id="rId24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2" d="100"/>
          <a:sy n="112" d="100"/>
        </p:scale>
        <p:origin x="56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402453" y="2192546"/>
            <a:ext cx="23391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自我介绍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自我介绍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596205" y="2192546"/>
            <a:ext cx="39516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的简单介绍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1259840" y="2499995"/>
            <a:ext cx="714375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是一种简单而强大的编程语言。</a:t>
            </a: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啥是</a:t>
            </a:r>
            <a:r>
              <a:rPr lang="en-US" altLang="zh-CN" sz="2400" dirty="0"/>
              <a:t>Python</a:t>
            </a:r>
            <a:r>
              <a:rPr lang="zh-CN" altLang="en-US" sz="2400" dirty="0"/>
              <a:t>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1324610" y="3940175"/>
            <a:ext cx="642556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编程语言，就是和电脑对话的语言</a:t>
            </a: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那啥又是编程语言呢？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307465" y="1923415"/>
            <a:ext cx="1644650" cy="1602740"/>
            <a:chOff x="2059" y="3029"/>
            <a:chExt cx="2590" cy="2524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2059" y="3029"/>
              <a:ext cx="2591" cy="1731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2777" y="5071"/>
              <a:ext cx="8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中文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707765" y="1919605"/>
            <a:ext cx="1659890" cy="1606550"/>
            <a:chOff x="5839" y="3023"/>
            <a:chExt cx="2614" cy="253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9" y="3023"/>
              <a:ext cx="2614" cy="1744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6722" y="5071"/>
              <a:ext cx="8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英语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65190" y="1919605"/>
            <a:ext cx="1657350" cy="1606550"/>
            <a:chOff x="9394" y="3023"/>
            <a:chExt cx="2610" cy="253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94" y="3023"/>
              <a:ext cx="2610" cy="1738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10275" y="5071"/>
              <a:ext cx="8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日语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1298944" y="1923678"/>
            <a:ext cx="6048359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学习</a:t>
            </a:r>
            <a:r>
              <a:rPr lang="en-US" altLang="zh-CN" sz="1800" dirty="0"/>
              <a:t>Python</a:t>
            </a:r>
            <a:r>
              <a:rPr lang="zh-CN" altLang="en-US" sz="1800" dirty="0"/>
              <a:t>的好处有：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的使用人数在快速增长，现在已经成为世界上最流行的编程语言之一。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高中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是我们必学的课程之一。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编程是目前最简单的编程语言之一。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是最适合编程人工智能的语言。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为什么我们要学</a:t>
            </a:r>
            <a:r>
              <a:rPr lang="en-US" altLang="zh-CN" sz="2400" dirty="0"/>
              <a:t>Python</a:t>
            </a:r>
            <a:r>
              <a:rPr lang="zh-CN" altLang="en-US" sz="2400" dirty="0"/>
              <a:t>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学了</a:t>
            </a:r>
            <a:r>
              <a:rPr lang="en-US" altLang="zh-CN" sz="2400" dirty="0"/>
              <a:t>Python</a:t>
            </a:r>
            <a:r>
              <a:rPr lang="zh-CN" altLang="en-US" sz="2400" dirty="0"/>
              <a:t>，能干啥？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485" y="1995805"/>
            <a:ext cx="4061460" cy="2286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035935" y="4371975"/>
            <a:ext cx="34340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3200"/>
              <a:t>开发人工智能产品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学了</a:t>
            </a:r>
            <a:r>
              <a:rPr lang="en-US" altLang="zh-CN" sz="2400" dirty="0"/>
              <a:t>Python</a:t>
            </a:r>
            <a:r>
              <a:rPr lang="zh-CN" altLang="en-US" sz="2400" dirty="0"/>
              <a:t>，能干啥？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5" y="1944370"/>
            <a:ext cx="2042160" cy="1531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7" y="2130530"/>
            <a:ext cx="2061210" cy="13728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b="37273"/>
          <a:stretch>
            <a:fillRect/>
          </a:stretch>
        </p:blipFill>
        <p:spPr>
          <a:xfrm>
            <a:off x="3115843" y="3870496"/>
            <a:ext cx="3094990" cy="122682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39812" y="2085212"/>
            <a:ext cx="3645535" cy="1610995"/>
            <a:chOff x="4607" y="3653"/>
            <a:chExt cx="5741" cy="253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00" y="3653"/>
              <a:ext cx="3571" cy="1821"/>
            </a:xfrm>
            <a:prstGeom prst="rect">
              <a:avLst/>
            </a:prstGeom>
          </p:spPr>
        </p:pic>
        <p:sp>
          <p:nvSpPr>
            <p:cNvPr id="15" name="右箭头 14"/>
            <p:cNvSpPr/>
            <p:nvPr/>
          </p:nvSpPr>
          <p:spPr>
            <a:xfrm rot="9720000">
              <a:off x="9240" y="4187"/>
              <a:ext cx="1108" cy="3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右箭头 15"/>
            <p:cNvSpPr/>
            <p:nvPr/>
          </p:nvSpPr>
          <p:spPr>
            <a:xfrm rot="15960000">
              <a:off x="7044" y="5459"/>
              <a:ext cx="1108" cy="3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右箭头 16"/>
            <p:cNvSpPr/>
            <p:nvPr/>
          </p:nvSpPr>
          <p:spPr>
            <a:xfrm rot="21240000">
              <a:off x="4607" y="4447"/>
              <a:ext cx="1108" cy="3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99424" y="2192546"/>
            <a:ext cx="31451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/>
              <a:t>第一个</a:t>
            </a:r>
            <a:r>
              <a:rPr lang="en-US" altLang="zh-CN" sz="2800" b="1" dirty="0"/>
              <a:t>python</a:t>
            </a:r>
            <a:r>
              <a:rPr lang="zh-CN" altLang="en-US" sz="2800" b="1" dirty="0"/>
              <a:t>程序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 dirty="0"/>
              <a:t>怎么使用</a:t>
            </a:r>
            <a:r>
              <a:rPr lang="en-US" altLang="zh-CN" sz="2400" dirty="0"/>
              <a:t>python</a:t>
            </a:r>
            <a:r>
              <a:rPr lang="zh-CN" altLang="en-US" sz="2400" dirty="0"/>
              <a:t>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43755" y="3030220"/>
            <a:ext cx="18992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3200"/>
              <a:t>打开</a:t>
            </a:r>
            <a:r>
              <a:rPr lang="en-US" altLang="zh-CN" sz="3200"/>
              <a:t>IDLE</a:t>
            </a:r>
            <a:endParaRPr lang="zh-CN" altLang="en-US" sz="3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4954" b="18625"/>
          <a:stretch>
            <a:fillRect/>
          </a:stretch>
        </p:blipFill>
        <p:spPr>
          <a:xfrm>
            <a:off x="1307465" y="1851660"/>
            <a:ext cx="2817495" cy="294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【python】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131570"/>
            <a:ext cx="4219575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400">
                <a:latin typeface="+mj-ea"/>
                <a:ea typeface="+mj-ea"/>
              </a:rPr>
              <a:t>print(“hello”)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1275715"/>
            <a:ext cx="3540760" cy="3625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【print】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419" y="1601153"/>
            <a:ext cx="3680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● </a:t>
            </a:r>
            <a:r>
              <a:rPr lang="zh-CN" altLang="en-US" sz="1800"/>
              <a:t>编写你的第一个</a:t>
            </a:r>
            <a:r>
              <a:rPr lang="en-US" altLang="zh-CN" sz="1800"/>
              <a:t>Python</a:t>
            </a:r>
            <a:r>
              <a:rPr lang="zh-CN" altLang="en-US" sz="1800"/>
              <a:t>程序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36" y="2696051"/>
            <a:ext cx="3776663" cy="92059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016" y="2984659"/>
            <a:ext cx="2003108" cy="1910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 sz="1800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 sz="1800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 sz="1800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4" rIns="68571" bIns="34284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258384" y="2192546"/>
            <a:ext cx="462724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/>
              <a:t>海龟先生登场（</a:t>
            </a:r>
            <a:r>
              <a:rPr lang="en-US" altLang="zh-CN" sz="2800" b="1" dirty="0"/>
              <a:t>turtle</a:t>
            </a:r>
            <a:r>
              <a:rPr lang="zh-CN" altLang="en-US" sz="2800" b="1" dirty="0"/>
              <a:t>）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绘制一个圆形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115" y="1292543"/>
            <a:ext cx="4068604" cy="337042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5283" y="1292543"/>
            <a:ext cx="3945731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/>
              <a:t>import turtle as t    -</a:t>
            </a:r>
            <a:r>
              <a:rPr lang="en-US" altLang="zh-CN" sz="1050">
                <a:solidFill>
                  <a:srgbClr val="00B0F0"/>
                </a:solidFill>
              </a:rPr>
              <a:t>&gt;</a:t>
            </a:r>
            <a:r>
              <a:rPr lang="zh-CN" altLang="en-US" sz="1050">
                <a:solidFill>
                  <a:srgbClr val="00B0F0"/>
                </a:solidFill>
              </a:rPr>
              <a:t>召唤海龟先生，给它取一个外号叫做</a:t>
            </a:r>
            <a:r>
              <a:rPr lang="en-US" altLang="zh-CN" sz="1050">
                <a:solidFill>
                  <a:srgbClr val="00B0F0"/>
                </a:solidFill>
              </a:rPr>
              <a:t>t</a:t>
            </a:r>
            <a:endParaRPr lang="en-US" altLang="zh-CN" sz="1050"/>
          </a:p>
          <a:p>
            <a:endParaRPr lang="en-US" altLang="zh-CN" sz="1050"/>
          </a:p>
          <a:p>
            <a:r>
              <a:rPr lang="en-US" altLang="zh-CN" sz="1050"/>
              <a:t>t.circle(100)             </a:t>
            </a:r>
            <a:r>
              <a:rPr lang="en-US" altLang="zh-CN" sz="1050">
                <a:solidFill>
                  <a:srgbClr val="00B0F0"/>
                </a:solidFill>
              </a:rPr>
              <a:t>-&gt;</a:t>
            </a:r>
            <a:r>
              <a:rPr lang="zh-CN" altLang="en-US" sz="1050">
                <a:solidFill>
                  <a:srgbClr val="00B0F0"/>
                </a:solidFill>
              </a:rPr>
              <a:t>让海龟先生画一个半径为</a:t>
            </a:r>
            <a:r>
              <a:rPr lang="en-US" altLang="zh-CN" sz="1050">
                <a:solidFill>
                  <a:srgbClr val="00B0F0"/>
                </a:solidFill>
              </a:rPr>
              <a:t>100px</a:t>
            </a:r>
            <a:r>
              <a:rPr lang="zh-CN" altLang="en-US" sz="1050">
                <a:solidFill>
                  <a:srgbClr val="00B0F0"/>
                </a:solidFill>
              </a:rPr>
              <a:t>的圆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689610" y="2757964"/>
            <a:ext cx="3033236" cy="1343978"/>
          </a:xfrm>
          <a:prstGeom prst="wedgeRectCallou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11" name="文本框 10"/>
          <p:cNvSpPr txBox="1"/>
          <p:nvPr/>
        </p:nvSpPr>
        <p:spPr>
          <a:xfrm>
            <a:off x="1350645" y="3291840"/>
            <a:ext cx="1711166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>
                <a:latin typeface="楷体" panose="02010609060101010101" charset="-122"/>
                <a:ea typeface="楷体" panose="02010609060101010101" charset="-122"/>
              </a:rPr>
              <a:t>编程是不是很简单？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 sz="1800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 sz="1800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 sz="1800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4" rIns="68571" bIns="34284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80369" y="2192546"/>
            <a:ext cx="3383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/>
              <a:t>爱的魔力转圈圈</a:t>
            </a:r>
            <a:r>
              <a:rPr lang="en-US" altLang="zh-CN" sz="2800" b="1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绘制多个圆形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758" y="1292543"/>
            <a:ext cx="4068604" cy="337042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9546" y="1479233"/>
            <a:ext cx="2938463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/>
              <a:t>import turtle as t</a:t>
            </a:r>
          </a:p>
          <a:p>
            <a:endParaRPr lang="en-US" altLang="zh-CN" sz="3000"/>
          </a:p>
          <a:p>
            <a:r>
              <a:rPr lang="en-US" altLang="zh-CN" sz="3000"/>
              <a:t>t.circle(100)</a:t>
            </a:r>
          </a:p>
          <a:p>
            <a:r>
              <a:rPr lang="en-US" altLang="zh-CN" sz="3000"/>
              <a:t>t.circle(100)</a:t>
            </a:r>
          </a:p>
          <a:p>
            <a:r>
              <a:rPr lang="en-US" altLang="zh-CN" sz="3000"/>
              <a:t>t.circle(100)</a:t>
            </a:r>
          </a:p>
          <a:p>
            <a:r>
              <a:rPr lang="en-US" altLang="zh-CN" sz="3000"/>
              <a:t>t.circle(100)</a:t>
            </a:r>
          </a:p>
        </p:txBody>
      </p:sp>
      <p:sp>
        <p:nvSpPr>
          <p:cNvPr id="2" name="矩形标注 1"/>
          <p:cNvSpPr/>
          <p:nvPr/>
        </p:nvSpPr>
        <p:spPr>
          <a:xfrm>
            <a:off x="2651284" y="2606993"/>
            <a:ext cx="2113121" cy="1113949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12" name="文本框 11"/>
          <p:cNvSpPr txBox="1"/>
          <p:nvPr/>
        </p:nvSpPr>
        <p:spPr>
          <a:xfrm>
            <a:off x="2920841" y="2817971"/>
            <a:ext cx="1574006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/>
              <a:t>我们会发现所有的圆都重叠了，那怎么办呢？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改变画笔的方向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39766" y="1205865"/>
            <a:ext cx="44862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/>
              <a:t>是否能改变海龟先生的方向？</a:t>
            </a:r>
          </a:p>
        </p:txBody>
      </p:sp>
      <p:sp>
        <p:nvSpPr>
          <p:cNvPr id="13" name="文本框 12"/>
          <p:cNvSpPr txBox="1"/>
          <p:nvPr/>
        </p:nvSpPr>
        <p:spPr>
          <a:xfrm rot="5400000">
            <a:off x="1851184" y="2428875"/>
            <a:ext cx="2667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50"/>
              <a:t>➤</a:t>
            </a:r>
          </a:p>
        </p:txBody>
      </p:sp>
      <p:sp>
        <p:nvSpPr>
          <p:cNvPr id="14" name="文本框 13"/>
          <p:cNvSpPr txBox="1"/>
          <p:nvPr/>
        </p:nvSpPr>
        <p:spPr>
          <a:xfrm rot="10800000">
            <a:off x="3082290" y="2433638"/>
            <a:ext cx="2667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50"/>
              <a:t>➤</a:t>
            </a:r>
          </a:p>
        </p:txBody>
      </p:sp>
      <p:sp>
        <p:nvSpPr>
          <p:cNvPr id="15" name="文本框 14"/>
          <p:cNvSpPr txBox="1"/>
          <p:nvPr/>
        </p:nvSpPr>
        <p:spPr>
          <a:xfrm rot="16200000">
            <a:off x="4438650" y="2438400"/>
            <a:ext cx="2667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50"/>
              <a:t>➤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524500" y="2428875"/>
            <a:ext cx="2667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50"/>
              <a:t>➤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41070" y="3182303"/>
            <a:ext cx="3493294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/>
              <a:t>import turtle as t</a:t>
            </a:r>
          </a:p>
          <a:p>
            <a:endParaRPr lang="en-US" altLang="zh-CN" sz="1500"/>
          </a:p>
          <a:p>
            <a:r>
              <a:rPr lang="en-US" altLang="zh-CN" sz="1500"/>
              <a:t>t.left(90)		</a:t>
            </a:r>
            <a:r>
              <a:rPr lang="en-US" altLang="zh-CN" sz="1500">
                <a:solidFill>
                  <a:srgbClr val="00B0F0"/>
                </a:solidFill>
              </a:rPr>
              <a:t>←</a:t>
            </a:r>
            <a:r>
              <a:rPr lang="zh-CN" altLang="en-US" sz="1500">
                <a:solidFill>
                  <a:srgbClr val="00B0F0"/>
                </a:solidFill>
              </a:rPr>
              <a:t>海龟先生，向左转！</a:t>
            </a:r>
            <a:endParaRPr lang="en-US" altLang="zh-CN" sz="1500">
              <a:solidFill>
                <a:srgbClr val="00B0F0"/>
              </a:solidFill>
            </a:endParaRPr>
          </a:p>
          <a:p>
            <a:r>
              <a:rPr lang="en-US" altLang="zh-CN" sz="1500"/>
              <a:t>t.right(90)	</a:t>
            </a:r>
            <a:r>
              <a:rPr lang="en-US" altLang="zh-CN" sz="1500">
                <a:solidFill>
                  <a:srgbClr val="00B0F0"/>
                </a:solidFill>
              </a:rPr>
              <a:t>←</a:t>
            </a:r>
            <a:r>
              <a:rPr lang="zh-CN" altLang="en-US" sz="1500">
                <a:solidFill>
                  <a:srgbClr val="00B0F0"/>
                </a:solidFill>
              </a:rPr>
              <a:t>海龟先生，向右转！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5" y="2807494"/>
            <a:ext cx="3743325" cy="2336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5024408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爱的魔力转圈圈：绘制多个圆形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591" y="1234916"/>
            <a:ext cx="2422208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/>
              <a:t>import turtle as t</a:t>
            </a:r>
          </a:p>
          <a:p>
            <a:endParaRPr lang="zh-CN" altLang="en-US" sz="1800"/>
          </a:p>
          <a:p>
            <a:r>
              <a:rPr lang="zh-CN" altLang="en-US" sz="1800"/>
              <a:t>t.circle(100)</a:t>
            </a:r>
          </a:p>
          <a:p>
            <a:r>
              <a:rPr lang="zh-CN" altLang="en-US" sz="1800"/>
              <a:t>t.right(90)</a:t>
            </a:r>
          </a:p>
          <a:p>
            <a:endParaRPr lang="zh-CN" altLang="en-US" sz="1800"/>
          </a:p>
          <a:p>
            <a:r>
              <a:rPr lang="zh-CN" altLang="en-US" sz="1800"/>
              <a:t>t.circle(100)</a:t>
            </a:r>
          </a:p>
          <a:p>
            <a:r>
              <a:rPr lang="zh-CN" altLang="en-US" sz="1800"/>
              <a:t>t.right(90)</a:t>
            </a:r>
          </a:p>
          <a:p>
            <a:endParaRPr lang="zh-CN" altLang="en-US" sz="1800"/>
          </a:p>
          <a:p>
            <a:r>
              <a:rPr lang="zh-CN" altLang="en-US" sz="1800"/>
              <a:t>t.circle(100)</a:t>
            </a:r>
          </a:p>
          <a:p>
            <a:r>
              <a:rPr lang="zh-CN" altLang="en-US" sz="1800"/>
              <a:t>t.right(90)</a:t>
            </a:r>
          </a:p>
          <a:p>
            <a:endParaRPr lang="zh-CN" altLang="en-US" sz="1800"/>
          </a:p>
          <a:p>
            <a:r>
              <a:rPr lang="zh-CN" altLang="en-US" sz="1800"/>
              <a:t>t.circle(100)</a:t>
            </a:r>
          </a:p>
          <a:p>
            <a:r>
              <a:rPr lang="zh-CN" altLang="en-US" sz="1800"/>
              <a:t>t.right(90)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45858"/>
            <a:ext cx="4271010" cy="3660458"/>
          </a:xfrm>
          <a:prstGeom prst="rect">
            <a:avLst/>
          </a:prstGeom>
        </p:spPr>
      </p:pic>
      <p:sp>
        <p:nvSpPr>
          <p:cNvPr id="13" name="矩形标注 12"/>
          <p:cNvSpPr/>
          <p:nvPr/>
        </p:nvSpPr>
        <p:spPr>
          <a:xfrm>
            <a:off x="2069783" y="2513648"/>
            <a:ext cx="2206943" cy="1113949"/>
          </a:xfrm>
          <a:prstGeom prst="wedgeRectCallou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14" name="文本框 13"/>
          <p:cNvSpPr txBox="1"/>
          <p:nvPr/>
        </p:nvSpPr>
        <p:spPr>
          <a:xfrm>
            <a:off x="2454593" y="2828925"/>
            <a:ext cx="1437799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/>
              <a:t>这样好像很罗嗦，有没有别的办法？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418" y="377666"/>
            <a:ext cx="3632717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爱的魔力转圈圈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2.0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版本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2023" y="2456974"/>
            <a:ext cx="3442811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/>
              <a:t>import turtle as t</a:t>
            </a:r>
          </a:p>
          <a:p>
            <a:endParaRPr lang="zh-CN" altLang="en-US" sz="1800"/>
          </a:p>
          <a:p>
            <a:r>
              <a:rPr lang="en-US" altLang="zh-CN" sz="1800"/>
              <a:t>for i in range(4):	#</a:t>
            </a:r>
            <a:r>
              <a:rPr lang="zh-CN" altLang="en-US" sz="1800"/>
              <a:t>循环语句</a:t>
            </a:r>
            <a:endParaRPr lang="en-US" altLang="zh-CN" sz="1800"/>
          </a:p>
          <a:p>
            <a:r>
              <a:rPr lang="en-US" altLang="zh-CN" sz="1800"/>
              <a:t>	t.circle(100)</a:t>
            </a:r>
          </a:p>
          <a:p>
            <a:r>
              <a:rPr lang="en-US" altLang="zh-CN" sz="1800"/>
              <a:t>	t.right(90)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201" y="2324576"/>
            <a:ext cx="3207068" cy="25679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65898" y="1277303"/>
            <a:ext cx="6002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使用循环语句让电脑帮我们完成重复的工作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419" y="377666"/>
            <a:ext cx="3701415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爱的魔力转圈圈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3.0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版本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2023" y="2456974"/>
            <a:ext cx="3442811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/>
              <a:t>import turtle as t</a:t>
            </a:r>
          </a:p>
          <a:p>
            <a:endParaRPr lang="zh-CN" altLang="en-US" sz="1800"/>
          </a:p>
          <a:p>
            <a:r>
              <a:rPr lang="en-US" altLang="zh-CN" sz="1800"/>
              <a:t>for i in range(50):	</a:t>
            </a:r>
            <a:r>
              <a:rPr lang="en-US" altLang="zh-CN" sz="1800">
                <a:solidFill>
                  <a:srgbClr val="FF0000"/>
                </a:solidFill>
              </a:rPr>
              <a:t>#</a:t>
            </a:r>
            <a:r>
              <a:rPr lang="zh-CN" altLang="en-US" sz="1800">
                <a:solidFill>
                  <a:srgbClr val="FF0000"/>
                </a:solidFill>
              </a:rPr>
              <a:t>循环语句</a:t>
            </a:r>
            <a:endParaRPr lang="en-US" altLang="zh-CN" sz="1800"/>
          </a:p>
          <a:p>
            <a:r>
              <a:rPr lang="en-US" altLang="zh-CN" sz="1800"/>
              <a:t>	t.circle(100)</a:t>
            </a:r>
          </a:p>
          <a:p>
            <a:r>
              <a:rPr lang="en-US" altLang="zh-CN" sz="1800"/>
              <a:t>	t.right(91)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1463516" y="1248251"/>
            <a:ext cx="6002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如果让海龟先生每次多旋转一度会怎么样？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333" y="2023586"/>
            <a:ext cx="3140393" cy="2874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418" y="377666"/>
            <a:ext cx="3888581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爱的魔力转圈圈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4.0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版本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4318" y="2265998"/>
            <a:ext cx="3442811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/>
              <a:t>import turtle as t</a:t>
            </a:r>
          </a:p>
          <a:p>
            <a:endParaRPr lang="zh-CN" altLang="en-US" sz="1800"/>
          </a:p>
          <a:p>
            <a:r>
              <a:rPr lang="en-US" altLang="zh-CN" sz="1800"/>
              <a:t>t.color('blue')</a:t>
            </a:r>
            <a:endParaRPr lang="zh-CN" altLang="en-US" sz="1800"/>
          </a:p>
          <a:p>
            <a:r>
              <a:rPr lang="en-US" altLang="zh-CN" sz="1800"/>
              <a:t>for i in range(100):	</a:t>
            </a:r>
            <a:r>
              <a:rPr lang="en-US" altLang="zh-CN" sz="1800">
                <a:solidFill>
                  <a:srgbClr val="FF0000"/>
                </a:solidFill>
              </a:rPr>
              <a:t>#</a:t>
            </a:r>
            <a:r>
              <a:rPr lang="zh-CN" altLang="en-US" sz="1800">
                <a:solidFill>
                  <a:srgbClr val="FF0000"/>
                </a:solidFill>
              </a:rPr>
              <a:t>循环语句</a:t>
            </a:r>
            <a:endParaRPr lang="en-US" altLang="zh-CN" sz="1800"/>
          </a:p>
          <a:p>
            <a:r>
              <a:rPr lang="en-US" altLang="zh-CN" sz="1800"/>
              <a:t>	t.circle(100)</a:t>
            </a:r>
          </a:p>
          <a:p>
            <a:r>
              <a:rPr lang="en-US" altLang="zh-CN" sz="1800"/>
              <a:t>	t.right(91)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2994184" y="1297781"/>
            <a:ext cx="31556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我想要一幅彩色的画！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95513"/>
            <a:ext cx="3270409" cy="280749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00011" y="1989296"/>
            <a:ext cx="1343978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/>
              <a:t>1.</a:t>
            </a:r>
            <a:r>
              <a:rPr lang="zh-CN" altLang="en-US" sz="1050"/>
              <a:t>红色：</a:t>
            </a:r>
            <a:r>
              <a:rPr lang="en-US" altLang="zh-CN" sz="1050"/>
              <a:t>red</a:t>
            </a:r>
          </a:p>
          <a:p>
            <a:r>
              <a:rPr lang="en-US" altLang="zh-CN" sz="1050"/>
              <a:t>2.</a:t>
            </a:r>
            <a:r>
              <a:rPr lang="zh-CN" altLang="en-US" sz="1050"/>
              <a:t>橙色：</a:t>
            </a:r>
            <a:r>
              <a:rPr lang="en-US" altLang="zh-CN" sz="1050"/>
              <a:t>orange</a:t>
            </a:r>
          </a:p>
          <a:p>
            <a:r>
              <a:rPr lang="en-US" altLang="zh-CN" sz="1050"/>
              <a:t>3.</a:t>
            </a:r>
            <a:r>
              <a:rPr lang="zh-CN" altLang="en-US" sz="1050"/>
              <a:t>黄色：</a:t>
            </a:r>
            <a:r>
              <a:rPr lang="en-US" altLang="zh-CN" sz="1050"/>
              <a:t>yellow</a:t>
            </a:r>
          </a:p>
          <a:p>
            <a:r>
              <a:rPr lang="en-US" altLang="zh-CN" sz="1050"/>
              <a:t>4.</a:t>
            </a:r>
            <a:r>
              <a:rPr lang="zh-CN" altLang="en-US" sz="1050"/>
              <a:t>绿色：</a:t>
            </a:r>
            <a:r>
              <a:rPr lang="en-US" altLang="zh-CN" sz="1050"/>
              <a:t>green</a:t>
            </a:r>
          </a:p>
          <a:p>
            <a:r>
              <a:rPr lang="en-US" altLang="zh-CN" sz="1050"/>
              <a:t>5.</a:t>
            </a:r>
            <a:r>
              <a:rPr lang="zh-CN" altLang="en-US" sz="1050"/>
              <a:t>蓝色：</a:t>
            </a:r>
            <a:r>
              <a:rPr lang="en-US" altLang="zh-CN" sz="1050"/>
              <a:t>blue</a:t>
            </a:r>
          </a:p>
          <a:p>
            <a:r>
              <a:rPr lang="en-US" altLang="zh-CN" sz="1050"/>
              <a:t>6.</a:t>
            </a:r>
            <a:r>
              <a:rPr lang="zh-CN" altLang="en-US" sz="1050"/>
              <a:t>紫色：</a:t>
            </a:r>
            <a:r>
              <a:rPr lang="en-US" altLang="zh-CN" sz="1050"/>
              <a:t>purple</a:t>
            </a:r>
          </a:p>
          <a:p>
            <a:r>
              <a:rPr lang="en-US" altLang="zh-CN" sz="1050"/>
              <a:t>7.</a:t>
            </a:r>
            <a:r>
              <a:rPr lang="zh-CN" altLang="en-US" sz="1050"/>
              <a:t>白色：</a:t>
            </a:r>
            <a:r>
              <a:rPr lang="en-US" altLang="zh-CN" sz="1050"/>
              <a:t>white</a:t>
            </a:r>
          </a:p>
          <a:p>
            <a:r>
              <a:rPr lang="en-US" altLang="zh-CN" sz="1050"/>
              <a:t>8.</a:t>
            </a:r>
            <a:r>
              <a:rPr lang="zh-CN" altLang="en-US" sz="1050"/>
              <a:t>黑色：</a:t>
            </a:r>
            <a:r>
              <a:rPr lang="en-US" altLang="zh-CN" sz="1050"/>
              <a:t>black</a:t>
            </a:r>
          </a:p>
          <a:p>
            <a:r>
              <a:rPr lang="en-US" altLang="zh-CN" sz="1050"/>
              <a:t>9.</a:t>
            </a:r>
            <a:r>
              <a:rPr lang="zh-CN" altLang="en-US" sz="1050"/>
              <a:t>灰色：</a:t>
            </a:r>
            <a:r>
              <a:rPr lang="en-US" altLang="zh-CN" sz="1050"/>
              <a:t>grey</a:t>
            </a:r>
          </a:p>
          <a:p>
            <a:r>
              <a:rPr lang="en-US" altLang="zh-CN" sz="1050"/>
              <a:t>10.</a:t>
            </a:r>
            <a:r>
              <a:rPr lang="zh-CN" altLang="en-US" sz="1050"/>
              <a:t>粉色：</a:t>
            </a:r>
            <a:r>
              <a:rPr lang="en-US" altLang="zh-CN" sz="1050"/>
              <a:t>pink</a:t>
            </a:r>
          </a:p>
          <a:p>
            <a:r>
              <a:rPr lang="en-US" altLang="zh-CN" sz="1050"/>
              <a:t>11.</a:t>
            </a:r>
            <a:r>
              <a:rPr lang="zh-CN" altLang="en-US" sz="1050"/>
              <a:t>金色：</a:t>
            </a:r>
            <a:r>
              <a:rPr lang="en-US" altLang="zh-CN" sz="1050"/>
              <a:t>gold</a:t>
            </a:r>
          </a:p>
          <a:p>
            <a:r>
              <a:rPr lang="en-US" altLang="zh-CN" sz="1050"/>
              <a:t>12.</a:t>
            </a:r>
            <a:r>
              <a:rPr lang="zh-CN" altLang="en-US" sz="1050"/>
              <a:t>银色：</a:t>
            </a:r>
            <a:r>
              <a:rPr lang="en-US" altLang="zh-CN" sz="1050"/>
              <a:t>silver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08,&quot;width&quot;:6000}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614</Words>
  <Application>Microsoft Office PowerPoint</Application>
  <PresentationFormat>全屏显示(16:9)</PresentationFormat>
  <Paragraphs>127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HandelGotDLig</vt:lpstr>
      <vt:lpstr>等线</vt:lpstr>
      <vt:lpstr>楷体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恩 天</cp:lastModifiedBy>
  <cp:revision>383</cp:revision>
  <cp:lastPrinted>2000-12-31T21:09:00Z</cp:lastPrinted>
  <dcterms:created xsi:type="dcterms:W3CDTF">2015-11-10T12:01:00Z</dcterms:created>
  <dcterms:modified xsi:type="dcterms:W3CDTF">2024-06-20T08:47:20Z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310FF7099D2E429685F347357DA9B973</vt:lpwstr>
  </property>
  <property fmtid="{D5CDD505-2E9C-101B-9397-08002B2CF9AE}" pid="3" name="KSOProductBuildVer">
    <vt:lpwstr>2052-11.1.0.10132</vt:lpwstr>
  </property>
</Properties>
</file>